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0B0F16"/>
                </a:solidFill>
                <a:latin typeface="Arial"/>
              </a:defRPr>
            </a:pPr>
            <a:r>
              <a:rPr sz="1000" b="0" i="0" u="none" strike="noStrike">
                <a:solidFill>
                  <a:srgbClr val="0B0F16"/>
                </a:solidFill>
                <a:latin typeface="Arial"/>
              </a:rPr>
              <a:t>Containment and expected shortfall reduction by rule</a:t>
            </a:r>
          </a:p>
        </c:rich>
      </c:tx>
      <c:layout/>
      <c:overlay val="0"/>
    </c:title>
    <c:autoTitleDeleted val="0"/>
    <c:plotArea>
      <c:layout/>
      <c:barChart>
        <c:barDir val="bar"/>
        <c:grouping val="clustered"/>
        <c:varyColors val="0"/>
        <c:ser>
          <c:idx val="0"/>
          <c:order val="0"/>
          <c:tx>
            <c:strRef>
              <c:f>Sheet1!$B$1</c:f>
              <c:strCache>
                <c:ptCount val="1"/>
                <c:pt idx="0">
                  <c:v>Containment</c:v>
                </c:pt>
              </c:strCache>
            </c:strRef>
          </c:tx>
          <c:spPr>
            <a:solidFill>
              <a:srgbClr val="F6B52A"/>
            </a:solidFill>
            <a:effectLst/>
          </c:spPr>
          <c:invertIfNegative val="0"/>
          <c:dLbls>
            <c:numFmt formatCode="0.00" sourceLinked="0"/>
            <c:txPr>
              <a:bodyPr/>
              <a:lstStyle/>
              <a:p>
                <a:pPr>
                  <a:defRPr b="0" i="0" strike="noStrike" sz="800" u="none">
                    <a:solidFill>
                      <a:srgbClr val="5D6A80"/>
                    </a:solidFill>
                    <a:latin typeface="Arial"/>
                  </a:defRPr>
                </a:pPr>
              </a:p>
            </c:txPr>
            <c:showLegendKey val="0"/>
            <c:showVal val="1"/>
            <c:showCatName val="0"/>
            <c:showSerName val="0"/>
            <c:showPercent val="0"/>
            <c:showBubbleSize val="0"/>
            <c:showLeaderLines val="0"/>
          </c:dLbls>
          <c:cat>
            <c:multiLvlStrRef>
              <c:f>Sheet1!$A$2:$A$9</c:f>
              <c:multiLvlStrCache>
                <c:ptCount val="8"/>
                <c:lvl>
                  <c:pt idx="0">
                    <c:v>Market wide breaker</c:v>
                  </c:pt>
                  <c:pt idx="1">
                    <c:v>LULD band (US)</c:v>
                  </c:pt>
                  <c:pt idx="2">
                    <c:v>Dynamic throttle</c:v>
                  </c:pt>
                  <c:pt idx="3">
                    <c:v>Venue halt (EU)</c:v>
                  </c:pt>
                  <c:pt idx="4">
                    <c:v>Responsive ladder</c:v>
                  </c:pt>
                  <c:pt idx="5">
                    <c:v>Kill switch</c:v>
                  </c:pt>
                  <c:pt idx="6">
                    <c:v>MWCB (US levels)</c:v>
                  </c:pt>
                  <c:pt idx="7">
                    <c:v>Learned policy</c:v>
                  </c:pt>
                </c:lvl>
              </c:multiLvlStrCache>
            </c:multiLvlStrRef>
          </c:cat>
          <c:val>
            <c:numRef>
              <c:f>Sheet1!$B$2:$B$9</c:f>
              <c:numCache>
                <c:formatCode>General</c:formatCode>
                <c:ptCount val="8"/>
                <c:pt idx="0">
                  <c:v>0.32</c:v>
                </c:pt>
                <c:pt idx="1">
                  <c:v>0.22</c:v>
                </c:pt>
                <c:pt idx="2">
                  <c:v>0.21</c:v>
                </c:pt>
                <c:pt idx="3">
                  <c:v>0.19</c:v>
                </c:pt>
                <c:pt idx="4">
                  <c:v>0.15</c:v>
                </c:pt>
                <c:pt idx="5">
                  <c:v>0.07</c:v>
                </c:pt>
                <c:pt idx="6">
                  <c:v>0.04</c:v>
                </c:pt>
                <c:pt idx="7">
                  <c:v>0.02</c:v>
                </c:pt>
              </c:numCache>
            </c:numRef>
          </c:val>
        </c:ser>
        <c:ser>
          <c:idx val="1"/>
          <c:order val="1"/>
          <c:tx>
            <c:strRef>
              <c:f>Sheet1!$C$1</c:f>
              <c:strCache>
                <c:ptCount val="1"/>
                <c:pt idx="0">
                  <c:v>ES reduction</c:v>
                </c:pt>
              </c:strCache>
            </c:strRef>
          </c:tx>
          <c:spPr>
            <a:solidFill>
              <a:srgbClr val="6CB5FF"/>
            </a:solidFill>
            <a:effectLst/>
          </c:spPr>
          <c:invertIfNegative val="0"/>
          <c:dLbls>
            <c:numFmt formatCode="0.00" sourceLinked="0"/>
            <c:txPr>
              <a:bodyPr/>
              <a:lstStyle/>
              <a:p>
                <a:pPr>
                  <a:defRPr b="0" i="0" strike="noStrike" sz="800" u="none">
                    <a:solidFill>
                      <a:srgbClr val="5D6A80"/>
                    </a:solidFill>
                    <a:latin typeface="Arial"/>
                  </a:defRPr>
                </a:pPr>
              </a:p>
            </c:txPr>
            <c:showLegendKey val="0"/>
            <c:showVal val="1"/>
            <c:showCatName val="0"/>
            <c:showSerName val="0"/>
            <c:showPercent val="0"/>
            <c:showBubbleSize val="0"/>
            <c:showLeaderLines val="0"/>
          </c:dLbls>
          <c:cat>
            <c:multiLvlStrRef>
              <c:f>Sheet1!$A$2:$A$9</c:f>
              <c:multiLvlStrCache>
                <c:ptCount val="8"/>
                <c:lvl>
                  <c:pt idx="0">
                    <c:v>Market wide breaker</c:v>
                  </c:pt>
                  <c:pt idx="1">
                    <c:v>LULD band (US)</c:v>
                  </c:pt>
                  <c:pt idx="2">
                    <c:v>Dynamic throttle</c:v>
                  </c:pt>
                  <c:pt idx="3">
                    <c:v>Venue halt (EU)</c:v>
                  </c:pt>
                  <c:pt idx="4">
                    <c:v>Responsive ladder</c:v>
                  </c:pt>
                  <c:pt idx="5">
                    <c:v>Kill switch</c:v>
                  </c:pt>
                  <c:pt idx="6">
                    <c:v>MWCB (US levels)</c:v>
                  </c:pt>
                  <c:pt idx="7">
                    <c:v>Learned policy</c:v>
                  </c:pt>
                </c:lvl>
              </c:multiLvlStrCache>
            </c:multiLvlStrRef>
          </c:cat>
          <c:val>
            <c:numRef>
              <c:f>Sheet1!$C$2:$C$9</c:f>
              <c:numCache>
                <c:formatCode>General</c:formatCode>
                <c:ptCount val="8"/>
                <c:pt idx="0">
                  <c:v>0.4</c:v>
                </c:pt>
                <c:pt idx="1">
                  <c:v>0.37</c:v>
                </c:pt>
                <c:pt idx="2">
                  <c:v>0.39</c:v>
                </c:pt>
                <c:pt idx="3">
                  <c:v>0.41</c:v>
                </c:pt>
                <c:pt idx="4">
                  <c:v>0.3</c:v>
                </c:pt>
                <c:pt idx="5">
                  <c:v>0.08</c:v>
                </c:pt>
                <c:pt idx="6">
                  <c:v>0.13</c:v>
                </c:pt>
                <c:pt idx="7">
                  <c:v>0.06</c:v>
                </c:pt>
              </c:numCache>
            </c:numRef>
          </c:val>
        </c:ser>
        <c:dLbls>
          <c:numFmt formatCode="0.00" sourceLinked="0"/>
          <c:txPr>
            <a:bodyPr/>
            <a:lstStyle/>
            <a:p>
              <a:pPr>
                <a:defRPr b="0" i="0" strike="noStrike" sz="800" u="none">
                  <a:solidFill>
                    <a:srgbClr val="5D6A8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0B0F16"/>
                </a:solidFill>
                <a:latin typeface="Arial"/>
              </a:defRPr>
            </a:pPr>
            <a:endParaRPr lang="en-US"/>
          </a:p>
        </c:txPr>
        <c:crossAx val="2094734552"/>
        <c:crosses val="autoZero"/>
        <c:auto val="1"/>
        <c:lblAlgn val="ctr"/>
        <c:noMultiLvlLbl val="1"/>
      </c:catAx>
      <c:valAx>
        <c:axId val="2094734552"/>
        <c:scaling>
          <c:orientation val="minMax"/>
          <c:max val="0.5"/>
          <c:min val="0"/>
        </c:scaling>
        <c:delete val="0"/>
        <c:axPos val="b"/>
        <c:majorGridlines>
          <c:spPr>
            <a:ln w="6350" cap="flat">
              <a:solidFill>
                <a:srgbClr val="E3E7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5D6A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5D6A80"/>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0B0F16"/>
                </a:solidFill>
                <a:latin typeface="Arial"/>
              </a:defRPr>
            </a:pPr>
            <a:r>
              <a:rPr sz="1000" b="0" i="0" u="none" strike="noStrike">
                <a:solidFill>
                  <a:srgbClr val="0B0F16"/>
                </a:solidFill>
                <a:latin typeface="Arial"/>
              </a:rPr>
              <a:t>Dose response: drawdown as one vendor's share of agents rises (correlation 0.85)</a:t>
            </a:r>
          </a:p>
        </c:rich>
      </c:tx>
      <c:layout/>
      <c:overlay val="0"/>
    </c:title>
    <c:autoTitleDeleted val="0"/>
    <c:plotArea>
      <c:layout/>
      <c:lineChart>
        <c:varyColors val="0"/>
        <c:ser>
          <c:idx val="0"/>
          <c:order val="0"/>
          <c:tx>
            <c:strRef>
              <c:f>Sheet1!$B$1</c:f>
              <c:strCache>
                <c:ptCount val="1"/>
                <c:pt idx="0">
                  <c:v>Post shock drawdown</c:v>
                </c:pt>
              </c:strCache>
            </c:strRef>
          </c:tx>
          <c:spPr>
            <a:solidFill>
              <a:srgbClr val="F6B52A"/>
            </a:solidFill>
            <a:ln w="31750" cap="flat">
              <a:solidFill>
                <a:srgbClr val="F6B52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6B52A"/>
              </a:solidFill>
              <a:ln w="9525" cap="flat">
                <a:solidFill>
                  <a:srgbClr val="F6B52A"/>
                </a:solidFill>
                <a:prstDash val="solid"/>
                <a:round/>
              </a:ln>
              <a:effectLst/>
            </c:spPr>
          </c:marker>
          <c:cat>
            <c:multiLvlStrRef>
              <c:f>Sheet1!$A$2:$A$10</c:f>
              <c:multiLvlStrCache>
                <c:ptCount val="9"/>
                <c:lvl>
                  <c:pt idx="0">
                    <c:v>10%</c:v>
                  </c:pt>
                  <c:pt idx="1">
                    <c:v>15%</c:v>
                  </c:pt>
                  <c:pt idx="2">
                    <c:v>20%</c:v>
                  </c:pt>
                  <c:pt idx="3">
                    <c:v>25%</c:v>
                  </c:pt>
                  <c:pt idx="4">
                    <c:v>30%</c:v>
                  </c:pt>
                  <c:pt idx="5">
                    <c:v>35%</c:v>
                  </c:pt>
                  <c:pt idx="6">
                    <c:v>40%</c:v>
                  </c:pt>
                  <c:pt idx="7">
                    <c:v>45%</c:v>
                  </c:pt>
                  <c:pt idx="8">
                    <c:v>50%</c:v>
                  </c:pt>
                </c:lvl>
              </c:multiLvlStrCache>
            </c:multiLvlStrRef>
          </c:cat>
          <c:val>
            <c:numRef>
              <c:f>Sheet1!$B$2:$B$10</c:f>
              <c:numCache>
                <c:formatCode>General</c:formatCode>
                <c:ptCount val="9"/>
                <c:pt idx="0">
                  <c:v>0.073</c:v>
                </c:pt>
                <c:pt idx="1">
                  <c:v>0.08</c:v>
                </c:pt>
                <c:pt idx="2">
                  <c:v>0.088</c:v>
                </c:pt>
                <c:pt idx="3">
                  <c:v>0.099</c:v>
                </c:pt>
                <c:pt idx="4">
                  <c:v>0.115</c:v>
                </c:pt>
                <c:pt idx="5">
                  <c:v>0.139</c:v>
                </c:pt>
                <c:pt idx="6">
                  <c:v>0.168</c:v>
                </c:pt>
                <c:pt idx="7">
                  <c:v>0.193</c:v>
                </c:pt>
                <c:pt idx="8">
                  <c:v>0.211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D6A80"/>
                    </a:solidFill>
                    <a:latin typeface="Arial"/>
                  </a:defRPr>
                </a:pPr>
                <a:r>
                  <a:rPr sz="900" b="0" i="0" u="none" strike="noStrike">
                    <a:solidFill>
                      <a:srgbClr val="5D6A80"/>
                    </a:solidFill>
                    <a:latin typeface="Arial"/>
                  </a:rPr>
                  <a:t>share of agents on one vendor</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D6A80"/>
                </a:solidFill>
                <a:latin typeface="Arial"/>
              </a:defRPr>
            </a:pPr>
            <a:endParaRPr lang="en-US"/>
          </a:p>
        </c:txPr>
        <c:crossAx val="2094734552"/>
        <c:crosses val="autoZero"/>
        <c:auto val="1"/>
        <c:lblAlgn val="ctr"/>
        <c:noMultiLvlLbl val="1"/>
      </c:catAx>
      <c:valAx>
        <c:axId val="2094734552"/>
        <c:scaling>
          <c:orientation val="minMax"/>
          <c:max val="0.22"/>
          <c:min val="0.05"/>
        </c:scaling>
        <c:delete val="0"/>
        <c:axPos val="l"/>
        <c:majorGridlines>
          <c:spPr>
            <a:ln w="6350" cap="flat">
              <a:solidFill>
                <a:srgbClr val="E3E7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D6A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The visual is the terminal itself, a released run on the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mapped to the page of the terminal that shows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rail under the terminal's command bar shows exactly these steps lighting up as a run advances.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Approach. Left: the pillars and the science panel (RL approaches and how the metrics are computed). Right: methodology and tooling.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organisers require human in the loop, auditability and traceability, safety and governance controls, and cyber risk management to be implemented and demonstrated. Each is named here with what HSL implements and what the video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inversion between the fidelity ranking and the decision ranking, drawn tool by tool. Right: the rules, with containment and expected shortfall reduction charted from the artefacts.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dose response chart drawn from the concentration block of the artefacts. Right: the red team, the matrix game, the truth audit, the off policy audit, the calibration shift and the backtest.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kept as required by the organisers.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as in the template, with the terminal's key chip motif.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paragraph summary for the public vote.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chart" Target="/ppt/charts/chart1.xml"/><Relationship Id="rId1" Type="http://schemas.openxmlformats.org/officeDocument/2006/relationships/image" Target="../media/image-6-1.png"/><Relationship Id="rId2" Type="http://schemas.openxmlformats.org/officeDocument/2006/relationships/image" Target="../media/image-6-2.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chart" Target="/ppt/charts/chart2.xml"/><Relationship Id="rId1" Type="http://schemas.openxmlformats.org/officeDocument/2006/relationships/image" Target="../media/image-7-1.png"/><Relationship Id="rId2" Type="http://schemas.openxmlformats.org/officeDocument/2006/relationships/image" Target="../media/image-7-2.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dir.png">    </p:cNvPr>
          <p:cNvPicPr>
            <a:picLocks noChangeAspect="1"/>
          </p:cNvPicPr>
          <p:nvPr/>
        </p:nvPicPr>
        <p:blipFill>
          <a:blip r:embed="rId1"/>
          <a:stretch>
            <a:fillRect/>
          </a:stretch>
        </p:blipFill>
        <p:spPr>
          <a:xfrm>
            <a:off x="548640" y="384048"/>
            <a:ext cx="1737360" cy="434340"/>
          </a:xfrm>
          <a:prstGeom prst="rect">
            <a:avLst/>
          </a:prstGeom>
        </p:spPr>
      </p:pic>
      <p:sp>
        <p:nvSpPr>
          <p:cNvPr id="3" name="Text 0"/>
          <p:cNvSpPr txBox="1"/>
          <p:nvPr/>
        </p:nvSpPr>
        <p:spPr>
          <a:xfrm>
            <a:off x="2468880" y="365760"/>
            <a:ext cx="3291840" cy="502920"/>
          </a:xfrm>
          <a:prstGeom prst="rect">
            <a:avLst/>
          </a:prstGeom>
          <a:noFill/>
          <a:ln/>
        </p:spPr>
        <p:txBody>
          <a:bodyPr wrap="square" lIns="0" tIns="0" rIns="0" bIns="0" rtlCol="0" anchor="ctr"/>
          <a:lstStyle/>
          <a:p>
            <a:pPr indent="0" marL="0">
              <a:buNone/>
            </a:pPr>
            <a:r>
              <a:rPr lang="en-US" sz="1100" dirty="0">
                <a:solidFill>
                  <a:srgbClr val="0B0F16"/>
                </a:solidFill>
                <a:latin typeface="Calibri" pitchFamily="34" charset="0"/>
                <a:ea typeface="Calibri" pitchFamily="34" charset="-122"/>
                <a:cs typeface="Calibri" pitchFamily="34" charset="-120"/>
              </a:rPr>
              <a:t>Cambridge Digital Innovation &amp; Regulation Initiative</a:t>
            </a:r>
            <a:endParaRPr lang="en-US" sz="1100" dirty="0"/>
          </a:p>
        </p:txBody>
      </p:sp>
      <p:sp>
        <p:nvSpPr>
          <p:cNvPr id="4" name="Text 1"/>
          <p:cNvSpPr txBox="1"/>
          <p:nvPr/>
        </p:nvSpPr>
        <p:spPr>
          <a:xfrm>
            <a:off x="11658600" y="137160"/>
            <a:ext cx="2423160" cy="228600"/>
          </a:xfrm>
          <a:prstGeom prst="rect">
            <a:avLst/>
          </a:prstGeom>
          <a:noFill/>
          <a:ln/>
        </p:spPr>
        <p:txBody>
          <a:bodyPr wrap="square" lIns="0" tIns="0" rIns="0" bIns="0" rtlCol="0" anchor="ctr"/>
          <a:lstStyle/>
          <a:p>
            <a:pPr indent="0" marL="0">
              <a:buNone/>
            </a:pPr>
            <a:r>
              <a:rPr lang="en-US" sz="800" dirty="0">
                <a:solidFill>
                  <a:srgbClr val="5D6A80"/>
                </a:solidFill>
                <a:latin typeface="Calibri" pitchFamily="34" charset="0"/>
                <a:ea typeface="Calibri" pitchFamily="34" charset="-122"/>
                <a:cs typeface="Calibri" pitchFamily="34" charset="-120"/>
              </a:rPr>
              <a:t>An initiative of</a:t>
            </a:r>
            <a:endParaRPr lang="en-US" sz="800" dirty="0"/>
          </a:p>
        </p:txBody>
      </p:sp>
      <p:pic>
        <p:nvPicPr>
          <p:cNvPr id="5" name="Image 1" descr="fii.png">    </p:cNvPr>
          <p:cNvPicPr>
            <a:picLocks noChangeAspect="1"/>
          </p:cNvPicPr>
          <p:nvPr/>
        </p:nvPicPr>
        <p:blipFill>
          <a:blip r:embed="rId2"/>
          <a:stretch>
            <a:fillRect/>
          </a:stretch>
        </p:blipFill>
        <p:spPr>
          <a:xfrm>
            <a:off x="11658600" y="347472"/>
            <a:ext cx="2423160" cy="822960"/>
          </a:xfrm>
          <a:prstGeom prst="rect">
            <a:avLst/>
          </a:prstGeom>
        </p:spPr>
      </p:pic>
      <p:pic>
        <p:nvPicPr>
          <p:cNvPr id="6" name="Image 2" descr="terminal.png">    </p:cNvPr>
          <p:cNvPicPr>
            <a:picLocks noChangeAspect="1"/>
          </p:cNvPicPr>
          <p:nvPr/>
        </p:nvPicPr>
        <p:blipFill>
          <a:blip r:embed="rId3"/>
          <a:srcRect l="0" r="0" t="0" b="0"/>
          <a:stretch/>
        </p:blipFill>
        <p:spPr>
          <a:xfrm>
            <a:off x="0" y="1371600"/>
            <a:ext cx="14630400" cy="6858000"/>
          </a:xfrm>
          <a:prstGeom prst="rect">
            <a:avLst/>
          </a:prstGeom>
        </p:spPr>
      </p:pic>
      <p:sp>
        <p:nvSpPr>
          <p:cNvPr id="7" name="Shape 2"/>
          <p:cNvSpPr/>
          <p:nvPr/>
        </p:nvSpPr>
        <p:spPr>
          <a:xfrm>
            <a:off x="0" y="1371600"/>
            <a:ext cx="14630400" cy="6858000"/>
          </a:xfrm>
          <a:prstGeom prst="rect">
            <a:avLst/>
          </a:prstGeom>
          <a:solidFill>
            <a:srgbClr val="0B0F16">
              <a:alpha val="45000"/>
            </a:srgbClr>
          </a:solidFill>
          <a:ln w="12700">
            <a:solidFill>
              <a:srgbClr val="0B0F16"/>
            </a:solidFill>
            <a:prstDash val="solid"/>
          </a:ln>
        </p:spPr>
      </p:sp>
      <p:sp>
        <p:nvSpPr>
          <p:cNvPr id="8" name="Shape 3"/>
          <p:cNvSpPr/>
          <p:nvPr/>
        </p:nvSpPr>
        <p:spPr>
          <a:xfrm>
            <a:off x="548640" y="4983480"/>
            <a:ext cx="8229600" cy="2926080"/>
          </a:xfrm>
          <a:prstGeom prst="rect">
            <a:avLst/>
          </a:prstGeom>
          <a:solidFill>
            <a:srgbClr val="0B0F16">
              <a:alpha val="92000"/>
            </a:srgbClr>
          </a:solidFill>
          <a:ln w="12700">
            <a:solidFill>
              <a:srgbClr val="B5821A"/>
            </a:solidFill>
            <a:prstDash val="solid"/>
          </a:ln>
        </p:spPr>
      </p:sp>
      <p:sp>
        <p:nvSpPr>
          <p:cNvPr id="9" name="Shape 4"/>
          <p:cNvSpPr/>
          <p:nvPr/>
        </p:nvSpPr>
        <p:spPr>
          <a:xfrm>
            <a:off x="868680" y="5303520"/>
            <a:ext cx="310896" cy="310896"/>
          </a:xfrm>
          <a:prstGeom prst="rect">
            <a:avLst/>
          </a:prstGeom>
          <a:solidFill>
            <a:srgbClr val="F6B52A"/>
          </a:solidFill>
          <a:ln w="12700">
            <a:solidFill>
              <a:srgbClr val="F6B52A"/>
            </a:solidFill>
            <a:prstDash val="solid"/>
          </a:ln>
        </p:spPr>
      </p:sp>
      <p:sp>
        <p:nvSpPr>
          <p:cNvPr id="10" name="Text 5"/>
          <p:cNvSpPr txBox="1"/>
          <p:nvPr/>
        </p:nvSpPr>
        <p:spPr>
          <a:xfrm>
            <a:off x="868680" y="5303520"/>
            <a:ext cx="310896" cy="310896"/>
          </a:xfrm>
          <a:prstGeom prst="rect">
            <a:avLst/>
          </a:prstGeom>
          <a:noFill/>
          <a:ln/>
        </p:spPr>
        <p:txBody>
          <a:bodyPr wrap="square" lIns="0" tIns="0" rIns="0" bIns="0" rtlCol="0" anchor="ctr"/>
          <a:lstStyle/>
          <a:p>
            <a:pPr algn="ctr" indent="0" marL="0">
              <a:buNone/>
            </a:pPr>
            <a:r>
              <a:rPr lang="en-US" sz="1100" b="1" dirty="0">
                <a:solidFill>
                  <a:srgbClr val="0B0F16"/>
                </a:solidFill>
                <a:latin typeface="Courier New" pitchFamily="34" charset="0"/>
                <a:ea typeface="Courier New" pitchFamily="34" charset="-122"/>
                <a:cs typeface="Courier New" pitchFamily="34" charset="-120"/>
              </a:rPr>
              <a:t>H</a:t>
            </a:r>
            <a:endParaRPr lang="en-US" sz="1100" dirty="0"/>
          </a:p>
        </p:txBody>
      </p:sp>
      <p:sp>
        <p:nvSpPr>
          <p:cNvPr id="11" name="Shape 6"/>
          <p:cNvSpPr/>
          <p:nvPr/>
        </p:nvSpPr>
        <p:spPr>
          <a:xfrm>
            <a:off x="1179576" y="5303520"/>
            <a:ext cx="603504" cy="310896"/>
          </a:xfrm>
          <a:prstGeom prst="rect">
            <a:avLst/>
          </a:prstGeom>
          <a:solidFill>
            <a:srgbClr val="0B0F16"/>
          </a:solidFill>
          <a:ln w="12700">
            <a:solidFill>
              <a:srgbClr val="0B0F16"/>
            </a:solidFill>
            <a:prstDash val="solid"/>
          </a:ln>
        </p:spPr>
      </p:sp>
      <p:sp>
        <p:nvSpPr>
          <p:cNvPr id="12" name="Text 7"/>
          <p:cNvSpPr txBox="1"/>
          <p:nvPr/>
        </p:nvSpPr>
        <p:spPr>
          <a:xfrm>
            <a:off x="1179576" y="5303520"/>
            <a:ext cx="603504" cy="310896"/>
          </a:xfrm>
          <a:prstGeom prst="rect">
            <a:avLst/>
          </a:prstGeom>
          <a:noFill/>
          <a:ln/>
        </p:spPr>
        <p:txBody>
          <a:bodyPr wrap="square" lIns="0" tIns="0" rIns="0" bIns="0" rtlCol="0" anchor="ctr"/>
          <a:lstStyle/>
          <a:p>
            <a:pPr algn="ctr" indent="0" marL="0">
              <a:buNone/>
            </a:pPr>
            <a:r>
              <a:rPr lang="en-US" sz="1100" b="1" spc="200" kern="0" dirty="0">
                <a:solidFill>
                  <a:srgbClr val="F6B52A"/>
                </a:solidFill>
                <a:latin typeface="Courier New" pitchFamily="34" charset="0"/>
                <a:ea typeface="Courier New" pitchFamily="34" charset="-122"/>
                <a:cs typeface="Courier New" pitchFamily="34" charset="-120"/>
              </a:rPr>
              <a:t>HSL</a:t>
            </a:r>
            <a:endParaRPr lang="en-US" sz="1100" dirty="0"/>
          </a:p>
        </p:txBody>
      </p:sp>
      <p:sp>
        <p:nvSpPr>
          <p:cNvPr id="13" name="Text 8"/>
          <p:cNvSpPr txBox="1"/>
          <p:nvPr/>
        </p:nvSpPr>
        <p:spPr>
          <a:xfrm>
            <a:off x="1965960" y="5230368"/>
            <a:ext cx="6583680" cy="457200"/>
          </a:xfrm>
          <a:prstGeom prst="rect">
            <a:avLst/>
          </a:prstGeom>
          <a:noFill/>
          <a:ln/>
        </p:spPr>
        <p:txBody>
          <a:bodyPr wrap="square" lIns="0" tIns="0" rIns="0" bIns="0" rtlCol="0" anchor="ctr"/>
          <a:lstStyle/>
          <a:p>
            <a:pPr indent="0" marL="0">
              <a:buNone/>
            </a:pPr>
            <a:r>
              <a:rPr lang="en-US" sz="1300" dirty="0">
                <a:solidFill>
                  <a:srgbClr val="97A3B8"/>
                </a:solidFill>
                <a:latin typeface="Courier New" pitchFamily="34" charset="0"/>
                <a:ea typeface="Courier New" pitchFamily="34" charset="-122"/>
                <a:cs typeface="Courier New" pitchFamily="34" charset="-120"/>
              </a:rPr>
              <a:t>Herding Scenario Lab</a:t>
            </a:r>
            <a:endParaRPr lang="en-US" sz="1300" dirty="0"/>
          </a:p>
        </p:txBody>
      </p:sp>
      <p:sp>
        <p:nvSpPr>
          <p:cNvPr id="14" name="Text 9"/>
          <p:cNvSpPr txBox="1"/>
          <p:nvPr/>
        </p:nvSpPr>
        <p:spPr>
          <a:xfrm>
            <a:off x="868680" y="5760720"/>
            <a:ext cx="7680960" cy="73152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No Human Intelligence</a:t>
            </a:r>
            <a:endParaRPr lang="en-US" sz="4000" dirty="0"/>
          </a:p>
        </p:txBody>
      </p:sp>
      <p:sp>
        <p:nvSpPr>
          <p:cNvPr id="15" name="Text 10"/>
          <p:cNvSpPr txBox="1"/>
          <p:nvPr/>
        </p:nvSpPr>
        <p:spPr>
          <a:xfrm>
            <a:off x="868680" y="6492240"/>
            <a:ext cx="7680960" cy="384048"/>
          </a:xfrm>
          <a:prstGeom prst="rect">
            <a:avLst/>
          </a:prstGeom>
          <a:noFill/>
          <a:ln/>
        </p:spPr>
        <p:txBody>
          <a:bodyPr wrap="square" lIns="0" tIns="0" rIns="0" bIns="0" rtlCol="0" anchor="ctr"/>
          <a:lstStyle/>
          <a:p>
            <a:pPr indent="0" marL="0">
              <a:buNone/>
            </a:pPr>
            <a:r>
              <a:rPr lang="en-US" sz="1800" dirty="0">
                <a:solidFill>
                  <a:srgbClr val="F6B52A"/>
                </a:solidFill>
                <a:latin typeface="Calibri" pitchFamily="34" charset="0"/>
                <a:ea typeface="Calibri" pitchFamily="34" charset="-122"/>
                <a:cs typeface="Calibri" pitchFamily="34" charset="-120"/>
              </a:rPr>
              <a:t>Final Round Presentation</a:t>
            </a:r>
            <a:endParaRPr lang="en-US" sz="1800" dirty="0"/>
          </a:p>
        </p:txBody>
      </p:sp>
      <p:sp>
        <p:nvSpPr>
          <p:cNvPr id="16" name="Text 11"/>
          <p:cNvSpPr txBox="1"/>
          <p:nvPr/>
        </p:nvSpPr>
        <p:spPr>
          <a:xfrm>
            <a:off x="868680" y="6903720"/>
            <a:ext cx="7680960" cy="914400"/>
          </a:xfrm>
          <a:prstGeom prst="rect">
            <a:avLst/>
          </a:prstGeom>
          <a:noFill/>
          <a:ln/>
        </p:spPr>
        <p:txBody>
          <a:bodyPr wrap="square" lIns="0" tIns="0" rIns="0" bIns="0" rtlCol="0" anchor="t"/>
          <a:lstStyle/>
          <a:p>
            <a:pPr indent="0" marL="0">
              <a:buNone/>
            </a:pPr>
            <a:r>
              <a:rPr lang="en-US" sz="1250" dirty="0">
                <a:solidFill>
                  <a:srgbClr val="E4E9F2"/>
                </a:solidFill>
                <a:latin typeface="Calibri" pitchFamily="34" charset="0"/>
                <a:ea typeface="Calibri" pitchFamily="34" charset="-122"/>
                <a:cs typeface="Calibri" pitchFamily="34" charset="-120"/>
              </a:rPr>
              <a:t>A decision first sandbox that certifies AI market surveillance tools and intervention rules on the decision they exist to inform, with a finite sample guarantee, a signed audit trail and a red team. Built for financial stability supervisors, on their own data and their own scenarios.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dir.png">    </p:cNvPr>
          <p:cNvPicPr>
            <a:picLocks noChangeAspect="1"/>
          </p:cNvPicPr>
          <p:nvPr/>
        </p:nvPicPr>
        <p:blipFill>
          <a:blip r:embed="rId1"/>
          <a:stretch>
            <a:fillRect/>
          </a:stretch>
        </p:blipFill>
        <p:spPr>
          <a:xfrm>
            <a:off x="548640" y="384048"/>
            <a:ext cx="1737360" cy="434340"/>
          </a:xfrm>
          <a:prstGeom prst="rect">
            <a:avLst/>
          </a:prstGeom>
        </p:spPr>
      </p:pic>
      <p:pic>
        <p:nvPicPr>
          <p:cNvPr id="3" name="Image 1" descr="fii.png">    </p:cNvPr>
          <p:cNvPicPr>
            <a:picLocks noChangeAspect="1"/>
          </p:cNvPicPr>
          <p:nvPr/>
        </p:nvPicPr>
        <p:blipFill>
          <a:blip r:embed="rId2"/>
          <a:stretch>
            <a:fillRect/>
          </a:stretch>
        </p:blipFill>
        <p:spPr>
          <a:xfrm>
            <a:off x="11658600" y="347472"/>
            <a:ext cx="2423160" cy="822960"/>
          </a:xfrm>
          <a:prstGeom prst="rect">
            <a:avLst/>
          </a:prstGeom>
        </p:spPr>
      </p:pic>
      <p:sp>
        <p:nvSpPr>
          <p:cNvPr id="4" name="Text 0"/>
          <p:cNvSpPr txBox="1"/>
          <p:nvPr/>
        </p:nvSpPr>
        <p:spPr>
          <a:xfrm>
            <a:off x="548640" y="1234440"/>
            <a:ext cx="10058400" cy="640080"/>
          </a:xfrm>
          <a:prstGeom prst="rect">
            <a:avLst/>
          </a:prstGeom>
          <a:noFill/>
          <a:ln/>
        </p:spPr>
        <p:txBody>
          <a:bodyPr wrap="square" lIns="0" tIns="0" rIns="0" bIns="0" rtlCol="0" anchor="ctr"/>
          <a:lstStyle/>
          <a:p>
            <a:pPr indent="0" marL="0">
              <a:buNone/>
            </a:pPr>
            <a:r>
              <a:rPr lang="en-US" sz="3000" b="1" dirty="0">
                <a:solidFill>
                  <a:srgbClr val="0B0F16"/>
                </a:solidFill>
                <a:latin typeface="Calibri" pitchFamily="34" charset="0"/>
                <a:ea typeface="Calibri" pitchFamily="34" charset="-122"/>
                <a:cs typeface="Calibri" pitchFamily="34" charset="-120"/>
              </a:rPr>
              <a:t>Executive summary</a:t>
            </a:r>
            <a:endParaRPr lang="en-US" sz="3000" dirty="0"/>
          </a:p>
        </p:txBody>
      </p:sp>
      <p:sp>
        <p:nvSpPr>
          <p:cNvPr id="5" name="Text 1"/>
          <p:cNvSpPr txBox="1"/>
          <p:nvPr/>
        </p:nvSpPr>
        <p:spPr>
          <a:xfrm>
            <a:off x="548640" y="7635240"/>
            <a:ext cx="4572000" cy="320040"/>
          </a:xfrm>
          <a:prstGeom prst="rect">
            <a:avLst/>
          </a:prstGeom>
          <a:noFill/>
          <a:ln/>
        </p:spPr>
        <p:txBody>
          <a:bodyPr wrap="square" lIns="0" tIns="0" rIns="0" bIns="0" rtlCol="0" anchor="ctr"/>
          <a:lstStyle/>
          <a:p>
            <a:pPr indent="0" marL="0">
              <a:buNone/>
            </a:pPr>
            <a:r>
              <a:rPr lang="en-US" sz="1000" dirty="0">
                <a:solidFill>
                  <a:srgbClr val="5D6A80"/>
                </a:solidFill>
                <a:latin typeface="Calibri" pitchFamily="34" charset="0"/>
                <a:ea typeface="Calibri" pitchFamily="34" charset="-122"/>
                <a:cs typeface="Calibri" pitchFamily="34" charset="-120"/>
              </a:rPr>
              <a:t>No Human Intelligence</a:t>
            </a:r>
            <a:endParaRPr lang="en-US" sz="1000" dirty="0"/>
          </a:p>
        </p:txBody>
      </p:sp>
      <p:sp>
        <p:nvSpPr>
          <p:cNvPr id="6" name="Text 2"/>
          <p:cNvSpPr txBox="1"/>
          <p:nvPr/>
        </p:nvSpPr>
        <p:spPr>
          <a:xfrm>
            <a:off x="13167360" y="7635240"/>
            <a:ext cx="914400" cy="320040"/>
          </a:xfrm>
          <a:prstGeom prst="rect">
            <a:avLst/>
          </a:prstGeom>
          <a:noFill/>
          <a:ln/>
        </p:spPr>
        <p:txBody>
          <a:bodyPr wrap="square" lIns="0" tIns="0" rIns="0" bIns="0" rtlCol="0" anchor="ctr"/>
          <a:lstStyle/>
          <a:p>
            <a:pPr algn="r" indent="0" marL="0">
              <a:buNone/>
            </a:pPr>
            <a:r>
              <a:rPr lang="en-US" sz="1000" dirty="0">
                <a:solidFill>
                  <a:srgbClr val="5D6A80"/>
                </a:solidFill>
                <a:latin typeface="Courier New" pitchFamily="34" charset="0"/>
                <a:ea typeface="Courier New" pitchFamily="34" charset="-122"/>
                <a:cs typeface="Courier New" pitchFamily="34" charset="-120"/>
              </a:rPr>
              <a:t>2</a:t>
            </a:r>
            <a:endParaRPr lang="en-US" sz="1000" dirty="0"/>
          </a:p>
        </p:txBody>
      </p:sp>
      <p:sp>
        <p:nvSpPr>
          <p:cNvPr id="7" name="Shape 3"/>
          <p:cNvSpPr/>
          <p:nvPr/>
        </p:nvSpPr>
        <p:spPr>
          <a:xfrm>
            <a:off x="548640" y="2148840"/>
            <a:ext cx="3931920" cy="4937760"/>
          </a:xfrm>
          <a:prstGeom prst="rect">
            <a:avLst/>
          </a:prstGeom>
          <a:solidFill>
            <a:srgbClr val="0B0F16"/>
          </a:solidFill>
          <a:ln w="9525">
            <a:solidFill>
              <a:srgbClr val="161E2A"/>
            </a:solidFill>
            <a:prstDash val="solid"/>
          </a:ln>
        </p:spPr>
      </p:sp>
      <p:sp>
        <p:nvSpPr>
          <p:cNvPr id="8" name="Shape 4"/>
          <p:cNvSpPr/>
          <p:nvPr/>
        </p:nvSpPr>
        <p:spPr>
          <a:xfrm>
            <a:off x="548640" y="2148840"/>
            <a:ext cx="3931920" cy="384048"/>
          </a:xfrm>
          <a:prstGeom prst="rect">
            <a:avLst/>
          </a:prstGeom>
          <a:solidFill>
            <a:srgbClr val="10161F"/>
          </a:solidFill>
          <a:ln w="9525">
            <a:solidFill>
              <a:srgbClr val="161E2A"/>
            </a:solidFill>
            <a:prstDash val="solid"/>
          </a:ln>
        </p:spPr>
      </p:sp>
      <p:sp>
        <p:nvSpPr>
          <p:cNvPr id="9" name="Text 5"/>
          <p:cNvSpPr txBox="1"/>
          <p:nvPr/>
        </p:nvSpPr>
        <p:spPr>
          <a:xfrm>
            <a:off x="676656" y="2148840"/>
            <a:ext cx="822960" cy="384048"/>
          </a:xfrm>
          <a:prstGeom prst="rect">
            <a:avLst/>
          </a:prstGeom>
          <a:noFill/>
          <a:ln/>
        </p:spPr>
        <p:txBody>
          <a:bodyPr wrap="square" lIns="0" tIns="0" rIns="0" bIns="0" rtlCol="0" anchor="ctr"/>
          <a:lstStyle/>
          <a:p>
            <a:pPr indent="0" marL="0">
              <a:buNone/>
            </a:pPr>
            <a:r>
              <a:rPr lang="en-US" sz="1100" b="1" spc="200" kern="0" dirty="0">
                <a:solidFill>
                  <a:srgbClr val="F6B52A"/>
                </a:solidFill>
                <a:latin typeface="Courier New" pitchFamily="34" charset="0"/>
                <a:ea typeface="Courier New" pitchFamily="34" charset="-122"/>
                <a:cs typeface="Courier New" pitchFamily="34" charset="-120"/>
              </a:rPr>
              <a:t>RUN</a:t>
            </a:r>
            <a:endParaRPr lang="en-US" sz="1100" dirty="0"/>
          </a:p>
        </p:txBody>
      </p:sp>
      <p:sp>
        <p:nvSpPr>
          <p:cNvPr id="10" name="Text 6"/>
          <p:cNvSpPr txBox="1"/>
          <p:nvPr/>
        </p:nvSpPr>
        <p:spPr>
          <a:xfrm>
            <a:off x="1417320" y="2148840"/>
            <a:ext cx="2926080" cy="384048"/>
          </a:xfrm>
          <a:prstGeom prst="rect">
            <a:avLst/>
          </a:prstGeom>
          <a:noFill/>
          <a:ln/>
        </p:spPr>
        <p:txBody>
          <a:bodyPr wrap="square" lIns="0" tIns="0" rIns="0" bIns="0" rtlCol="0" anchor="ctr"/>
          <a:lstStyle/>
          <a:p>
            <a:pPr indent="0" marL="0">
              <a:buNone/>
            </a:pPr>
            <a:r>
              <a:rPr lang="en-US" sz="1200" b="1" dirty="0">
                <a:solidFill>
                  <a:srgbClr val="E4E9F2"/>
                </a:solidFill>
                <a:latin typeface="Calibri" pitchFamily="34" charset="0"/>
                <a:ea typeface="Calibri" pitchFamily="34" charset="-122"/>
                <a:cs typeface="Calibri" pitchFamily="34" charset="-120"/>
              </a:rPr>
              <a:t>Our agentic prototype</a:t>
            </a:r>
            <a:endParaRPr lang="en-US" sz="1200" dirty="0"/>
          </a:p>
        </p:txBody>
      </p:sp>
      <p:sp>
        <p:nvSpPr>
          <p:cNvPr id="11" name="Text 7"/>
          <p:cNvSpPr txBox="1"/>
          <p:nvPr/>
        </p:nvSpPr>
        <p:spPr>
          <a:xfrm>
            <a:off x="777240" y="2697480"/>
            <a:ext cx="3474720" cy="4251960"/>
          </a:xfrm>
          <a:prstGeom prst="rect">
            <a:avLst/>
          </a:prstGeom>
          <a:noFill/>
          <a:ln/>
        </p:spPr>
        <p:txBody>
          <a:bodyPr wrap="square" lIns="0" tIns="0" rIns="0" bIns="0" rtlCol="0" anchor="t"/>
          <a:lstStyle/>
          <a:p>
            <a:pPr indent="0" marL="0">
              <a:lnSpc>
                <a:spcPct val="100000"/>
              </a:lnSpc>
              <a:spcAft>
                <a:spcPts val="1000"/>
              </a:spcAft>
              <a:buNone/>
            </a:pPr>
            <a:r>
              <a:rPr lang="en-US" sz="2200" b="1" dirty="0">
                <a:solidFill>
                  <a:srgbClr val="FFFFFF"/>
                </a:solidFill>
                <a:latin typeface="Calibri" pitchFamily="34" charset="0"/>
                <a:ea typeface="Calibri" pitchFamily="34" charset="-122"/>
                <a:cs typeface="Calibri" pitchFamily="34" charset="-120"/>
              </a:rPr>
              <a:t>Our agentic prototype aims to…</a:t>
            </a:r>
            <a:endParaRPr lang="en-US" sz="2200" dirty="0"/>
          </a:p>
          <a:p>
            <a:pPr indent="0" marL="0">
              <a:lnSpc>
                <a:spcPct val="100000"/>
              </a:lnSpc>
              <a:spcAft>
                <a:spcPts val="1000"/>
              </a:spcAft>
              <a:buNone/>
            </a:pPr>
            <a:r>
              <a:rPr lang="en-US" sz="1200" dirty="0">
                <a:solidFill>
                  <a:srgbClr val="97A3B8"/>
                </a:solidFill>
                <a:latin typeface="Calibri" pitchFamily="34" charset="0"/>
                <a:ea typeface="Calibri" pitchFamily="34" charset="-122"/>
                <a:cs typeface="Calibri" pitchFamily="34" charset="-120"/>
              </a:rPr>
              <a:t>Eight sentinels, eight rules, a battery of 51 synthetic markets in 18 families out of the box, and no ceiling: a regulator adds scenario families, agent types, observed data and models of its own, and a critic recomputes every number before a human releases anything.</a:t>
            </a:r>
            <a:endParaRPr lang="en-US" sz="2200" dirty="0"/>
          </a:p>
          <a:p>
            <a:pPr indent="0" marL="0">
              <a:lnSpc>
                <a:spcPct val="100000"/>
              </a:lnSpc>
              <a:spcAft>
                <a:spcPts val="600"/>
              </a:spcAft>
              <a:buNone/>
            </a:pPr>
            <a:r>
              <a:rPr lang="en-US" sz="1150" b="1" dirty="0">
                <a:solidFill>
                  <a:srgbClr val="F6B52A"/>
                </a:solidFill>
                <a:latin typeface="Calibri" pitchFamily="34" charset="0"/>
                <a:ea typeface="Calibri" pitchFamily="34" charset="-122"/>
                <a:cs typeface="Calibri" pitchFamily="34" charset="-120"/>
              </a:rPr>
              <a:t>Latest run, and what it means</a:t>
            </a:r>
            <a:endParaRPr lang="en-US" sz="2200" dirty="0"/>
          </a:p>
          <a:p>
            <a:pPr indent="0" marL="0">
              <a:lnSpc>
                <a:spcPct val="100000"/>
              </a:lnSpc>
              <a:buNone/>
            </a:pPr>
            <a:r>
              <a:rPr lang="en-US" sz="1050" b="1" dirty="0">
                <a:solidFill>
                  <a:srgbClr val="FFFFFF"/>
                </a:solidFill>
                <a:latin typeface="Calibri" pitchFamily="34" charset="0"/>
                <a:ea typeface="Calibri" pitchFamily="34" charset="-122"/>
                <a:cs typeface="Calibri" pitchFamily="34" charset="-120"/>
              </a:rPr>
              <a:t>Decision gap 0.68: </a:t>
            </a:r>
            <a:pPr indent="0" marL="0">
              <a:lnSpc>
                <a:spcPct val="100000"/>
              </a:lnSpc>
              <a:spcAft>
                <a:spcPts val="400"/>
              </a:spcAft>
              <a:buNone/>
            </a:pPr>
            <a:r>
              <a:rPr lang="en-US" sz="1050" dirty="0">
                <a:solidFill>
                  <a:srgbClr val="E4E9F2"/>
                </a:solidFill>
                <a:latin typeface="Calibri" pitchFamily="34" charset="0"/>
                <a:ea typeface="Calibri" pitchFamily="34" charset="-122"/>
                <a:cs typeface="Calibri" pitchFamily="34" charset="-120"/>
              </a:rPr>
              <a:t>the tools ranked by how well they mimic market statistics are close to the reverse of the tools ranked by whether they catch the destabilising agents (0 would be the same order, 1 the exact reverse).</a:t>
            </a:r>
            <a:endParaRPr lang="en-US" sz="2200" dirty="0"/>
          </a:p>
          <a:p>
            <a:pPr indent="0" marL="0">
              <a:lnSpc>
                <a:spcPct val="100000"/>
              </a:lnSpc>
              <a:buNone/>
            </a:pPr>
            <a:r>
              <a:rPr lang="en-US" sz="1050" b="1" dirty="0">
                <a:solidFill>
                  <a:srgbClr val="FFFFFF"/>
                </a:solidFill>
                <a:latin typeface="Calibri" pitchFamily="34" charset="0"/>
                <a:ea typeface="Calibri" pitchFamily="34" charset="-122"/>
                <a:cs typeface="Calibri" pitchFamily="34" charset="-120"/>
              </a:rPr>
              <a:t>P(inversion) 0.90: </a:t>
            </a:r>
            <a:pPr indent="0" marL="0">
              <a:lnSpc>
                <a:spcPct val="100000"/>
              </a:lnSpc>
              <a:spcAft>
                <a:spcPts val="400"/>
              </a:spcAft>
              <a:buNone/>
            </a:pPr>
            <a:r>
              <a:rPr lang="en-US" sz="1050" dirty="0">
                <a:solidFill>
                  <a:srgbClr val="E4E9F2"/>
                </a:solidFill>
                <a:latin typeface="Calibri" pitchFamily="34" charset="0"/>
                <a:ea typeface="Calibri" pitchFamily="34" charset="-122"/>
                <a:cs typeface="Calibri" pitchFamily="34" charset="-120"/>
              </a:rPr>
              <a:t>in 90% of resampled batteries the two rankings still disagree, so the gap is not one lucky draw.</a:t>
            </a:r>
            <a:endParaRPr lang="en-US" sz="2200" dirty="0"/>
          </a:p>
          <a:p>
            <a:pPr indent="0" marL="0">
              <a:lnSpc>
                <a:spcPct val="100000"/>
              </a:lnSpc>
              <a:buNone/>
            </a:pPr>
            <a:r>
              <a:rPr lang="en-US" sz="1050" b="1" dirty="0">
                <a:solidFill>
                  <a:srgbClr val="FFFFFF"/>
                </a:solidFill>
                <a:latin typeface="Calibri" pitchFamily="34" charset="0"/>
                <a:ea typeface="Calibri" pitchFamily="34" charset="-122"/>
                <a:cs typeface="Calibri" pitchFamily="34" charset="-120"/>
              </a:rPr>
              <a:t>Certified at level 0.25: </a:t>
            </a:r>
            <a:pPr indent="0" marL="0">
              <a:lnSpc>
                <a:spcPct val="100000"/>
              </a:lnSpc>
              <a:spcAft>
                <a:spcPts val="400"/>
              </a:spcAft>
              <a:buNone/>
            </a:pPr>
            <a:r>
              <a:rPr lang="en-US" sz="1050" dirty="0">
                <a:solidFill>
                  <a:srgbClr val="E4E9F2"/>
                </a:solidFill>
                <a:latin typeface="Calibri" pitchFamily="34" charset="0"/>
                <a:ea typeface="Calibri" pitchFamily="34" charset="-122"/>
                <a:cs typeface="Calibri" pitchFamily="34" charset="-120"/>
              </a:rPr>
              <a:t>the tail dependence sentinel is the most accurate tool whose false alert probability on a new quiet market is guaranteed to be at most one in four.</a:t>
            </a:r>
            <a:endParaRPr lang="en-US" sz="2200" dirty="0"/>
          </a:p>
          <a:p>
            <a:pPr indent="0" marL="0">
              <a:lnSpc>
                <a:spcPct val="100000"/>
              </a:lnSpc>
              <a:buNone/>
            </a:pPr>
            <a:r>
              <a:rPr lang="en-US" sz="1050" b="1" dirty="0">
                <a:solidFill>
                  <a:srgbClr val="FFFFFF"/>
                </a:solidFill>
                <a:latin typeface="Calibri" pitchFamily="34" charset="0"/>
                <a:ea typeface="Calibri" pitchFamily="34" charset="-122"/>
                <a:cs typeface="Calibri" pitchFamily="34" charset="-120"/>
              </a:rPr>
              <a:t>31 checks passed: </a:t>
            </a:r>
            <a:pPr indent="0" marL="0">
              <a:lnSpc>
                <a:spcPct val="100000"/>
              </a:lnSpc>
              <a:buNone/>
            </a:pPr>
            <a:r>
              <a:rPr lang="en-US" sz="1050" dirty="0">
                <a:solidFill>
                  <a:srgbClr val="E4E9F2"/>
                </a:solidFill>
                <a:latin typeface="Calibri" pitchFamily="34" charset="0"/>
                <a:ea typeface="Calibri" pitchFamily="34" charset="-122"/>
                <a:cs typeface="Calibri" pitchFamily="34" charset="-120"/>
              </a:rPr>
              <a:t>every figure was recomputed from the raw rows and the ledger replayed before a human could release it.</a:t>
            </a:r>
            <a:endParaRPr lang="en-US" sz="2200" dirty="0"/>
          </a:p>
        </p:txBody>
      </p:sp>
      <p:sp>
        <p:nvSpPr>
          <p:cNvPr id="12" name="Shape 8"/>
          <p:cNvSpPr/>
          <p:nvPr/>
        </p:nvSpPr>
        <p:spPr>
          <a:xfrm>
            <a:off x="4892040" y="2148840"/>
            <a:ext cx="9189720" cy="1097280"/>
          </a:xfrm>
          <a:prstGeom prst="rect">
            <a:avLst/>
          </a:prstGeom>
          <a:solidFill>
            <a:srgbClr val="F3F5F9"/>
          </a:solidFill>
          <a:ln w="9525">
            <a:solidFill>
              <a:srgbClr val="D9DEE8"/>
            </a:solidFill>
            <a:prstDash val="solid"/>
          </a:ln>
        </p:spPr>
      </p:sp>
      <p:sp>
        <p:nvSpPr>
          <p:cNvPr id="13" name="Shape 9"/>
          <p:cNvSpPr/>
          <p:nvPr/>
        </p:nvSpPr>
        <p:spPr>
          <a:xfrm>
            <a:off x="5120640" y="2331720"/>
            <a:ext cx="310896" cy="310896"/>
          </a:xfrm>
          <a:prstGeom prst="rect">
            <a:avLst/>
          </a:prstGeom>
          <a:solidFill>
            <a:srgbClr val="F6B52A"/>
          </a:solidFill>
          <a:ln w="12700">
            <a:solidFill>
              <a:srgbClr val="F6B52A"/>
            </a:solidFill>
            <a:prstDash val="solid"/>
          </a:ln>
        </p:spPr>
      </p:sp>
      <p:sp>
        <p:nvSpPr>
          <p:cNvPr id="14" name="Text 10"/>
          <p:cNvSpPr txBox="1"/>
          <p:nvPr/>
        </p:nvSpPr>
        <p:spPr>
          <a:xfrm>
            <a:off x="5120640" y="2331720"/>
            <a:ext cx="310896" cy="310896"/>
          </a:xfrm>
          <a:prstGeom prst="rect">
            <a:avLst/>
          </a:prstGeom>
          <a:noFill/>
          <a:ln/>
        </p:spPr>
        <p:txBody>
          <a:bodyPr wrap="square" lIns="0" tIns="0" rIns="0" bIns="0" rtlCol="0" anchor="ctr"/>
          <a:lstStyle/>
          <a:p>
            <a:pPr algn="ctr" indent="0" marL="0">
              <a:buNone/>
            </a:pPr>
            <a:r>
              <a:rPr lang="en-US" sz="1100" b="1" dirty="0">
                <a:solidFill>
                  <a:srgbClr val="0B0F16"/>
                </a:solidFill>
                <a:latin typeface="Courier New" pitchFamily="34" charset="0"/>
                <a:ea typeface="Courier New" pitchFamily="34" charset="-122"/>
                <a:cs typeface="Courier New" pitchFamily="34" charset="-120"/>
              </a:rPr>
              <a:t>G</a:t>
            </a:r>
            <a:endParaRPr lang="en-US" sz="1100" dirty="0"/>
          </a:p>
        </p:txBody>
      </p:sp>
      <p:sp>
        <p:nvSpPr>
          <p:cNvPr id="15" name="Shape 11"/>
          <p:cNvSpPr/>
          <p:nvPr/>
        </p:nvSpPr>
        <p:spPr>
          <a:xfrm>
            <a:off x="5431536" y="2331720"/>
            <a:ext cx="603504" cy="310896"/>
          </a:xfrm>
          <a:prstGeom prst="rect">
            <a:avLst/>
          </a:prstGeom>
          <a:solidFill>
            <a:srgbClr val="0B0F16"/>
          </a:solidFill>
          <a:ln w="12700">
            <a:solidFill>
              <a:srgbClr val="0B0F16"/>
            </a:solidFill>
            <a:prstDash val="solid"/>
          </a:ln>
        </p:spPr>
      </p:sp>
      <p:sp>
        <p:nvSpPr>
          <p:cNvPr id="16" name="Text 12"/>
          <p:cNvSpPr txBox="1"/>
          <p:nvPr/>
        </p:nvSpPr>
        <p:spPr>
          <a:xfrm>
            <a:off x="5431536" y="2331720"/>
            <a:ext cx="603504" cy="310896"/>
          </a:xfrm>
          <a:prstGeom prst="rect">
            <a:avLst/>
          </a:prstGeom>
          <a:noFill/>
          <a:ln/>
        </p:spPr>
        <p:txBody>
          <a:bodyPr wrap="square" lIns="0" tIns="0" rIns="0" bIns="0" rtlCol="0" anchor="ctr"/>
          <a:lstStyle/>
          <a:p>
            <a:pPr algn="ctr" indent="0" marL="0">
              <a:buNone/>
            </a:pPr>
            <a:r>
              <a:rPr lang="en-US" sz="1100" b="1" spc="200" kern="0" dirty="0">
                <a:solidFill>
                  <a:srgbClr val="F6B52A"/>
                </a:solidFill>
                <a:latin typeface="Courier New" pitchFamily="34" charset="0"/>
                <a:ea typeface="Courier New" pitchFamily="34" charset="-122"/>
                <a:cs typeface="Courier New" pitchFamily="34" charset="-120"/>
              </a:rPr>
              <a:t>GAP</a:t>
            </a:r>
            <a:endParaRPr lang="en-US" sz="1100" dirty="0"/>
          </a:p>
        </p:txBody>
      </p:sp>
      <p:sp>
        <p:nvSpPr>
          <p:cNvPr id="17" name="Text 13"/>
          <p:cNvSpPr txBox="1"/>
          <p:nvPr/>
        </p:nvSpPr>
        <p:spPr>
          <a:xfrm>
            <a:off x="6217920" y="2267712"/>
            <a:ext cx="7680960" cy="384048"/>
          </a:xfrm>
          <a:prstGeom prst="rect">
            <a:avLst/>
          </a:prstGeom>
          <a:noFill/>
          <a:ln/>
        </p:spPr>
        <p:txBody>
          <a:bodyPr wrap="square" lIns="0" tIns="0" rIns="0" bIns="0" rtlCol="0" anchor="ctr"/>
          <a:lstStyle/>
          <a:p>
            <a:pPr indent="0" marL="0">
              <a:buNone/>
            </a:pPr>
            <a:r>
              <a:rPr lang="en-US" sz="1400" b="1" dirty="0">
                <a:solidFill>
                  <a:srgbClr val="0B0F16"/>
                </a:solidFill>
                <a:latin typeface="Calibri" pitchFamily="34" charset="0"/>
                <a:ea typeface="Calibri" pitchFamily="34" charset="-122"/>
                <a:cs typeface="Calibri" pitchFamily="34" charset="-120"/>
              </a:rPr>
              <a:t>Stress test surveillance and intervention against synthetic AI agent markets.</a:t>
            </a:r>
            <a:endParaRPr lang="en-US" sz="1400" dirty="0"/>
          </a:p>
        </p:txBody>
      </p:sp>
      <p:sp>
        <p:nvSpPr>
          <p:cNvPr id="18" name="Text 14"/>
          <p:cNvSpPr txBox="1"/>
          <p:nvPr/>
        </p:nvSpPr>
        <p:spPr>
          <a:xfrm>
            <a:off x="6217920" y="2651760"/>
            <a:ext cx="7680960" cy="530352"/>
          </a:xfrm>
          <a:prstGeom prst="rect">
            <a:avLst/>
          </a:prstGeom>
          <a:noFill/>
          <a:ln/>
        </p:spPr>
        <p:txBody>
          <a:bodyPr wrap="square" lIns="0" tIns="0" rIns="0" bIns="0" rtlCol="0" anchor="t"/>
          <a:lstStyle/>
          <a:p>
            <a:pPr indent="0" marL="0">
              <a:buNone/>
            </a:pPr>
            <a:r>
              <a:rPr lang="en-US" sz="1150" dirty="0">
                <a:solidFill>
                  <a:srgbClr val="5D6A80"/>
                </a:solidFill>
                <a:latin typeface="Calibri" pitchFamily="34" charset="0"/>
                <a:ea typeface="Calibri" pitchFamily="34" charset="-122"/>
                <a:cs typeface="Calibri" pitchFamily="34" charset="-120"/>
              </a:rPr>
              <a:t>Herds of three intensities, learned herding by RL traders, an evader, colluding ignition, an LLM persona monoculture, a faulty vendor model, liquidity withdrawal and misinformation, plus quiet and held out families.</a:t>
            </a:r>
            <a:endParaRPr lang="en-US" sz="1150" dirty="0"/>
          </a:p>
        </p:txBody>
      </p:sp>
      <p:sp>
        <p:nvSpPr>
          <p:cNvPr id="19" name="Shape 15"/>
          <p:cNvSpPr/>
          <p:nvPr/>
        </p:nvSpPr>
        <p:spPr>
          <a:xfrm>
            <a:off x="4892040" y="3429000"/>
            <a:ext cx="9189720" cy="1097280"/>
          </a:xfrm>
          <a:prstGeom prst="rect">
            <a:avLst/>
          </a:prstGeom>
          <a:solidFill>
            <a:srgbClr val="F3F5F9"/>
          </a:solidFill>
          <a:ln w="9525">
            <a:solidFill>
              <a:srgbClr val="D9DEE8"/>
            </a:solidFill>
            <a:prstDash val="solid"/>
          </a:ln>
        </p:spPr>
      </p:sp>
      <p:sp>
        <p:nvSpPr>
          <p:cNvPr id="20" name="Shape 16"/>
          <p:cNvSpPr/>
          <p:nvPr/>
        </p:nvSpPr>
        <p:spPr>
          <a:xfrm>
            <a:off x="5120640" y="3611880"/>
            <a:ext cx="310896" cy="310896"/>
          </a:xfrm>
          <a:prstGeom prst="rect">
            <a:avLst/>
          </a:prstGeom>
          <a:solidFill>
            <a:srgbClr val="F6B52A"/>
          </a:solidFill>
          <a:ln w="12700">
            <a:solidFill>
              <a:srgbClr val="F6B52A"/>
            </a:solidFill>
            <a:prstDash val="solid"/>
          </a:ln>
        </p:spPr>
      </p:sp>
      <p:sp>
        <p:nvSpPr>
          <p:cNvPr id="21" name="Text 17"/>
          <p:cNvSpPr txBox="1"/>
          <p:nvPr/>
        </p:nvSpPr>
        <p:spPr>
          <a:xfrm>
            <a:off x="5120640" y="3611880"/>
            <a:ext cx="310896" cy="310896"/>
          </a:xfrm>
          <a:prstGeom prst="rect">
            <a:avLst/>
          </a:prstGeom>
          <a:noFill/>
          <a:ln/>
        </p:spPr>
        <p:txBody>
          <a:bodyPr wrap="square" lIns="0" tIns="0" rIns="0" bIns="0" rtlCol="0" anchor="ctr"/>
          <a:lstStyle/>
          <a:p>
            <a:pPr algn="ctr" indent="0" marL="0">
              <a:buNone/>
            </a:pPr>
            <a:r>
              <a:rPr lang="en-US" sz="1100" b="1" dirty="0">
                <a:solidFill>
                  <a:srgbClr val="0B0F16"/>
                </a:solidFill>
                <a:latin typeface="Courier New" pitchFamily="34" charset="0"/>
                <a:ea typeface="Courier New" pitchFamily="34" charset="-122"/>
                <a:cs typeface="Courier New" pitchFamily="34" charset="-120"/>
              </a:rPr>
              <a:t>K</a:t>
            </a:r>
            <a:endParaRPr lang="en-US" sz="1100" dirty="0"/>
          </a:p>
        </p:txBody>
      </p:sp>
      <p:sp>
        <p:nvSpPr>
          <p:cNvPr id="22" name="Shape 18"/>
          <p:cNvSpPr/>
          <p:nvPr/>
        </p:nvSpPr>
        <p:spPr>
          <a:xfrm>
            <a:off x="5431536" y="3611880"/>
            <a:ext cx="603504" cy="310896"/>
          </a:xfrm>
          <a:prstGeom prst="rect">
            <a:avLst/>
          </a:prstGeom>
          <a:solidFill>
            <a:srgbClr val="0B0F16"/>
          </a:solidFill>
          <a:ln w="12700">
            <a:solidFill>
              <a:srgbClr val="0B0F16"/>
            </a:solidFill>
            <a:prstDash val="solid"/>
          </a:ln>
        </p:spPr>
      </p:sp>
      <p:sp>
        <p:nvSpPr>
          <p:cNvPr id="23" name="Text 19"/>
          <p:cNvSpPr txBox="1"/>
          <p:nvPr/>
        </p:nvSpPr>
        <p:spPr>
          <a:xfrm>
            <a:off x="5431536" y="3611880"/>
            <a:ext cx="603504" cy="310896"/>
          </a:xfrm>
          <a:prstGeom prst="rect">
            <a:avLst/>
          </a:prstGeom>
          <a:noFill/>
          <a:ln/>
        </p:spPr>
        <p:txBody>
          <a:bodyPr wrap="square" lIns="0" tIns="0" rIns="0" bIns="0" rtlCol="0" anchor="ctr"/>
          <a:lstStyle/>
          <a:p>
            <a:pPr algn="ctr" indent="0" marL="0">
              <a:buNone/>
            </a:pPr>
            <a:r>
              <a:rPr lang="en-US" sz="1100" b="1" spc="200" kern="0" dirty="0">
                <a:solidFill>
                  <a:srgbClr val="F6B52A"/>
                </a:solidFill>
                <a:latin typeface="Courier New" pitchFamily="34" charset="0"/>
                <a:ea typeface="Courier New" pitchFamily="34" charset="-122"/>
                <a:cs typeface="Courier New" pitchFamily="34" charset="-120"/>
              </a:rPr>
              <a:t>RSK</a:t>
            </a:r>
            <a:endParaRPr lang="en-US" sz="1100" dirty="0"/>
          </a:p>
        </p:txBody>
      </p:sp>
      <p:sp>
        <p:nvSpPr>
          <p:cNvPr id="24" name="Text 20"/>
          <p:cNvSpPr txBox="1"/>
          <p:nvPr/>
        </p:nvSpPr>
        <p:spPr>
          <a:xfrm>
            <a:off x="6217920" y="3547872"/>
            <a:ext cx="7680960" cy="384048"/>
          </a:xfrm>
          <a:prstGeom prst="rect">
            <a:avLst/>
          </a:prstGeom>
          <a:noFill/>
          <a:ln/>
        </p:spPr>
        <p:txBody>
          <a:bodyPr wrap="square" lIns="0" tIns="0" rIns="0" bIns="0" rtlCol="0" anchor="ctr"/>
          <a:lstStyle/>
          <a:p>
            <a:pPr indent="0" marL="0">
              <a:buNone/>
            </a:pPr>
            <a:r>
              <a:rPr lang="en-US" sz="1400" b="1" dirty="0">
                <a:solidFill>
                  <a:srgbClr val="0B0F16"/>
                </a:solidFill>
                <a:latin typeface="Calibri" pitchFamily="34" charset="0"/>
                <a:ea typeface="Calibri" pitchFamily="34" charset="-122"/>
                <a:cs typeface="Calibri" pitchFamily="34" charset="-120"/>
              </a:rPr>
              <a:t>Expose the decision gap and certify on the decision, with guarantees.</a:t>
            </a:r>
            <a:endParaRPr lang="en-US" sz="1400" dirty="0"/>
          </a:p>
        </p:txBody>
      </p:sp>
      <p:sp>
        <p:nvSpPr>
          <p:cNvPr id="25" name="Text 21"/>
          <p:cNvSpPr txBox="1"/>
          <p:nvPr/>
        </p:nvSpPr>
        <p:spPr>
          <a:xfrm>
            <a:off x="6217920" y="3931920"/>
            <a:ext cx="7680960" cy="530352"/>
          </a:xfrm>
          <a:prstGeom prst="rect">
            <a:avLst/>
          </a:prstGeom>
          <a:noFill/>
          <a:ln/>
        </p:spPr>
        <p:txBody>
          <a:bodyPr wrap="square" lIns="0" tIns="0" rIns="0" bIns="0" rtlCol="0" anchor="t"/>
          <a:lstStyle/>
          <a:p>
            <a:pPr indent="0" marL="0">
              <a:buNone/>
            </a:pPr>
            <a:r>
              <a:rPr lang="en-US" sz="1150" dirty="0">
                <a:solidFill>
                  <a:srgbClr val="5D6A80"/>
                </a:solidFill>
                <a:latin typeface="Calibri" pitchFamily="34" charset="0"/>
                <a:ea typeface="Calibri" pitchFamily="34" charset="-122"/>
                <a:cs typeface="Calibri" pitchFamily="34" charset="-120"/>
              </a:rPr>
              <a:t>Fidelity and decision rankings invert; certification is conformal at a declared false alert level, with winner stability and walk forward regret reported so the procedure, not one tool, is what is certified.</a:t>
            </a:r>
            <a:endParaRPr lang="en-US" sz="1150" dirty="0"/>
          </a:p>
        </p:txBody>
      </p:sp>
      <p:sp>
        <p:nvSpPr>
          <p:cNvPr id="26" name="Shape 22"/>
          <p:cNvSpPr/>
          <p:nvPr/>
        </p:nvSpPr>
        <p:spPr>
          <a:xfrm>
            <a:off x="4892040" y="4709160"/>
            <a:ext cx="9189720" cy="1097280"/>
          </a:xfrm>
          <a:prstGeom prst="rect">
            <a:avLst/>
          </a:prstGeom>
          <a:solidFill>
            <a:srgbClr val="F3F5F9"/>
          </a:solidFill>
          <a:ln w="9525">
            <a:solidFill>
              <a:srgbClr val="D9DEE8"/>
            </a:solidFill>
            <a:prstDash val="solid"/>
          </a:ln>
        </p:spPr>
      </p:sp>
      <p:sp>
        <p:nvSpPr>
          <p:cNvPr id="27" name="Shape 23"/>
          <p:cNvSpPr/>
          <p:nvPr/>
        </p:nvSpPr>
        <p:spPr>
          <a:xfrm>
            <a:off x="5120640" y="4892040"/>
            <a:ext cx="310896" cy="310896"/>
          </a:xfrm>
          <a:prstGeom prst="rect">
            <a:avLst/>
          </a:prstGeom>
          <a:solidFill>
            <a:srgbClr val="F6B52A"/>
          </a:solidFill>
          <a:ln w="12700">
            <a:solidFill>
              <a:srgbClr val="F6B52A"/>
            </a:solidFill>
            <a:prstDash val="solid"/>
          </a:ln>
        </p:spPr>
      </p:sp>
      <p:sp>
        <p:nvSpPr>
          <p:cNvPr id="28" name="Text 24"/>
          <p:cNvSpPr txBox="1"/>
          <p:nvPr/>
        </p:nvSpPr>
        <p:spPr>
          <a:xfrm>
            <a:off x="5120640" y="4892040"/>
            <a:ext cx="310896" cy="310896"/>
          </a:xfrm>
          <a:prstGeom prst="rect">
            <a:avLst/>
          </a:prstGeom>
          <a:noFill/>
          <a:ln/>
        </p:spPr>
        <p:txBody>
          <a:bodyPr wrap="square" lIns="0" tIns="0" rIns="0" bIns="0" rtlCol="0" anchor="ctr"/>
          <a:lstStyle/>
          <a:p>
            <a:pPr algn="ctr" indent="0" marL="0">
              <a:buNone/>
            </a:pPr>
            <a:r>
              <a:rPr lang="en-US" sz="1100" b="1" dirty="0">
                <a:solidFill>
                  <a:srgbClr val="0B0F16"/>
                </a:solidFill>
                <a:latin typeface="Courier New" pitchFamily="34" charset="0"/>
                <a:ea typeface="Courier New" pitchFamily="34" charset="-122"/>
                <a:cs typeface="Courier New" pitchFamily="34" charset="-120"/>
              </a:rPr>
              <a:t>D</a:t>
            </a:r>
            <a:endParaRPr lang="en-US" sz="1100" dirty="0"/>
          </a:p>
        </p:txBody>
      </p:sp>
      <p:sp>
        <p:nvSpPr>
          <p:cNvPr id="29" name="Shape 25"/>
          <p:cNvSpPr/>
          <p:nvPr/>
        </p:nvSpPr>
        <p:spPr>
          <a:xfrm>
            <a:off x="5431536" y="4892040"/>
            <a:ext cx="603504" cy="310896"/>
          </a:xfrm>
          <a:prstGeom prst="rect">
            <a:avLst/>
          </a:prstGeom>
          <a:solidFill>
            <a:srgbClr val="0B0F16"/>
          </a:solidFill>
          <a:ln w="12700">
            <a:solidFill>
              <a:srgbClr val="0B0F16"/>
            </a:solidFill>
            <a:prstDash val="solid"/>
          </a:ln>
        </p:spPr>
      </p:sp>
      <p:sp>
        <p:nvSpPr>
          <p:cNvPr id="30" name="Text 26"/>
          <p:cNvSpPr txBox="1"/>
          <p:nvPr/>
        </p:nvSpPr>
        <p:spPr>
          <a:xfrm>
            <a:off x="5431536" y="4892040"/>
            <a:ext cx="603504" cy="310896"/>
          </a:xfrm>
          <a:prstGeom prst="rect">
            <a:avLst/>
          </a:prstGeom>
          <a:noFill/>
          <a:ln/>
        </p:spPr>
        <p:txBody>
          <a:bodyPr wrap="square" lIns="0" tIns="0" rIns="0" bIns="0" rtlCol="0" anchor="ctr"/>
          <a:lstStyle/>
          <a:p>
            <a:pPr algn="ctr" indent="0" marL="0">
              <a:buNone/>
            </a:pPr>
            <a:r>
              <a:rPr lang="en-US" sz="1100" b="1" spc="200" kern="0" dirty="0">
                <a:solidFill>
                  <a:srgbClr val="F6B52A"/>
                </a:solidFill>
                <a:latin typeface="Courier New" pitchFamily="34" charset="0"/>
                <a:ea typeface="Courier New" pitchFamily="34" charset="-122"/>
                <a:cs typeface="Courier New" pitchFamily="34" charset="-120"/>
              </a:rPr>
              <a:t>DAT</a:t>
            </a:r>
            <a:endParaRPr lang="en-US" sz="1100" dirty="0"/>
          </a:p>
        </p:txBody>
      </p:sp>
      <p:sp>
        <p:nvSpPr>
          <p:cNvPr id="31" name="Text 27"/>
          <p:cNvSpPr txBox="1"/>
          <p:nvPr/>
        </p:nvSpPr>
        <p:spPr>
          <a:xfrm>
            <a:off x="6217920" y="4828032"/>
            <a:ext cx="7680960" cy="384048"/>
          </a:xfrm>
          <a:prstGeom prst="rect">
            <a:avLst/>
          </a:prstGeom>
          <a:noFill/>
          <a:ln/>
        </p:spPr>
        <p:txBody>
          <a:bodyPr wrap="square" lIns="0" tIns="0" rIns="0" bIns="0" rtlCol="0" anchor="ctr"/>
          <a:lstStyle/>
          <a:p>
            <a:pPr indent="0" marL="0">
              <a:buNone/>
            </a:pPr>
            <a:r>
              <a:rPr lang="en-US" sz="1400" b="1" dirty="0">
                <a:solidFill>
                  <a:srgbClr val="0B0F16"/>
                </a:solidFill>
                <a:latin typeface="Calibri" pitchFamily="34" charset="0"/>
                <a:ea typeface="Calibri" pitchFamily="34" charset="-122"/>
                <a:cs typeface="Calibri" pitchFamily="34" charset="-120"/>
              </a:rPr>
              <a:t>Bring the regulator's own data, scenarios and agents in.</a:t>
            </a:r>
            <a:endParaRPr lang="en-US" sz="1400" dirty="0"/>
          </a:p>
        </p:txBody>
      </p:sp>
      <p:sp>
        <p:nvSpPr>
          <p:cNvPr id="32" name="Text 28"/>
          <p:cNvSpPr txBox="1"/>
          <p:nvPr/>
        </p:nvSpPr>
        <p:spPr>
          <a:xfrm>
            <a:off x="6217920" y="5212080"/>
            <a:ext cx="7680960" cy="530352"/>
          </a:xfrm>
          <a:prstGeom prst="rect">
            <a:avLst/>
          </a:prstGeom>
          <a:noFill/>
          <a:ln/>
        </p:spPr>
        <p:txBody>
          <a:bodyPr wrap="square" lIns="0" tIns="0" rIns="0" bIns="0" rtlCol="0" anchor="t"/>
          <a:lstStyle/>
          <a:p>
            <a:pPr indent="0" marL="0">
              <a:buNone/>
            </a:pPr>
            <a:r>
              <a:rPr lang="en-US" sz="1150" dirty="0">
                <a:solidFill>
                  <a:srgbClr val="5D6A80"/>
                </a:solidFill>
                <a:latin typeface="Calibri" pitchFamily="34" charset="0"/>
                <a:ea typeface="Calibri" pitchFamily="34" charset="-122"/>
                <a:cs typeface="Calibri" pitchFamily="34" charset="-120"/>
              </a:rPr>
              <a:t>Data through quarantine and connectors calibrates the simulator and drives hybrid markets and backtests; families and agent templates are defined in a bounded declarative language, hashed into the battery at Gate 1.</a:t>
            </a:r>
            <a:endParaRPr lang="en-US" sz="1150" dirty="0"/>
          </a:p>
        </p:txBody>
      </p:sp>
      <p:sp>
        <p:nvSpPr>
          <p:cNvPr id="33" name="Shape 29"/>
          <p:cNvSpPr/>
          <p:nvPr/>
        </p:nvSpPr>
        <p:spPr>
          <a:xfrm>
            <a:off x="4892040" y="5989320"/>
            <a:ext cx="9189720" cy="1097280"/>
          </a:xfrm>
          <a:prstGeom prst="rect">
            <a:avLst/>
          </a:prstGeom>
          <a:solidFill>
            <a:srgbClr val="F3F5F9"/>
          </a:solidFill>
          <a:ln w="9525">
            <a:solidFill>
              <a:srgbClr val="D9DEE8"/>
            </a:solidFill>
            <a:prstDash val="solid"/>
          </a:ln>
        </p:spPr>
      </p:sp>
      <p:sp>
        <p:nvSpPr>
          <p:cNvPr id="34" name="Shape 30"/>
          <p:cNvSpPr/>
          <p:nvPr/>
        </p:nvSpPr>
        <p:spPr>
          <a:xfrm>
            <a:off x="5120640" y="6172200"/>
            <a:ext cx="310896" cy="310896"/>
          </a:xfrm>
          <a:prstGeom prst="rect">
            <a:avLst/>
          </a:prstGeom>
          <a:solidFill>
            <a:srgbClr val="F6B52A"/>
          </a:solidFill>
          <a:ln w="12700">
            <a:solidFill>
              <a:srgbClr val="F6B52A"/>
            </a:solidFill>
            <a:prstDash val="solid"/>
          </a:ln>
        </p:spPr>
      </p:sp>
      <p:sp>
        <p:nvSpPr>
          <p:cNvPr id="35" name="Text 31"/>
          <p:cNvSpPr txBox="1"/>
          <p:nvPr/>
        </p:nvSpPr>
        <p:spPr>
          <a:xfrm>
            <a:off x="5120640" y="6172200"/>
            <a:ext cx="310896" cy="310896"/>
          </a:xfrm>
          <a:prstGeom prst="rect">
            <a:avLst/>
          </a:prstGeom>
          <a:noFill/>
          <a:ln/>
        </p:spPr>
        <p:txBody>
          <a:bodyPr wrap="square" lIns="0" tIns="0" rIns="0" bIns="0" rtlCol="0" anchor="ctr"/>
          <a:lstStyle/>
          <a:p>
            <a:pPr algn="ctr" indent="0" marL="0">
              <a:buNone/>
            </a:pPr>
            <a:r>
              <a:rPr lang="en-US" sz="1100" b="1" dirty="0">
                <a:solidFill>
                  <a:srgbClr val="0B0F16"/>
                </a:solidFill>
                <a:latin typeface="Courier New" pitchFamily="34" charset="0"/>
                <a:ea typeface="Courier New" pitchFamily="34" charset="-122"/>
                <a:cs typeface="Courier New" pitchFamily="34" charset="-120"/>
              </a:rPr>
              <a:t>S</a:t>
            </a:r>
            <a:endParaRPr lang="en-US" sz="1100" dirty="0"/>
          </a:p>
        </p:txBody>
      </p:sp>
      <p:sp>
        <p:nvSpPr>
          <p:cNvPr id="36" name="Shape 32"/>
          <p:cNvSpPr/>
          <p:nvPr/>
        </p:nvSpPr>
        <p:spPr>
          <a:xfrm>
            <a:off x="5431536" y="6172200"/>
            <a:ext cx="603504" cy="310896"/>
          </a:xfrm>
          <a:prstGeom prst="rect">
            <a:avLst/>
          </a:prstGeom>
          <a:solidFill>
            <a:srgbClr val="0B0F16"/>
          </a:solidFill>
          <a:ln w="12700">
            <a:solidFill>
              <a:srgbClr val="0B0F16"/>
            </a:solidFill>
            <a:prstDash val="solid"/>
          </a:ln>
        </p:spPr>
      </p:sp>
      <p:sp>
        <p:nvSpPr>
          <p:cNvPr id="37" name="Text 33"/>
          <p:cNvSpPr txBox="1"/>
          <p:nvPr/>
        </p:nvSpPr>
        <p:spPr>
          <a:xfrm>
            <a:off x="5431536" y="6172200"/>
            <a:ext cx="603504" cy="310896"/>
          </a:xfrm>
          <a:prstGeom prst="rect">
            <a:avLst/>
          </a:prstGeom>
          <a:noFill/>
          <a:ln/>
        </p:spPr>
        <p:txBody>
          <a:bodyPr wrap="square" lIns="0" tIns="0" rIns="0" bIns="0" rtlCol="0" anchor="ctr"/>
          <a:lstStyle/>
          <a:p>
            <a:pPr algn="ctr" indent="0" marL="0">
              <a:buNone/>
            </a:pPr>
            <a:r>
              <a:rPr lang="en-US" sz="1100" b="1" spc="200" kern="0" dirty="0">
                <a:solidFill>
                  <a:srgbClr val="F6B52A"/>
                </a:solidFill>
                <a:latin typeface="Courier New" pitchFamily="34" charset="0"/>
                <a:ea typeface="Courier New" pitchFamily="34" charset="-122"/>
                <a:cs typeface="Courier New" pitchFamily="34" charset="-120"/>
              </a:rPr>
              <a:t>SEC</a:t>
            </a:r>
            <a:endParaRPr lang="en-US" sz="1100" dirty="0"/>
          </a:p>
        </p:txBody>
      </p:sp>
      <p:sp>
        <p:nvSpPr>
          <p:cNvPr id="38" name="Text 34"/>
          <p:cNvSpPr txBox="1"/>
          <p:nvPr/>
        </p:nvSpPr>
        <p:spPr>
          <a:xfrm>
            <a:off x="6217920" y="6108192"/>
            <a:ext cx="7680960" cy="384048"/>
          </a:xfrm>
          <a:prstGeom prst="rect">
            <a:avLst/>
          </a:prstGeom>
          <a:noFill/>
          <a:ln/>
        </p:spPr>
        <p:txBody>
          <a:bodyPr wrap="square" lIns="0" tIns="0" rIns="0" bIns="0" rtlCol="0" anchor="ctr"/>
          <a:lstStyle/>
          <a:p>
            <a:pPr indent="0" marL="0">
              <a:buNone/>
            </a:pPr>
            <a:r>
              <a:rPr lang="en-US" sz="1400" b="1" dirty="0">
                <a:solidFill>
                  <a:srgbClr val="0B0F16"/>
                </a:solidFill>
                <a:latin typeface="Calibri" pitchFamily="34" charset="0"/>
                <a:ea typeface="Calibri" pitchFamily="34" charset="-122"/>
                <a:cs typeface="Calibri" pitchFamily="34" charset="-120"/>
              </a:rPr>
              <a:t>Govern it like a supervisory system.</a:t>
            </a:r>
            <a:endParaRPr lang="en-US" sz="1400" dirty="0"/>
          </a:p>
        </p:txBody>
      </p:sp>
      <p:sp>
        <p:nvSpPr>
          <p:cNvPr id="39" name="Text 35"/>
          <p:cNvSpPr txBox="1"/>
          <p:nvPr/>
        </p:nvSpPr>
        <p:spPr>
          <a:xfrm>
            <a:off x="6217920" y="6492240"/>
            <a:ext cx="7680960" cy="530352"/>
          </a:xfrm>
          <a:prstGeom prst="rect">
            <a:avLst/>
          </a:prstGeom>
          <a:noFill/>
          <a:ln/>
        </p:spPr>
        <p:txBody>
          <a:bodyPr wrap="square" lIns="0" tIns="0" rIns="0" bIns="0" rtlCol="0" anchor="t"/>
          <a:lstStyle/>
          <a:p>
            <a:pPr indent="0" marL="0">
              <a:buNone/>
            </a:pPr>
            <a:r>
              <a:rPr lang="en-US" sz="1150" dirty="0">
                <a:solidFill>
                  <a:srgbClr val="5D6A80"/>
                </a:solidFill>
                <a:latin typeface="Calibri" pitchFamily="34" charset="0"/>
                <a:ea typeface="Calibri" pitchFamily="34" charset="-122"/>
                <a:cs typeface="Calibri" pitchFamily="34" charset="-120"/>
              </a:rPr>
              <a:t>Two human gates whose approver must be on the authority's register of regulated persons (an active SMF or certified function, matched by reference number and written into the ledger), a signed replayable ledger, a transparency record in the UK ATRS structure, seventeen security controls, and a red team that shows even the certified tool can be gamed.</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cdir.png">    </p:cNvPr>
          <p:cNvPicPr>
            <a:picLocks noChangeAspect="1"/>
          </p:cNvPicPr>
          <p:nvPr/>
        </p:nvPicPr>
        <p:blipFill>
          <a:blip r:embed="rId1"/>
          <a:stretch>
            <a:fillRect/>
          </a:stretch>
        </p:blipFill>
        <p:spPr>
          <a:xfrm>
            <a:off x="548640" y="384048"/>
            <a:ext cx="1737360" cy="434340"/>
          </a:xfrm>
          <a:prstGeom prst="rect">
            <a:avLst/>
          </a:prstGeom>
        </p:spPr>
      </p:pic>
      <p:pic>
        <p:nvPicPr>
          <p:cNvPr id="3" name="Image 1" descr="fii.png">    </p:cNvPr>
          <p:cNvPicPr>
            <a:picLocks noChangeAspect="1"/>
          </p:cNvPicPr>
          <p:nvPr/>
        </p:nvPicPr>
        <p:blipFill>
          <a:blip r:embed="rId2"/>
          <a:stretch>
            <a:fillRect/>
          </a:stretch>
        </p:blipFill>
        <p:spPr>
          <a:xfrm>
            <a:off x="11658600" y="347472"/>
            <a:ext cx="2423160" cy="822960"/>
          </a:xfrm>
          <a:prstGeom prst="rect">
            <a:avLst/>
          </a:prstGeom>
        </p:spPr>
      </p:pic>
      <p:sp>
        <p:nvSpPr>
          <p:cNvPr id="4" name="Text 0"/>
          <p:cNvSpPr txBox="1"/>
          <p:nvPr/>
        </p:nvSpPr>
        <p:spPr>
          <a:xfrm>
            <a:off x="548640" y="1234440"/>
            <a:ext cx="10058400" cy="640080"/>
          </a:xfrm>
          <a:prstGeom prst="rect">
            <a:avLst/>
          </a:prstGeom>
          <a:noFill/>
          <a:ln/>
        </p:spPr>
        <p:txBody>
          <a:bodyPr wrap="square" lIns="0" tIns="0" rIns="0" bIns="0" rtlCol="0" anchor="ctr"/>
          <a:lstStyle/>
          <a:p>
            <a:pPr indent="0" marL="0">
              <a:buNone/>
            </a:pPr>
            <a:r>
              <a:rPr lang="en-US" sz="3000" b="1" dirty="0">
                <a:solidFill>
                  <a:srgbClr val="0B0F16"/>
                </a:solidFill>
                <a:latin typeface="Calibri" pitchFamily="34" charset="0"/>
                <a:ea typeface="Calibri" pitchFamily="34" charset="-122"/>
                <a:cs typeface="Calibri" pitchFamily="34" charset="-120"/>
              </a:rPr>
              <a:t>Overview</a:t>
            </a:r>
            <a:endParaRPr lang="en-US" sz="3000" dirty="0"/>
          </a:p>
        </p:txBody>
      </p:sp>
      <p:sp>
        <p:nvSpPr>
          <p:cNvPr id="5" name="Text 1"/>
          <p:cNvSpPr txBox="1"/>
          <p:nvPr/>
        </p:nvSpPr>
        <p:spPr>
          <a:xfrm>
            <a:off x="548640" y="7635240"/>
            <a:ext cx="4572000" cy="320040"/>
          </a:xfrm>
          <a:prstGeom prst="rect">
            <a:avLst/>
          </a:prstGeom>
          <a:noFill/>
          <a:ln/>
        </p:spPr>
        <p:txBody>
          <a:bodyPr wrap="square" lIns="0" tIns="0" rIns="0" bIns="0" rtlCol="0" anchor="ctr"/>
          <a:lstStyle/>
          <a:p>
            <a:pPr indent="0" marL="0">
              <a:buNone/>
            </a:pPr>
            <a:r>
              <a:rPr lang="en-US" sz="1000" dirty="0">
                <a:solidFill>
                  <a:srgbClr val="5D6A80"/>
                </a:solidFill>
                <a:latin typeface="Calibri" pitchFamily="34" charset="0"/>
                <a:ea typeface="Calibri" pitchFamily="34" charset="-122"/>
                <a:cs typeface="Calibri" pitchFamily="34" charset="-120"/>
              </a:rPr>
              <a:t>No Human Intelligence</a:t>
            </a:r>
            <a:endParaRPr lang="en-US" sz="1000" dirty="0"/>
          </a:p>
        </p:txBody>
      </p:sp>
      <p:sp>
        <p:nvSpPr>
          <p:cNvPr id="6" name="Text 2"/>
          <p:cNvSpPr txBox="1"/>
          <p:nvPr/>
        </p:nvSpPr>
        <p:spPr>
          <a:xfrm>
            <a:off x="13167360" y="7635240"/>
            <a:ext cx="914400" cy="320040"/>
          </a:xfrm>
          <a:prstGeom prst="rect">
            <a:avLst/>
          </a:prstGeom>
          <a:noFill/>
          <a:ln/>
        </p:spPr>
        <p:txBody>
          <a:bodyPr wrap="square" lIns="0" tIns="0" rIns="0" bIns="0" rtlCol="0" anchor="ctr"/>
          <a:lstStyle/>
          <a:p>
            <a:pPr algn="r" indent="0" marL="0">
              <a:buNone/>
            </a:pPr>
            <a:r>
              <a:rPr lang="en-US" sz="1000" dirty="0">
                <a:solidFill>
                  <a:srgbClr val="5D6A80"/>
                </a:solidFill>
                <a:latin typeface="Courier New" pitchFamily="34" charset="0"/>
                <a:ea typeface="Courier New" pitchFamily="34" charset="-122"/>
                <a:cs typeface="Courier New" pitchFamily="34" charset="-120"/>
              </a:rPr>
              <a:t>3</a:t>
            </a:r>
            <a:endParaRPr lang="en-US" sz="1000" dirty="0"/>
          </a:p>
        </p:txBody>
      </p:sp>
      <p:sp>
        <p:nvSpPr>
          <p:cNvPr id="7" name="Shape 3"/>
          <p:cNvSpPr/>
          <p:nvPr/>
        </p:nvSpPr>
        <p:spPr>
          <a:xfrm>
            <a:off x="548640" y="2103120"/>
            <a:ext cx="6583680" cy="2514600"/>
          </a:xfrm>
          <a:prstGeom prst="rect">
            <a:avLst/>
          </a:prstGeom>
          <a:solidFill>
            <a:srgbClr val="F3F5F9"/>
          </a:solidFill>
          <a:ln w="9525">
            <a:solidFill>
              <a:srgbClr val="D9DEE8"/>
            </a:solidFill>
            <a:prstDash val="solid"/>
          </a:ln>
        </p:spPr>
      </p:sp>
      <p:sp>
        <p:nvSpPr>
          <p:cNvPr id="8" name="Shape 4"/>
          <p:cNvSpPr/>
          <p:nvPr/>
        </p:nvSpPr>
        <p:spPr>
          <a:xfrm>
            <a:off x="777240" y="2286000"/>
            <a:ext cx="310896" cy="310896"/>
          </a:xfrm>
          <a:prstGeom prst="rect">
            <a:avLst/>
          </a:prstGeom>
          <a:solidFill>
            <a:srgbClr val="F6B52A"/>
          </a:solidFill>
          <a:ln w="12700">
            <a:solidFill>
              <a:srgbClr val="F6B52A"/>
            </a:solidFill>
            <a:prstDash val="solid"/>
          </a:ln>
        </p:spPr>
      </p:sp>
      <p:sp>
        <p:nvSpPr>
          <p:cNvPr id="9" name="Text 5"/>
          <p:cNvSpPr txBox="1"/>
          <p:nvPr/>
        </p:nvSpPr>
        <p:spPr>
          <a:xfrm>
            <a:off x="777240" y="2286000"/>
            <a:ext cx="310896" cy="310896"/>
          </a:xfrm>
          <a:prstGeom prst="rect">
            <a:avLst/>
          </a:prstGeom>
          <a:noFill/>
          <a:ln/>
        </p:spPr>
        <p:txBody>
          <a:bodyPr wrap="square" lIns="0" tIns="0" rIns="0" bIns="0" rtlCol="0" anchor="ctr"/>
          <a:lstStyle/>
          <a:p>
            <a:pPr algn="ctr" indent="0" marL="0">
              <a:buNone/>
            </a:pPr>
            <a:r>
              <a:rPr lang="en-US" sz="1100" b="1" dirty="0">
                <a:solidFill>
                  <a:srgbClr val="0B0F16"/>
                </a:solidFill>
                <a:latin typeface="Courier New" pitchFamily="34" charset="0"/>
                <a:ea typeface="Courier New" pitchFamily="34" charset="-122"/>
                <a:cs typeface="Courier New" pitchFamily="34" charset="-120"/>
              </a:rPr>
              <a:t>P</a:t>
            </a:r>
            <a:endParaRPr lang="en-US" sz="1100" dirty="0"/>
          </a:p>
        </p:txBody>
      </p:sp>
      <p:sp>
        <p:nvSpPr>
          <p:cNvPr id="10" name="Shape 6"/>
          <p:cNvSpPr/>
          <p:nvPr/>
        </p:nvSpPr>
        <p:spPr>
          <a:xfrm>
            <a:off x="1088136" y="2286000"/>
            <a:ext cx="1051560" cy="310896"/>
          </a:xfrm>
          <a:prstGeom prst="rect">
            <a:avLst/>
          </a:prstGeom>
          <a:solidFill>
            <a:srgbClr val="0B0F16"/>
          </a:solidFill>
          <a:ln w="12700">
            <a:solidFill>
              <a:srgbClr val="0B0F16"/>
            </a:solidFill>
            <a:prstDash val="solid"/>
          </a:ln>
        </p:spPr>
      </p:sp>
      <p:sp>
        <p:nvSpPr>
          <p:cNvPr id="11" name="Text 7"/>
          <p:cNvSpPr txBox="1"/>
          <p:nvPr/>
        </p:nvSpPr>
        <p:spPr>
          <a:xfrm>
            <a:off x="1088136" y="2286000"/>
            <a:ext cx="1051560" cy="310896"/>
          </a:xfrm>
          <a:prstGeom prst="rect">
            <a:avLst/>
          </a:prstGeom>
          <a:noFill/>
          <a:ln/>
        </p:spPr>
        <p:txBody>
          <a:bodyPr wrap="square" lIns="0" tIns="0" rIns="0" bIns="0" rtlCol="0" anchor="ctr"/>
          <a:lstStyle/>
          <a:p>
            <a:pPr algn="ctr" indent="0" marL="0">
              <a:buNone/>
            </a:pPr>
            <a:r>
              <a:rPr lang="en-US" sz="1100" b="1" spc="200" kern="0" dirty="0">
                <a:solidFill>
                  <a:srgbClr val="F6B52A"/>
                </a:solidFill>
                <a:latin typeface="Courier New" pitchFamily="34" charset="0"/>
                <a:ea typeface="Courier New" pitchFamily="34" charset="-122"/>
                <a:cs typeface="Courier New" pitchFamily="34" charset="-120"/>
              </a:rPr>
              <a:t>PROBLEM</a:t>
            </a:r>
            <a:endParaRPr lang="en-US" sz="1100" dirty="0"/>
          </a:p>
        </p:txBody>
      </p:sp>
      <p:sp>
        <p:nvSpPr>
          <p:cNvPr id="12" name="Text 8"/>
          <p:cNvSpPr txBox="1"/>
          <p:nvPr/>
        </p:nvSpPr>
        <p:spPr>
          <a:xfrm>
            <a:off x="777240" y="2743200"/>
            <a:ext cx="6126480" cy="178308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250" dirty="0">
                <a:solidFill>
                  <a:srgbClr val="0B0F16"/>
                </a:solidFill>
                <a:latin typeface="Calibri" pitchFamily="34" charset="0"/>
                <a:ea typeface="Calibri" pitchFamily="34" charset="-122"/>
                <a:cs typeface="Calibri" pitchFamily="34" charset="-120"/>
              </a:rPr>
              <a:t>AI trading agents on shared foundation models can herd, turning a routine shock into a dislocation. The FSB, IOSCO, the Bank of England and the IMF all flag it.</a:t>
            </a:r>
            <a:endParaRPr lang="en-US" sz="1250" dirty="0"/>
          </a:p>
          <a:p>
            <a:pPr marL="342900" indent="-342900">
              <a:lnSpc>
                <a:spcPct val="105000"/>
              </a:lnSpc>
              <a:spcAft>
                <a:spcPts val="500"/>
              </a:spcAft>
              <a:buSzPct val="100000"/>
              <a:buChar char="•"/>
            </a:pPr>
            <a:r>
              <a:rPr lang="en-US" sz="1250" dirty="0">
                <a:solidFill>
                  <a:srgbClr val="0B0F16"/>
                </a:solidFill>
                <a:latin typeface="Calibri" pitchFamily="34" charset="0"/>
                <a:ea typeface="Calibri" pitchFamily="34" charset="-122"/>
                <a:cs typeface="Calibri" pitchFamily="34" charset="-120"/>
              </a:rPr>
              <a:t>Regulators are building surveillance and circuit breakers for this but validate them on aggregate fidelity: how well a synthetic market reproduces volatility, spreads and correlation.</a:t>
            </a:r>
            <a:endParaRPr lang="en-US" sz="1250" dirty="0"/>
          </a:p>
          <a:p>
            <a:pPr marL="342900" indent="-342900">
              <a:lnSpc>
                <a:spcPct val="105000"/>
              </a:lnSpc>
              <a:spcAft>
                <a:spcPts val="500"/>
              </a:spcAft>
              <a:buSzPct val="100000"/>
              <a:buChar char="•"/>
            </a:pPr>
            <a:r>
              <a:rPr lang="en-US" sz="1250" dirty="0">
                <a:solidFill>
                  <a:srgbClr val="0B0F16"/>
                </a:solidFill>
                <a:latin typeface="Calibri" pitchFamily="34" charset="0"/>
                <a:ea typeface="Calibri" pitchFamily="34" charset="-122"/>
                <a:cs typeface="Calibri" pitchFamily="34" charset="-120"/>
              </a:rPr>
              <a:t>That yardstick can certify the tool that fails at the decision it exists to make.</a:t>
            </a:r>
            <a:endParaRPr lang="en-US" sz="1250" dirty="0"/>
          </a:p>
        </p:txBody>
      </p:sp>
      <p:sp>
        <p:nvSpPr>
          <p:cNvPr id="13" name="Shape 9"/>
          <p:cNvSpPr/>
          <p:nvPr/>
        </p:nvSpPr>
        <p:spPr>
          <a:xfrm>
            <a:off x="7498080" y="2103120"/>
            <a:ext cx="6583680" cy="2514600"/>
          </a:xfrm>
          <a:prstGeom prst="rect">
            <a:avLst/>
          </a:prstGeom>
          <a:solidFill>
            <a:srgbClr val="F3F5F9"/>
          </a:solidFill>
          <a:ln w="9525">
            <a:solidFill>
              <a:srgbClr val="D9DEE8"/>
            </a:solidFill>
            <a:prstDash val="solid"/>
          </a:ln>
        </p:spPr>
      </p:sp>
      <p:sp>
        <p:nvSpPr>
          <p:cNvPr id="14" name="Shape 10"/>
          <p:cNvSpPr/>
          <p:nvPr/>
        </p:nvSpPr>
        <p:spPr>
          <a:xfrm>
            <a:off x="7726680" y="2286000"/>
            <a:ext cx="310896" cy="310896"/>
          </a:xfrm>
          <a:prstGeom prst="rect">
            <a:avLst/>
          </a:prstGeom>
          <a:solidFill>
            <a:srgbClr val="F6B52A"/>
          </a:solidFill>
          <a:ln w="12700">
            <a:solidFill>
              <a:srgbClr val="F6B52A"/>
            </a:solidFill>
            <a:prstDash val="solid"/>
          </a:ln>
        </p:spPr>
      </p:sp>
      <p:sp>
        <p:nvSpPr>
          <p:cNvPr id="15" name="Text 11"/>
          <p:cNvSpPr txBox="1"/>
          <p:nvPr/>
        </p:nvSpPr>
        <p:spPr>
          <a:xfrm>
            <a:off x="7726680" y="2286000"/>
            <a:ext cx="310896" cy="310896"/>
          </a:xfrm>
          <a:prstGeom prst="rect">
            <a:avLst/>
          </a:prstGeom>
          <a:noFill/>
          <a:ln/>
        </p:spPr>
        <p:txBody>
          <a:bodyPr wrap="square" lIns="0" tIns="0" rIns="0" bIns="0" rtlCol="0" anchor="ctr"/>
          <a:lstStyle/>
          <a:p>
            <a:pPr algn="ctr" indent="0" marL="0">
              <a:buNone/>
            </a:pPr>
            <a:r>
              <a:rPr lang="en-US" sz="1100" b="1" dirty="0">
                <a:solidFill>
                  <a:srgbClr val="0B0F16"/>
                </a:solidFill>
                <a:latin typeface="Courier New" pitchFamily="34" charset="0"/>
                <a:ea typeface="Courier New" pitchFamily="34" charset="-122"/>
                <a:cs typeface="Courier New" pitchFamily="34" charset="-120"/>
              </a:rPr>
              <a:t>S</a:t>
            </a:r>
            <a:endParaRPr lang="en-US" sz="1100" dirty="0"/>
          </a:p>
        </p:txBody>
      </p:sp>
      <p:sp>
        <p:nvSpPr>
          <p:cNvPr id="16" name="Shape 12"/>
          <p:cNvSpPr/>
          <p:nvPr/>
        </p:nvSpPr>
        <p:spPr>
          <a:xfrm>
            <a:off x="8037576" y="2286000"/>
            <a:ext cx="1143000" cy="310896"/>
          </a:xfrm>
          <a:prstGeom prst="rect">
            <a:avLst/>
          </a:prstGeom>
          <a:solidFill>
            <a:srgbClr val="0B0F16"/>
          </a:solidFill>
          <a:ln w="12700">
            <a:solidFill>
              <a:srgbClr val="0B0F16"/>
            </a:solidFill>
            <a:prstDash val="solid"/>
          </a:ln>
        </p:spPr>
      </p:sp>
      <p:sp>
        <p:nvSpPr>
          <p:cNvPr id="17" name="Text 13"/>
          <p:cNvSpPr txBox="1"/>
          <p:nvPr/>
        </p:nvSpPr>
        <p:spPr>
          <a:xfrm>
            <a:off x="8037576" y="2286000"/>
            <a:ext cx="1143000" cy="310896"/>
          </a:xfrm>
          <a:prstGeom prst="rect">
            <a:avLst/>
          </a:prstGeom>
          <a:noFill/>
          <a:ln/>
        </p:spPr>
        <p:txBody>
          <a:bodyPr wrap="square" lIns="0" tIns="0" rIns="0" bIns="0" rtlCol="0" anchor="ctr"/>
          <a:lstStyle/>
          <a:p>
            <a:pPr algn="ctr" indent="0" marL="0">
              <a:buNone/>
            </a:pPr>
            <a:r>
              <a:rPr lang="en-US" sz="1100" b="1" spc="200" kern="0" dirty="0">
                <a:solidFill>
                  <a:srgbClr val="F6B52A"/>
                </a:solidFill>
                <a:latin typeface="Courier New" pitchFamily="34" charset="0"/>
                <a:ea typeface="Courier New" pitchFamily="34" charset="-122"/>
                <a:cs typeface="Courier New" pitchFamily="34" charset="-120"/>
              </a:rPr>
              <a:t>SOLUTION</a:t>
            </a:r>
            <a:endParaRPr lang="en-US" sz="1100" dirty="0"/>
          </a:p>
        </p:txBody>
      </p:sp>
      <p:sp>
        <p:nvSpPr>
          <p:cNvPr id="18" name="Text 14"/>
          <p:cNvSpPr txBox="1"/>
          <p:nvPr/>
        </p:nvSpPr>
        <p:spPr>
          <a:xfrm>
            <a:off x="7726680" y="2743200"/>
            <a:ext cx="6126480" cy="178308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250" dirty="0">
                <a:solidFill>
                  <a:srgbClr val="0B0F16"/>
                </a:solidFill>
                <a:latin typeface="Calibri" pitchFamily="34" charset="0"/>
                <a:ea typeface="Calibri" pitchFamily="34" charset="-122"/>
                <a:cs typeface="Calibri" pitchFamily="34" charset="-120"/>
              </a:rPr>
              <a:t>HSL: an agentic sandbox that stress tests candidate tools and rules against synthetic AI agent markets, calibrated from the authority's own data.</a:t>
            </a:r>
            <a:endParaRPr lang="en-US" sz="1250" dirty="0"/>
          </a:p>
          <a:p>
            <a:pPr marL="342900" indent="-342900">
              <a:lnSpc>
                <a:spcPct val="105000"/>
              </a:lnSpc>
              <a:spcAft>
                <a:spcPts val="500"/>
              </a:spcAft>
              <a:buSzPct val="100000"/>
              <a:buChar char="•"/>
            </a:pPr>
            <a:r>
              <a:rPr lang="en-US" sz="1250" dirty="0">
                <a:solidFill>
                  <a:srgbClr val="0B0F16"/>
                </a:solidFill>
                <a:latin typeface="Calibri" pitchFamily="34" charset="0"/>
                <a:ea typeface="Calibri" pitchFamily="34" charset="-122"/>
                <a:cs typeface="Calibri" pitchFamily="34" charset="-120"/>
              </a:rPr>
              <a:t>Scores every tool on the supervisory decision (which agents are destabilising, when to act) and every rule on containment, false halts, tail risk, time to dislocation and proportionality across EU, UK and US style instruments.</a:t>
            </a:r>
            <a:endParaRPr lang="en-US" sz="1250" dirty="0"/>
          </a:p>
          <a:p>
            <a:pPr marL="342900" indent="-342900">
              <a:lnSpc>
                <a:spcPct val="105000"/>
              </a:lnSpc>
              <a:spcAft>
                <a:spcPts val="500"/>
              </a:spcAft>
              <a:buSzPct val="100000"/>
              <a:buChar char="•"/>
            </a:pPr>
            <a:r>
              <a:rPr lang="en-US" sz="1250" dirty="0">
                <a:solidFill>
                  <a:srgbClr val="0B0F16"/>
                </a:solidFill>
                <a:latin typeface="Calibri" pitchFamily="34" charset="0"/>
                <a:ea typeface="Calibri" pitchFamily="34" charset="-122"/>
                <a:cs typeface="Calibri" pitchFamily="34" charset="-120"/>
              </a:rPr>
              <a:t>Two named human gates, a signed replayable ledger, an evidence graded briefing and a transparency record.</a:t>
            </a:r>
            <a:endParaRPr lang="en-US" sz="1250" dirty="0"/>
          </a:p>
        </p:txBody>
      </p:sp>
      <p:sp>
        <p:nvSpPr>
          <p:cNvPr id="19" name="Shape 15"/>
          <p:cNvSpPr/>
          <p:nvPr/>
        </p:nvSpPr>
        <p:spPr>
          <a:xfrm>
            <a:off x="548640" y="4937760"/>
            <a:ext cx="1807899" cy="1965960"/>
          </a:xfrm>
          <a:prstGeom prst="rect">
            <a:avLst/>
          </a:prstGeom>
          <a:solidFill>
            <a:srgbClr val="F3F5F9"/>
          </a:solidFill>
          <a:ln w="9525">
            <a:solidFill>
              <a:srgbClr val="D9DEE8"/>
            </a:solidFill>
            <a:prstDash val="solid"/>
          </a:ln>
        </p:spPr>
      </p:sp>
      <p:sp>
        <p:nvSpPr>
          <p:cNvPr id="20" name="Shape 16"/>
          <p:cNvSpPr/>
          <p:nvPr/>
        </p:nvSpPr>
        <p:spPr>
          <a:xfrm>
            <a:off x="713232" y="5244084"/>
            <a:ext cx="109728" cy="109728"/>
          </a:xfrm>
          <a:prstGeom prst="rect">
            <a:avLst/>
          </a:prstGeom>
          <a:solidFill>
            <a:srgbClr val="F6B52A"/>
          </a:solidFill>
          <a:ln w="12700">
            <a:solidFill>
              <a:srgbClr val="F6B52A"/>
            </a:solidFill>
            <a:prstDash val="solid"/>
          </a:ln>
        </p:spPr>
      </p:sp>
      <p:sp>
        <p:nvSpPr>
          <p:cNvPr id="21" name="Text 17"/>
          <p:cNvSpPr txBox="1"/>
          <p:nvPr/>
        </p:nvSpPr>
        <p:spPr>
          <a:xfrm>
            <a:off x="896112" y="5047488"/>
            <a:ext cx="1350699" cy="502920"/>
          </a:xfrm>
          <a:prstGeom prst="rect">
            <a:avLst/>
          </a:prstGeom>
          <a:noFill/>
          <a:ln/>
        </p:spPr>
        <p:txBody>
          <a:bodyPr wrap="square" lIns="0" tIns="0" rIns="0" bIns="0" rtlCol="0" anchor="ctr"/>
          <a:lstStyle/>
          <a:p>
            <a:pPr indent="0" marL="0">
              <a:buNone/>
            </a:pPr>
            <a:r>
              <a:rPr lang="en-US" sz="1250" b="1" dirty="0">
                <a:solidFill>
                  <a:srgbClr val="0B0F16"/>
                </a:solidFill>
                <a:latin typeface="Calibri" pitchFamily="34" charset="0"/>
                <a:ea typeface="Calibri" pitchFamily="34" charset="-122"/>
                <a:cs typeface="Calibri" pitchFamily="34" charset="-120"/>
              </a:rPr>
              <a:t>Policy question</a:t>
            </a:r>
            <a:endParaRPr lang="en-US" sz="1250" dirty="0"/>
          </a:p>
        </p:txBody>
      </p:sp>
      <p:sp>
        <p:nvSpPr>
          <p:cNvPr id="22" name="Text 18"/>
          <p:cNvSpPr txBox="1"/>
          <p:nvPr/>
        </p:nvSpPr>
        <p:spPr>
          <a:xfrm>
            <a:off x="713232" y="5669280"/>
            <a:ext cx="1497003" cy="1097280"/>
          </a:xfrm>
          <a:prstGeom prst="rect">
            <a:avLst/>
          </a:prstGeom>
          <a:noFill/>
          <a:ln/>
        </p:spPr>
        <p:txBody>
          <a:bodyPr wrap="square" lIns="0" tIns="0" rIns="0" bIns="0" rtlCol="0" anchor="t"/>
          <a:lstStyle/>
          <a:p>
            <a:pPr indent="0" marL="0">
              <a:buNone/>
            </a:pPr>
            <a:r>
              <a:rPr lang="en-US" sz="1200" dirty="0">
                <a:solidFill>
                  <a:srgbClr val="5D6A80"/>
                </a:solidFill>
                <a:latin typeface="Calibri" pitchFamily="34" charset="0"/>
                <a:ea typeface="Calibri" pitchFamily="34" charset="-122"/>
                <a:cs typeface="Calibri" pitchFamily="34" charset="-120"/>
              </a:rPr>
              <a:t>Read deterministically, or planned by a model within hard bounds.</a:t>
            </a:r>
            <a:endParaRPr lang="en-US" sz="1200" dirty="0"/>
          </a:p>
        </p:txBody>
      </p:sp>
      <p:sp>
        <p:nvSpPr>
          <p:cNvPr id="23" name="Shape 19"/>
          <p:cNvSpPr/>
          <p:nvPr/>
        </p:nvSpPr>
        <p:spPr>
          <a:xfrm rot="5400000">
            <a:off x="2374827" y="5856732"/>
            <a:ext cx="109728" cy="128016"/>
          </a:xfrm>
          <a:prstGeom prst="triangle">
            <a:avLst/>
          </a:prstGeom>
          <a:solidFill>
            <a:srgbClr val="F6B52A"/>
          </a:solidFill>
          <a:ln w="12700">
            <a:solidFill>
              <a:srgbClr val="F6B52A"/>
            </a:solidFill>
            <a:prstDash val="solid"/>
          </a:ln>
        </p:spPr>
      </p:sp>
      <p:sp>
        <p:nvSpPr>
          <p:cNvPr id="24" name="Shape 20"/>
          <p:cNvSpPr/>
          <p:nvPr/>
        </p:nvSpPr>
        <p:spPr>
          <a:xfrm>
            <a:off x="2502843" y="4937760"/>
            <a:ext cx="1807899" cy="1965960"/>
          </a:xfrm>
          <a:prstGeom prst="rect">
            <a:avLst/>
          </a:prstGeom>
          <a:solidFill>
            <a:srgbClr val="F3F5F9"/>
          </a:solidFill>
          <a:ln w="9525">
            <a:solidFill>
              <a:srgbClr val="D9DEE8"/>
            </a:solidFill>
            <a:prstDash val="solid"/>
          </a:ln>
        </p:spPr>
      </p:sp>
      <p:sp>
        <p:nvSpPr>
          <p:cNvPr id="25" name="Shape 21"/>
          <p:cNvSpPr/>
          <p:nvPr/>
        </p:nvSpPr>
        <p:spPr>
          <a:xfrm>
            <a:off x="2667435" y="5244084"/>
            <a:ext cx="109728" cy="109728"/>
          </a:xfrm>
          <a:prstGeom prst="rect">
            <a:avLst/>
          </a:prstGeom>
          <a:solidFill>
            <a:srgbClr val="F6B52A"/>
          </a:solidFill>
          <a:ln w="12700">
            <a:solidFill>
              <a:srgbClr val="F6B52A"/>
            </a:solidFill>
            <a:prstDash val="solid"/>
          </a:ln>
        </p:spPr>
      </p:sp>
      <p:sp>
        <p:nvSpPr>
          <p:cNvPr id="26" name="Text 22"/>
          <p:cNvSpPr txBox="1"/>
          <p:nvPr/>
        </p:nvSpPr>
        <p:spPr>
          <a:xfrm>
            <a:off x="2850315" y="5047488"/>
            <a:ext cx="1350699" cy="502920"/>
          </a:xfrm>
          <a:prstGeom prst="rect">
            <a:avLst/>
          </a:prstGeom>
          <a:noFill/>
          <a:ln/>
        </p:spPr>
        <p:txBody>
          <a:bodyPr wrap="square" lIns="0" tIns="0" rIns="0" bIns="0" rtlCol="0" anchor="ctr"/>
          <a:lstStyle/>
          <a:p>
            <a:pPr indent="0" marL="0">
              <a:buNone/>
            </a:pPr>
            <a:r>
              <a:rPr lang="en-US" sz="1250" b="1" dirty="0">
                <a:solidFill>
                  <a:srgbClr val="0B0F16"/>
                </a:solidFill>
                <a:latin typeface="Calibri" pitchFamily="34" charset="0"/>
                <a:ea typeface="Calibri" pitchFamily="34" charset="-122"/>
                <a:cs typeface="Calibri" pitchFamily="34" charset="-120"/>
              </a:rPr>
              <a:t>Plan</a:t>
            </a:r>
            <a:endParaRPr lang="en-US" sz="1250" dirty="0"/>
          </a:p>
        </p:txBody>
      </p:sp>
      <p:sp>
        <p:nvSpPr>
          <p:cNvPr id="27" name="Text 23"/>
          <p:cNvSpPr txBox="1"/>
          <p:nvPr/>
        </p:nvSpPr>
        <p:spPr>
          <a:xfrm>
            <a:off x="2667435" y="5669280"/>
            <a:ext cx="1497003" cy="1097280"/>
          </a:xfrm>
          <a:prstGeom prst="rect">
            <a:avLst/>
          </a:prstGeom>
          <a:noFill/>
          <a:ln/>
        </p:spPr>
        <p:txBody>
          <a:bodyPr wrap="square" lIns="0" tIns="0" rIns="0" bIns="0" rtlCol="0" anchor="t"/>
          <a:lstStyle/>
          <a:p>
            <a:pPr indent="0" marL="0">
              <a:buNone/>
            </a:pPr>
            <a:r>
              <a:rPr lang="en-US" sz="1200" dirty="0">
                <a:solidFill>
                  <a:srgbClr val="5D6A80"/>
                </a:solidFill>
                <a:latin typeface="Calibri" pitchFamily="34" charset="0"/>
                <a:ea typeface="Calibri" pitchFamily="34" charset="-122"/>
                <a:cs typeface="Calibri" pitchFamily="34" charset="-120"/>
              </a:rPr>
              <a:t>Battery hashed: demonstration, question, own and calibrated families.</a:t>
            </a:r>
            <a:endParaRPr lang="en-US" sz="1200" dirty="0"/>
          </a:p>
        </p:txBody>
      </p:sp>
      <p:sp>
        <p:nvSpPr>
          <p:cNvPr id="28" name="Shape 24"/>
          <p:cNvSpPr/>
          <p:nvPr/>
        </p:nvSpPr>
        <p:spPr>
          <a:xfrm rot="5400000">
            <a:off x="4329031" y="5856732"/>
            <a:ext cx="109728" cy="128016"/>
          </a:xfrm>
          <a:prstGeom prst="triangle">
            <a:avLst/>
          </a:prstGeom>
          <a:solidFill>
            <a:srgbClr val="F6B52A"/>
          </a:solidFill>
          <a:ln w="12700">
            <a:solidFill>
              <a:srgbClr val="F6B52A"/>
            </a:solidFill>
            <a:prstDash val="solid"/>
          </a:ln>
        </p:spPr>
      </p:sp>
      <p:sp>
        <p:nvSpPr>
          <p:cNvPr id="29" name="Shape 25"/>
          <p:cNvSpPr/>
          <p:nvPr/>
        </p:nvSpPr>
        <p:spPr>
          <a:xfrm>
            <a:off x="4457047" y="4937760"/>
            <a:ext cx="1807899" cy="1965960"/>
          </a:xfrm>
          <a:prstGeom prst="rect">
            <a:avLst/>
          </a:prstGeom>
          <a:solidFill>
            <a:srgbClr val="0B0F16"/>
          </a:solidFill>
          <a:ln w="9525">
            <a:solidFill>
              <a:srgbClr val="0B0F16"/>
            </a:solidFill>
            <a:prstDash val="solid"/>
          </a:ln>
        </p:spPr>
      </p:sp>
      <p:sp>
        <p:nvSpPr>
          <p:cNvPr id="30" name="Shape 26"/>
          <p:cNvSpPr/>
          <p:nvPr/>
        </p:nvSpPr>
        <p:spPr>
          <a:xfrm>
            <a:off x="4621639" y="5244084"/>
            <a:ext cx="109728" cy="109728"/>
          </a:xfrm>
          <a:prstGeom prst="rect">
            <a:avLst/>
          </a:prstGeom>
          <a:solidFill>
            <a:srgbClr val="F6B52A"/>
          </a:solidFill>
          <a:ln w="12700">
            <a:solidFill>
              <a:srgbClr val="F6B52A"/>
            </a:solidFill>
            <a:prstDash val="solid"/>
          </a:ln>
        </p:spPr>
      </p:sp>
      <p:sp>
        <p:nvSpPr>
          <p:cNvPr id="31" name="Text 27"/>
          <p:cNvSpPr txBox="1"/>
          <p:nvPr/>
        </p:nvSpPr>
        <p:spPr>
          <a:xfrm>
            <a:off x="4804519" y="5047488"/>
            <a:ext cx="1350699" cy="5029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Gate 1</a:t>
            </a:r>
            <a:endParaRPr lang="en-US" sz="1250" dirty="0"/>
          </a:p>
        </p:txBody>
      </p:sp>
      <p:sp>
        <p:nvSpPr>
          <p:cNvPr id="32" name="Text 28"/>
          <p:cNvSpPr txBox="1"/>
          <p:nvPr/>
        </p:nvSpPr>
        <p:spPr>
          <a:xfrm>
            <a:off x="4621639" y="5669280"/>
            <a:ext cx="1497003" cy="1097280"/>
          </a:xfrm>
          <a:prstGeom prst="rect">
            <a:avLst/>
          </a:prstGeom>
          <a:noFill/>
          <a:ln/>
        </p:spPr>
        <p:txBody>
          <a:bodyPr wrap="square" lIns="0" tIns="0" rIns="0" bIns="0" rtlCol="0" anchor="t"/>
          <a:lstStyle/>
          <a:p>
            <a:pPr indent="0" marL="0">
              <a:buNone/>
            </a:pPr>
            <a:r>
              <a:rPr lang="en-US" sz="1200" dirty="0">
                <a:solidFill>
                  <a:srgbClr val="97A3B8"/>
                </a:solidFill>
                <a:latin typeface="Calibri" pitchFamily="34" charset="0"/>
                <a:ea typeface="Calibri" pitchFamily="34" charset="-122"/>
                <a:cs typeface="Calibri" pitchFamily="34" charset="-120"/>
              </a:rPr>
              <a:t>The approver, checked against the register, signs off the battery by hash or refuses.</a:t>
            </a:r>
            <a:endParaRPr lang="en-US" sz="1200" dirty="0"/>
          </a:p>
        </p:txBody>
      </p:sp>
      <p:sp>
        <p:nvSpPr>
          <p:cNvPr id="33" name="Shape 29"/>
          <p:cNvSpPr/>
          <p:nvPr/>
        </p:nvSpPr>
        <p:spPr>
          <a:xfrm rot="5400000">
            <a:off x="6283234" y="5856732"/>
            <a:ext cx="109728" cy="128016"/>
          </a:xfrm>
          <a:prstGeom prst="triangle">
            <a:avLst/>
          </a:prstGeom>
          <a:solidFill>
            <a:srgbClr val="F6B52A"/>
          </a:solidFill>
          <a:ln w="12700">
            <a:solidFill>
              <a:srgbClr val="F6B52A"/>
            </a:solidFill>
            <a:prstDash val="solid"/>
          </a:ln>
        </p:spPr>
      </p:sp>
      <p:sp>
        <p:nvSpPr>
          <p:cNvPr id="34" name="Shape 30"/>
          <p:cNvSpPr/>
          <p:nvPr/>
        </p:nvSpPr>
        <p:spPr>
          <a:xfrm>
            <a:off x="6411250" y="4937760"/>
            <a:ext cx="1807899" cy="1965960"/>
          </a:xfrm>
          <a:prstGeom prst="rect">
            <a:avLst/>
          </a:prstGeom>
          <a:solidFill>
            <a:srgbClr val="F3F5F9"/>
          </a:solidFill>
          <a:ln w="9525">
            <a:solidFill>
              <a:srgbClr val="D9DEE8"/>
            </a:solidFill>
            <a:prstDash val="solid"/>
          </a:ln>
        </p:spPr>
      </p:sp>
      <p:sp>
        <p:nvSpPr>
          <p:cNvPr id="35" name="Shape 31"/>
          <p:cNvSpPr/>
          <p:nvPr/>
        </p:nvSpPr>
        <p:spPr>
          <a:xfrm>
            <a:off x="6575842" y="5244084"/>
            <a:ext cx="109728" cy="109728"/>
          </a:xfrm>
          <a:prstGeom prst="rect">
            <a:avLst/>
          </a:prstGeom>
          <a:solidFill>
            <a:srgbClr val="F6B52A"/>
          </a:solidFill>
          <a:ln w="12700">
            <a:solidFill>
              <a:srgbClr val="F6B52A"/>
            </a:solidFill>
            <a:prstDash val="solid"/>
          </a:ln>
        </p:spPr>
      </p:sp>
      <p:sp>
        <p:nvSpPr>
          <p:cNvPr id="36" name="Text 32"/>
          <p:cNvSpPr txBox="1"/>
          <p:nvPr/>
        </p:nvSpPr>
        <p:spPr>
          <a:xfrm>
            <a:off x="6758722" y="5047488"/>
            <a:ext cx="1350699" cy="502920"/>
          </a:xfrm>
          <a:prstGeom prst="rect">
            <a:avLst/>
          </a:prstGeom>
          <a:noFill/>
          <a:ln/>
        </p:spPr>
        <p:txBody>
          <a:bodyPr wrap="square" lIns="0" tIns="0" rIns="0" bIns="0" rtlCol="0" anchor="ctr"/>
          <a:lstStyle/>
          <a:p>
            <a:pPr indent="0" marL="0">
              <a:buNone/>
            </a:pPr>
            <a:r>
              <a:rPr lang="en-US" sz="1250" b="1" dirty="0">
                <a:solidFill>
                  <a:srgbClr val="0B0F16"/>
                </a:solidFill>
                <a:latin typeface="Calibri" pitchFamily="34" charset="0"/>
                <a:ea typeface="Calibri" pitchFamily="34" charset="-122"/>
                <a:cs typeface="Calibri" pitchFamily="34" charset="-120"/>
              </a:rPr>
              <a:t>Battery, rules, assurance</a:t>
            </a:r>
            <a:endParaRPr lang="en-US" sz="1250" dirty="0"/>
          </a:p>
        </p:txBody>
      </p:sp>
      <p:sp>
        <p:nvSpPr>
          <p:cNvPr id="37" name="Text 33"/>
          <p:cNvSpPr txBox="1"/>
          <p:nvPr/>
        </p:nvSpPr>
        <p:spPr>
          <a:xfrm>
            <a:off x="6575842" y="5669280"/>
            <a:ext cx="1497003" cy="1097280"/>
          </a:xfrm>
          <a:prstGeom prst="rect">
            <a:avLst/>
          </a:prstGeom>
          <a:noFill/>
          <a:ln/>
        </p:spPr>
        <p:txBody>
          <a:bodyPr wrap="square" lIns="0" tIns="0" rIns="0" bIns="0" rtlCol="0" anchor="t"/>
          <a:lstStyle/>
          <a:p>
            <a:pPr indent="0" marL="0">
              <a:buNone/>
            </a:pPr>
            <a:r>
              <a:rPr lang="en-US" sz="1200" dirty="0">
                <a:solidFill>
                  <a:srgbClr val="5D6A80"/>
                </a:solidFill>
                <a:latin typeface="Calibri" pitchFamily="34" charset="0"/>
                <a:ea typeface="Calibri" pitchFamily="34" charset="-122"/>
                <a:cs typeface="Calibri" pitchFamily="34" charset="-120"/>
              </a:rPr>
              <a:t>Sentinels, rules, guarantee, attribution, audits, red team, backtests.</a:t>
            </a:r>
            <a:endParaRPr lang="en-US" sz="1200" dirty="0"/>
          </a:p>
        </p:txBody>
      </p:sp>
      <p:sp>
        <p:nvSpPr>
          <p:cNvPr id="38" name="Shape 34"/>
          <p:cNvSpPr/>
          <p:nvPr/>
        </p:nvSpPr>
        <p:spPr>
          <a:xfrm rot="5400000">
            <a:off x="8237438" y="5856732"/>
            <a:ext cx="109728" cy="128016"/>
          </a:xfrm>
          <a:prstGeom prst="triangle">
            <a:avLst/>
          </a:prstGeom>
          <a:solidFill>
            <a:srgbClr val="F6B52A"/>
          </a:solidFill>
          <a:ln w="12700">
            <a:solidFill>
              <a:srgbClr val="F6B52A"/>
            </a:solidFill>
            <a:prstDash val="solid"/>
          </a:ln>
        </p:spPr>
      </p:sp>
      <p:sp>
        <p:nvSpPr>
          <p:cNvPr id="39" name="Shape 35"/>
          <p:cNvSpPr/>
          <p:nvPr/>
        </p:nvSpPr>
        <p:spPr>
          <a:xfrm>
            <a:off x="8365454" y="4937760"/>
            <a:ext cx="1807899" cy="1965960"/>
          </a:xfrm>
          <a:prstGeom prst="rect">
            <a:avLst/>
          </a:prstGeom>
          <a:solidFill>
            <a:srgbClr val="F3F5F9"/>
          </a:solidFill>
          <a:ln w="9525">
            <a:solidFill>
              <a:srgbClr val="D9DEE8"/>
            </a:solidFill>
            <a:prstDash val="solid"/>
          </a:ln>
        </p:spPr>
      </p:sp>
      <p:sp>
        <p:nvSpPr>
          <p:cNvPr id="40" name="Shape 36"/>
          <p:cNvSpPr/>
          <p:nvPr/>
        </p:nvSpPr>
        <p:spPr>
          <a:xfrm>
            <a:off x="8530046" y="5244084"/>
            <a:ext cx="109728" cy="109728"/>
          </a:xfrm>
          <a:prstGeom prst="rect">
            <a:avLst/>
          </a:prstGeom>
          <a:solidFill>
            <a:srgbClr val="F6B52A"/>
          </a:solidFill>
          <a:ln w="12700">
            <a:solidFill>
              <a:srgbClr val="F6B52A"/>
            </a:solidFill>
            <a:prstDash val="solid"/>
          </a:ln>
        </p:spPr>
      </p:sp>
      <p:sp>
        <p:nvSpPr>
          <p:cNvPr id="41" name="Text 37"/>
          <p:cNvSpPr txBox="1"/>
          <p:nvPr/>
        </p:nvSpPr>
        <p:spPr>
          <a:xfrm>
            <a:off x="8712926" y="5047488"/>
            <a:ext cx="1350699" cy="502920"/>
          </a:xfrm>
          <a:prstGeom prst="rect">
            <a:avLst/>
          </a:prstGeom>
          <a:noFill/>
          <a:ln/>
        </p:spPr>
        <p:txBody>
          <a:bodyPr wrap="square" lIns="0" tIns="0" rIns="0" bIns="0" rtlCol="0" anchor="ctr"/>
          <a:lstStyle/>
          <a:p>
            <a:pPr indent="0" marL="0">
              <a:buNone/>
            </a:pPr>
            <a:r>
              <a:rPr lang="en-US" sz="1250" b="1" dirty="0">
                <a:solidFill>
                  <a:srgbClr val="0B0F16"/>
                </a:solidFill>
                <a:latin typeface="Calibri" pitchFamily="34" charset="0"/>
                <a:ea typeface="Calibri" pitchFamily="34" charset="-122"/>
                <a:cs typeface="Calibri" pitchFamily="34" charset="-120"/>
              </a:rPr>
              <a:t>Critic</a:t>
            </a:r>
            <a:endParaRPr lang="en-US" sz="1250" dirty="0"/>
          </a:p>
        </p:txBody>
      </p:sp>
      <p:sp>
        <p:nvSpPr>
          <p:cNvPr id="42" name="Text 38"/>
          <p:cNvSpPr txBox="1"/>
          <p:nvPr/>
        </p:nvSpPr>
        <p:spPr>
          <a:xfrm>
            <a:off x="8530046" y="5669280"/>
            <a:ext cx="1497003" cy="1097280"/>
          </a:xfrm>
          <a:prstGeom prst="rect">
            <a:avLst/>
          </a:prstGeom>
          <a:noFill/>
          <a:ln/>
        </p:spPr>
        <p:txBody>
          <a:bodyPr wrap="square" lIns="0" tIns="0" rIns="0" bIns="0" rtlCol="0" anchor="t"/>
          <a:lstStyle/>
          <a:p>
            <a:pPr indent="0" marL="0">
              <a:buNone/>
            </a:pPr>
            <a:r>
              <a:rPr lang="en-US" sz="1200" dirty="0">
                <a:solidFill>
                  <a:srgbClr val="5D6A80"/>
                </a:solidFill>
                <a:latin typeface="Calibri" pitchFamily="34" charset="0"/>
                <a:ea typeface="Calibri" pitchFamily="34" charset="-122"/>
                <a:cs typeface="Calibri" pitchFamily="34" charset="-120"/>
              </a:rPr>
              <a:t>31 checks recompute every number and replay the ledger.</a:t>
            </a:r>
            <a:endParaRPr lang="en-US" sz="1200" dirty="0"/>
          </a:p>
        </p:txBody>
      </p:sp>
      <p:sp>
        <p:nvSpPr>
          <p:cNvPr id="43" name="Shape 39"/>
          <p:cNvSpPr/>
          <p:nvPr/>
        </p:nvSpPr>
        <p:spPr>
          <a:xfrm rot="5400000">
            <a:off x="10191641" y="5856732"/>
            <a:ext cx="109728" cy="128016"/>
          </a:xfrm>
          <a:prstGeom prst="triangle">
            <a:avLst/>
          </a:prstGeom>
          <a:solidFill>
            <a:srgbClr val="F6B52A"/>
          </a:solidFill>
          <a:ln w="12700">
            <a:solidFill>
              <a:srgbClr val="F6B52A"/>
            </a:solidFill>
            <a:prstDash val="solid"/>
          </a:ln>
        </p:spPr>
      </p:sp>
      <p:sp>
        <p:nvSpPr>
          <p:cNvPr id="44" name="Shape 40"/>
          <p:cNvSpPr/>
          <p:nvPr/>
        </p:nvSpPr>
        <p:spPr>
          <a:xfrm>
            <a:off x="10319657" y="4937760"/>
            <a:ext cx="1807899" cy="1965960"/>
          </a:xfrm>
          <a:prstGeom prst="rect">
            <a:avLst/>
          </a:prstGeom>
          <a:solidFill>
            <a:srgbClr val="0B0F16"/>
          </a:solidFill>
          <a:ln w="9525">
            <a:solidFill>
              <a:srgbClr val="0B0F16"/>
            </a:solidFill>
            <a:prstDash val="solid"/>
          </a:ln>
        </p:spPr>
      </p:sp>
      <p:sp>
        <p:nvSpPr>
          <p:cNvPr id="45" name="Shape 41"/>
          <p:cNvSpPr/>
          <p:nvPr/>
        </p:nvSpPr>
        <p:spPr>
          <a:xfrm>
            <a:off x="10484249" y="5244084"/>
            <a:ext cx="109728" cy="109728"/>
          </a:xfrm>
          <a:prstGeom prst="rect">
            <a:avLst/>
          </a:prstGeom>
          <a:solidFill>
            <a:srgbClr val="F6B52A"/>
          </a:solidFill>
          <a:ln w="12700">
            <a:solidFill>
              <a:srgbClr val="F6B52A"/>
            </a:solidFill>
            <a:prstDash val="solid"/>
          </a:ln>
        </p:spPr>
      </p:sp>
      <p:sp>
        <p:nvSpPr>
          <p:cNvPr id="46" name="Text 42"/>
          <p:cNvSpPr txBox="1"/>
          <p:nvPr/>
        </p:nvSpPr>
        <p:spPr>
          <a:xfrm>
            <a:off x="10667129" y="5047488"/>
            <a:ext cx="1350699" cy="5029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Gate 2</a:t>
            </a:r>
            <a:endParaRPr lang="en-US" sz="1250" dirty="0"/>
          </a:p>
        </p:txBody>
      </p:sp>
      <p:sp>
        <p:nvSpPr>
          <p:cNvPr id="47" name="Text 43"/>
          <p:cNvSpPr txBox="1"/>
          <p:nvPr/>
        </p:nvSpPr>
        <p:spPr>
          <a:xfrm>
            <a:off x="10484249" y="5669280"/>
            <a:ext cx="1497003" cy="1097280"/>
          </a:xfrm>
          <a:prstGeom prst="rect">
            <a:avLst/>
          </a:prstGeom>
          <a:noFill/>
          <a:ln/>
        </p:spPr>
        <p:txBody>
          <a:bodyPr wrap="square" lIns="0" tIns="0" rIns="0" bIns="0" rtlCol="0" anchor="t"/>
          <a:lstStyle/>
          <a:p>
            <a:pPr indent="0" marL="0">
              <a:buNone/>
            </a:pPr>
            <a:r>
              <a:rPr lang="en-US" sz="1200" dirty="0">
                <a:solidFill>
                  <a:srgbClr val="97A3B8"/>
                </a:solidFill>
                <a:latin typeface="Calibri" pitchFamily="34" charset="0"/>
                <a:ea typeface="Calibri" pitchFamily="34" charset="-122"/>
                <a:cs typeface="Calibri" pitchFamily="34" charset="-120"/>
              </a:rPr>
              <a:t>The approver releases the briefing, or refuses.</a:t>
            </a:r>
            <a:endParaRPr lang="en-US" sz="1200" dirty="0"/>
          </a:p>
        </p:txBody>
      </p:sp>
      <p:sp>
        <p:nvSpPr>
          <p:cNvPr id="48" name="Shape 44"/>
          <p:cNvSpPr/>
          <p:nvPr/>
        </p:nvSpPr>
        <p:spPr>
          <a:xfrm rot="5400000">
            <a:off x="12145845" y="5856732"/>
            <a:ext cx="109728" cy="128016"/>
          </a:xfrm>
          <a:prstGeom prst="triangle">
            <a:avLst/>
          </a:prstGeom>
          <a:solidFill>
            <a:srgbClr val="F6B52A"/>
          </a:solidFill>
          <a:ln w="12700">
            <a:solidFill>
              <a:srgbClr val="F6B52A"/>
            </a:solidFill>
            <a:prstDash val="solid"/>
          </a:ln>
        </p:spPr>
      </p:sp>
      <p:sp>
        <p:nvSpPr>
          <p:cNvPr id="49" name="Shape 45"/>
          <p:cNvSpPr/>
          <p:nvPr/>
        </p:nvSpPr>
        <p:spPr>
          <a:xfrm>
            <a:off x="12273861" y="4937760"/>
            <a:ext cx="1807899" cy="1965960"/>
          </a:xfrm>
          <a:prstGeom prst="rect">
            <a:avLst/>
          </a:prstGeom>
          <a:solidFill>
            <a:srgbClr val="F3F5F9"/>
          </a:solidFill>
          <a:ln w="9525">
            <a:solidFill>
              <a:srgbClr val="D9DEE8"/>
            </a:solidFill>
            <a:prstDash val="solid"/>
          </a:ln>
        </p:spPr>
      </p:sp>
      <p:sp>
        <p:nvSpPr>
          <p:cNvPr id="50" name="Shape 46"/>
          <p:cNvSpPr/>
          <p:nvPr/>
        </p:nvSpPr>
        <p:spPr>
          <a:xfrm>
            <a:off x="12438453" y="5244084"/>
            <a:ext cx="109728" cy="109728"/>
          </a:xfrm>
          <a:prstGeom prst="rect">
            <a:avLst/>
          </a:prstGeom>
          <a:solidFill>
            <a:srgbClr val="F6B52A"/>
          </a:solidFill>
          <a:ln w="12700">
            <a:solidFill>
              <a:srgbClr val="F6B52A"/>
            </a:solidFill>
            <a:prstDash val="solid"/>
          </a:ln>
        </p:spPr>
      </p:sp>
      <p:sp>
        <p:nvSpPr>
          <p:cNvPr id="51" name="Text 47"/>
          <p:cNvSpPr txBox="1"/>
          <p:nvPr/>
        </p:nvSpPr>
        <p:spPr>
          <a:xfrm>
            <a:off x="12621333" y="5047488"/>
            <a:ext cx="1350699" cy="502920"/>
          </a:xfrm>
          <a:prstGeom prst="rect">
            <a:avLst/>
          </a:prstGeom>
          <a:noFill/>
          <a:ln/>
        </p:spPr>
        <p:txBody>
          <a:bodyPr wrap="square" lIns="0" tIns="0" rIns="0" bIns="0" rtlCol="0" anchor="ctr"/>
          <a:lstStyle/>
          <a:p>
            <a:pPr indent="0" marL="0">
              <a:buNone/>
            </a:pPr>
            <a:r>
              <a:rPr lang="en-US" sz="1250" b="1" dirty="0">
                <a:solidFill>
                  <a:srgbClr val="0B0F16"/>
                </a:solidFill>
                <a:latin typeface="Calibri" pitchFamily="34" charset="0"/>
                <a:ea typeface="Calibri" pitchFamily="34" charset="-122"/>
                <a:cs typeface="Calibri" pitchFamily="34" charset="-120"/>
              </a:rPr>
              <a:t>Briefing and evidence pack</a:t>
            </a:r>
            <a:endParaRPr lang="en-US" sz="1250" dirty="0"/>
          </a:p>
        </p:txBody>
      </p:sp>
      <p:sp>
        <p:nvSpPr>
          <p:cNvPr id="52" name="Text 48"/>
          <p:cNvSpPr txBox="1"/>
          <p:nvPr/>
        </p:nvSpPr>
        <p:spPr>
          <a:xfrm>
            <a:off x="12438453" y="5669280"/>
            <a:ext cx="1497003" cy="1097280"/>
          </a:xfrm>
          <a:prstGeom prst="rect">
            <a:avLst/>
          </a:prstGeom>
          <a:noFill/>
          <a:ln/>
        </p:spPr>
        <p:txBody>
          <a:bodyPr wrap="square" lIns="0" tIns="0" rIns="0" bIns="0" rtlCol="0" anchor="t"/>
          <a:lstStyle/>
          <a:p>
            <a:pPr indent="0" marL="0">
              <a:buNone/>
            </a:pPr>
            <a:r>
              <a:rPr lang="en-US" sz="1200" dirty="0">
                <a:solidFill>
                  <a:srgbClr val="5D6A80"/>
                </a:solidFill>
                <a:latin typeface="Calibri" pitchFamily="34" charset="0"/>
                <a:ea typeface="Calibri" pitchFamily="34" charset="-122"/>
                <a:cs typeface="Calibri" pitchFamily="34" charset="-120"/>
              </a:rPr>
              <a:t>Graded, vetted, replayable, with the ATRS record.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cdir.png">    </p:cNvPr>
          <p:cNvPicPr>
            <a:picLocks noChangeAspect="1"/>
          </p:cNvPicPr>
          <p:nvPr/>
        </p:nvPicPr>
        <p:blipFill>
          <a:blip r:embed="rId1"/>
          <a:stretch>
            <a:fillRect/>
          </a:stretch>
        </p:blipFill>
        <p:spPr>
          <a:xfrm>
            <a:off x="548640" y="384048"/>
            <a:ext cx="1737360" cy="434340"/>
          </a:xfrm>
          <a:prstGeom prst="rect">
            <a:avLst/>
          </a:prstGeom>
        </p:spPr>
      </p:pic>
      <p:pic>
        <p:nvPicPr>
          <p:cNvPr id="3" name="Image 1" descr="fii.png">    </p:cNvPr>
          <p:cNvPicPr>
            <a:picLocks noChangeAspect="1"/>
          </p:cNvPicPr>
          <p:nvPr/>
        </p:nvPicPr>
        <p:blipFill>
          <a:blip r:embed="rId2"/>
          <a:stretch>
            <a:fillRect/>
          </a:stretch>
        </p:blipFill>
        <p:spPr>
          <a:xfrm>
            <a:off x="11658600" y="347472"/>
            <a:ext cx="2423160" cy="822960"/>
          </a:xfrm>
          <a:prstGeom prst="rect">
            <a:avLst/>
          </a:prstGeom>
        </p:spPr>
      </p:pic>
      <p:sp>
        <p:nvSpPr>
          <p:cNvPr id="4" name="Text 0"/>
          <p:cNvSpPr txBox="1"/>
          <p:nvPr/>
        </p:nvSpPr>
        <p:spPr>
          <a:xfrm>
            <a:off x="548640" y="1234440"/>
            <a:ext cx="10058400" cy="640080"/>
          </a:xfrm>
          <a:prstGeom prst="rect">
            <a:avLst/>
          </a:prstGeom>
          <a:noFill/>
          <a:ln/>
        </p:spPr>
        <p:txBody>
          <a:bodyPr wrap="square" lIns="0" tIns="0" rIns="0" bIns="0" rtlCol="0" anchor="ctr"/>
          <a:lstStyle/>
          <a:p>
            <a:pPr indent="0" marL="0">
              <a:buNone/>
            </a:pPr>
            <a:r>
              <a:rPr lang="en-US" sz="3000" b="1" dirty="0">
                <a:solidFill>
                  <a:srgbClr val="0B0F16"/>
                </a:solidFill>
                <a:latin typeface="Calibri" pitchFamily="34" charset="0"/>
                <a:ea typeface="Calibri" pitchFamily="34" charset="-122"/>
                <a:cs typeface="Calibri" pitchFamily="34" charset="-120"/>
              </a:rPr>
              <a:t>Approach</a:t>
            </a:r>
            <a:endParaRPr lang="en-US" sz="3000" dirty="0"/>
          </a:p>
        </p:txBody>
      </p:sp>
      <p:sp>
        <p:nvSpPr>
          <p:cNvPr id="5" name="Text 1"/>
          <p:cNvSpPr txBox="1"/>
          <p:nvPr/>
        </p:nvSpPr>
        <p:spPr>
          <a:xfrm>
            <a:off x="548640" y="7635240"/>
            <a:ext cx="4572000" cy="320040"/>
          </a:xfrm>
          <a:prstGeom prst="rect">
            <a:avLst/>
          </a:prstGeom>
          <a:noFill/>
          <a:ln/>
        </p:spPr>
        <p:txBody>
          <a:bodyPr wrap="square" lIns="0" tIns="0" rIns="0" bIns="0" rtlCol="0" anchor="ctr"/>
          <a:lstStyle/>
          <a:p>
            <a:pPr indent="0" marL="0">
              <a:buNone/>
            </a:pPr>
            <a:r>
              <a:rPr lang="en-US" sz="1000" dirty="0">
                <a:solidFill>
                  <a:srgbClr val="5D6A80"/>
                </a:solidFill>
                <a:latin typeface="Calibri" pitchFamily="34" charset="0"/>
                <a:ea typeface="Calibri" pitchFamily="34" charset="-122"/>
                <a:cs typeface="Calibri" pitchFamily="34" charset="-120"/>
              </a:rPr>
              <a:t>No Human Intelligence</a:t>
            </a:r>
            <a:endParaRPr lang="en-US" sz="1000" dirty="0"/>
          </a:p>
        </p:txBody>
      </p:sp>
      <p:sp>
        <p:nvSpPr>
          <p:cNvPr id="6" name="Text 2"/>
          <p:cNvSpPr txBox="1"/>
          <p:nvPr/>
        </p:nvSpPr>
        <p:spPr>
          <a:xfrm>
            <a:off x="13167360" y="7635240"/>
            <a:ext cx="914400" cy="320040"/>
          </a:xfrm>
          <a:prstGeom prst="rect">
            <a:avLst/>
          </a:prstGeom>
          <a:noFill/>
          <a:ln/>
        </p:spPr>
        <p:txBody>
          <a:bodyPr wrap="square" lIns="0" tIns="0" rIns="0" bIns="0" rtlCol="0" anchor="ctr"/>
          <a:lstStyle/>
          <a:p>
            <a:pPr algn="r" indent="0" marL="0">
              <a:buNone/>
            </a:pPr>
            <a:r>
              <a:rPr lang="en-US" sz="1000" dirty="0">
                <a:solidFill>
                  <a:srgbClr val="5D6A80"/>
                </a:solidFill>
                <a:latin typeface="Courier New" pitchFamily="34" charset="0"/>
                <a:ea typeface="Courier New" pitchFamily="34" charset="-122"/>
                <a:cs typeface="Courier New" pitchFamily="34" charset="-120"/>
              </a:rPr>
              <a:t>4</a:t>
            </a:r>
            <a:endParaRPr lang="en-US" sz="1000" dirty="0"/>
          </a:p>
        </p:txBody>
      </p:sp>
      <p:sp>
        <p:nvSpPr>
          <p:cNvPr id="7" name="Text 3"/>
          <p:cNvSpPr txBox="1"/>
          <p:nvPr/>
        </p:nvSpPr>
        <p:spPr>
          <a:xfrm>
            <a:off x="548640" y="2103120"/>
            <a:ext cx="6675120" cy="164592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200" b="1" dirty="0">
                <a:solidFill>
                  <a:srgbClr val="0B0F16"/>
                </a:solidFill>
                <a:latin typeface="Calibri" pitchFamily="34" charset="0"/>
                <a:ea typeface="Calibri" pitchFamily="34" charset="-122"/>
                <a:cs typeface="Calibri" pitchFamily="34" charset="-120"/>
              </a:rPr>
              <a:t>Synthetic markets with a known truth.</a:t>
            </a:r>
            <a:pPr indent="0" marL="0">
              <a:lnSpc>
                <a:spcPct val="105000"/>
              </a:lnSpc>
              <a:buNone/>
            </a:pPr>
            <a:r>
              <a:rPr lang="en-US" sz="1200" dirty="0">
                <a:solidFill>
                  <a:srgbClr val="0B0F16"/>
                </a:solidFill>
                <a:latin typeface="Calibri" pitchFamily="34" charset="0"/>
                <a:ea typeface="Calibri" pitchFamily="34" charset="-122"/>
                <a:cs typeface="Calibri" pitchFamily="34" charset="-120"/>
              </a:rPr>
              <a:t> Noise traders, fundamentalists, vendor clusters, RL traders, distilled LLM personas, manipulators and templates the authority defines, under five generators; the truth is a property of how the market was made.</a:t>
            </a:r>
            <a:endParaRPr lang="en-US" sz="1200" dirty="0"/>
          </a:p>
          <a:p>
            <a:pPr marL="342900" indent="-342900">
              <a:lnSpc>
                <a:spcPct val="105000"/>
              </a:lnSpc>
              <a:spcAft>
                <a:spcPts val="600"/>
              </a:spcAft>
              <a:buSzPct val="100000"/>
              <a:buChar char="•"/>
            </a:pPr>
            <a:r>
              <a:rPr lang="en-US" sz="1200" b="1" dirty="0">
                <a:solidFill>
                  <a:srgbClr val="0B0F16"/>
                </a:solidFill>
                <a:latin typeface="Calibri" pitchFamily="34" charset="0"/>
                <a:ea typeface="Calibri" pitchFamily="34" charset="-122"/>
                <a:cs typeface="Calibri" pitchFamily="34" charset="-120"/>
              </a:rPr>
              <a:t>Sentinels live over the stream; rules act on it.</a:t>
            </a:r>
            <a:pPr indent="0" marL="0">
              <a:lnSpc>
                <a:spcPct val="105000"/>
              </a:lnSpc>
              <a:buNone/>
            </a:pPr>
            <a:r>
              <a:rPr lang="en-US" sz="1200" dirty="0">
                <a:solidFill>
                  <a:srgbClr val="0B0F16"/>
                </a:solidFill>
                <a:latin typeface="Calibri" pitchFamily="34" charset="0"/>
                <a:ea typeface="Calibri" pitchFamily="34" charset="-122"/>
                <a:cs typeface="Calibri" pitchFamily="34" charset="-120"/>
              </a:rPr>
              <a:t> Eight sentinels from the herding and risk literature, eight rules by jurisdiction, each reading only the flags as they stood at that step.</a:t>
            </a:r>
            <a:endParaRPr lang="en-US" sz="1200" dirty="0"/>
          </a:p>
          <a:p>
            <a:pPr marL="342900" indent="-342900">
              <a:lnSpc>
                <a:spcPct val="105000"/>
              </a:lnSpc>
              <a:spcAft>
                <a:spcPts val="600"/>
              </a:spcAft>
              <a:buSzPct val="100000"/>
              <a:buChar char="•"/>
            </a:pPr>
            <a:r>
              <a:rPr lang="en-US" sz="1200" b="1" dirty="0">
                <a:solidFill>
                  <a:srgbClr val="0B0F16"/>
                </a:solidFill>
                <a:latin typeface="Calibri" pitchFamily="34" charset="0"/>
                <a:ea typeface="Calibri" pitchFamily="34" charset="-122"/>
                <a:cs typeface="Calibri" pitchFamily="34" charset="-120"/>
              </a:rPr>
              <a:t>Evaluate on the decision, then audit the evaluation.</a:t>
            </a:r>
            <a:pPr indent="0" marL="0">
              <a:lnSpc>
                <a:spcPct val="105000"/>
              </a:lnSpc>
              <a:buNone/>
            </a:pPr>
            <a:r>
              <a:rPr lang="en-US" sz="1200" dirty="0">
                <a:solidFill>
                  <a:srgbClr val="0B0F16"/>
                </a:solidFill>
                <a:latin typeface="Calibri" pitchFamily="34" charset="0"/>
                <a:ea typeface="Calibri" pitchFamily="34" charset="-122"/>
                <a:cs typeface="Calibri" pitchFamily="34" charset="-120"/>
              </a:rPr>
              <a:t> A decision evaluator, a critic that re verifies every number, a red team, and a walk forward test of the certification procedure itself.</a:t>
            </a:r>
            <a:endParaRPr lang="en-US" sz="1200" dirty="0"/>
          </a:p>
        </p:txBody>
      </p:sp>
      <p:sp>
        <p:nvSpPr>
          <p:cNvPr id="8" name="Shape 4"/>
          <p:cNvSpPr/>
          <p:nvPr/>
        </p:nvSpPr>
        <p:spPr>
          <a:xfrm>
            <a:off x="548640" y="3840480"/>
            <a:ext cx="6675120" cy="3611880"/>
          </a:xfrm>
          <a:prstGeom prst="rect">
            <a:avLst/>
          </a:prstGeom>
          <a:solidFill>
            <a:srgbClr val="0B0F16"/>
          </a:solidFill>
          <a:ln w="9525">
            <a:solidFill>
              <a:srgbClr val="161E2A"/>
            </a:solidFill>
            <a:prstDash val="solid"/>
          </a:ln>
        </p:spPr>
      </p:sp>
      <p:sp>
        <p:nvSpPr>
          <p:cNvPr id="9" name="Shape 5"/>
          <p:cNvSpPr/>
          <p:nvPr/>
        </p:nvSpPr>
        <p:spPr>
          <a:xfrm>
            <a:off x="548640" y="3840480"/>
            <a:ext cx="6675120" cy="384048"/>
          </a:xfrm>
          <a:prstGeom prst="rect">
            <a:avLst/>
          </a:prstGeom>
          <a:solidFill>
            <a:srgbClr val="10161F"/>
          </a:solidFill>
          <a:ln w="9525">
            <a:solidFill>
              <a:srgbClr val="161E2A"/>
            </a:solidFill>
            <a:prstDash val="solid"/>
          </a:ln>
        </p:spPr>
      </p:sp>
      <p:sp>
        <p:nvSpPr>
          <p:cNvPr id="10" name="Text 6"/>
          <p:cNvSpPr txBox="1"/>
          <p:nvPr/>
        </p:nvSpPr>
        <p:spPr>
          <a:xfrm>
            <a:off x="676656" y="3840480"/>
            <a:ext cx="822960" cy="384048"/>
          </a:xfrm>
          <a:prstGeom prst="rect">
            <a:avLst/>
          </a:prstGeom>
          <a:noFill/>
          <a:ln/>
        </p:spPr>
        <p:txBody>
          <a:bodyPr wrap="square" lIns="0" tIns="0" rIns="0" bIns="0" rtlCol="0" anchor="ctr"/>
          <a:lstStyle/>
          <a:p>
            <a:pPr indent="0" marL="0">
              <a:buNone/>
            </a:pPr>
            <a:r>
              <a:rPr lang="en-US" sz="1100" b="1" spc="200" kern="0" dirty="0">
                <a:solidFill>
                  <a:srgbClr val="F6B52A"/>
                </a:solidFill>
                <a:latin typeface="Courier New" pitchFamily="34" charset="0"/>
                <a:ea typeface="Courier New" pitchFamily="34" charset="-122"/>
                <a:cs typeface="Courier New" pitchFamily="34" charset="-120"/>
              </a:rPr>
              <a:t>AUT</a:t>
            </a:r>
            <a:endParaRPr lang="en-US" sz="1100" dirty="0"/>
          </a:p>
        </p:txBody>
      </p:sp>
      <p:sp>
        <p:nvSpPr>
          <p:cNvPr id="11" name="Text 7"/>
          <p:cNvSpPr txBox="1"/>
          <p:nvPr/>
        </p:nvSpPr>
        <p:spPr>
          <a:xfrm>
            <a:off x="1417320" y="3840480"/>
            <a:ext cx="5669280" cy="384048"/>
          </a:xfrm>
          <a:prstGeom prst="rect">
            <a:avLst/>
          </a:prstGeom>
          <a:noFill/>
          <a:ln/>
        </p:spPr>
        <p:txBody>
          <a:bodyPr wrap="square" lIns="0" tIns="0" rIns="0" bIns="0" rtlCol="0" anchor="ctr"/>
          <a:lstStyle/>
          <a:p>
            <a:pPr indent="0" marL="0">
              <a:buNone/>
            </a:pPr>
            <a:r>
              <a:rPr lang="en-US" sz="1200" b="1" dirty="0">
                <a:solidFill>
                  <a:srgbClr val="E4E9F2"/>
                </a:solidFill>
                <a:latin typeface="Calibri" pitchFamily="34" charset="0"/>
                <a:ea typeface="Calibri" pitchFamily="34" charset="-122"/>
                <a:cs typeface="Calibri" pitchFamily="34" charset="-120"/>
              </a:rPr>
              <a:t>Reinforcement learning and the science behind the metrics</a:t>
            </a:r>
            <a:endParaRPr lang="en-US" sz="1200" dirty="0"/>
          </a:p>
        </p:txBody>
      </p:sp>
      <p:sp>
        <p:nvSpPr>
          <p:cNvPr id="12" name="Text 8"/>
          <p:cNvSpPr txBox="1"/>
          <p:nvPr/>
        </p:nvSpPr>
        <p:spPr>
          <a:xfrm>
            <a:off x="777240" y="4389120"/>
            <a:ext cx="3063240" cy="301752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100" b="1" dirty="0">
                <a:solidFill>
                  <a:srgbClr val="E4E9F2"/>
                </a:solidFill>
                <a:latin typeface="Calibri" pitchFamily="34" charset="0"/>
                <a:ea typeface="Calibri" pitchFamily="34" charset="-122"/>
                <a:cs typeface="Calibri" pitchFamily="34" charset="-120"/>
              </a:rPr>
              <a:t>RL traders:</a:t>
            </a:r>
            <a:pPr indent="0" marL="0">
              <a:lnSpc>
                <a:spcPct val="105000"/>
              </a:lnSpc>
              <a:buNone/>
            </a:pPr>
            <a:r>
              <a:rPr lang="en-US" sz="1100" dirty="0">
                <a:solidFill>
                  <a:srgbClr val="E4E9F2"/>
                </a:solidFill>
                <a:latin typeface="Calibri" pitchFamily="34" charset="0"/>
                <a:ea typeface="Calibri" pitchFamily="34" charset="-122"/>
                <a:cs typeface="Calibri" pitchFamily="34" charset="-120"/>
              </a:rPr>
              <a:t> 48 agents trained once on quiet markets by double Q learning, SARSA(λ) and advantage actor critic, acting on discretised momentum and volatility; herding is learned, not imposed, and measured by policy convergence and the momentum slope.</a:t>
            </a:r>
            <a:endParaRPr lang="en-US" sz="1100" dirty="0"/>
          </a:p>
          <a:p>
            <a:pPr marL="342900" indent="-342900">
              <a:lnSpc>
                <a:spcPct val="105000"/>
              </a:lnSpc>
              <a:spcAft>
                <a:spcPts val="500"/>
              </a:spcAft>
              <a:buSzPct val="100000"/>
              <a:buChar char="•"/>
            </a:pPr>
            <a:r>
              <a:rPr lang="en-US" sz="1100" b="1" dirty="0">
                <a:solidFill>
                  <a:srgbClr val="E4E9F2"/>
                </a:solidFill>
                <a:latin typeface="Calibri" pitchFamily="34" charset="0"/>
                <a:ea typeface="Calibri" pitchFamily="34" charset="-122"/>
                <a:cs typeface="Calibri" pitchFamily="34" charset="-120"/>
              </a:rPr>
              <a:t>Learned supervisor:</a:t>
            </a:r>
            <a:pPr indent="0" marL="0">
              <a:lnSpc>
                <a:spcPct val="105000"/>
              </a:lnSpc>
              <a:buNone/>
            </a:pPr>
            <a:r>
              <a:rPr lang="en-US" sz="1100" dirty="0">
                <a:solidFill>
                  <a:srgbClr val="E4E9F2"/>
                </a:solidFill>
                <a:latin typeface="Calibri" pitchFamily="34" charset="0"/>
                <a:ea typeface="Calibri" pitchFamily="34" charset="-122"/>
                <a:cs typeface="Calibri" pitchFamily="34" charset="-120"/>
              </a:rPr>
              <a:t> model based RL, a tabular MDP fitted from trajectories logged under an epsilon soft policy, solved by value iteration under declared halt and throttle costs; advisory.</a:t>
            </a:r>
            <a:endParaRPr lang="en-US" sz="1100" dirty="0"/>
          </a:p>
          <a:p>
            <a:pPr marL="342900" indent="-342900">
              <a:lnSpc>
                <a:spcPct val="105000"/>
              </a:lnSpc>
              <a:spcAft>
                <a:spcPts val="500"/>
              </a:spcAft>
              <a:buSzPct val="100000"/>
              <a:buChar char="•"/>
            </a:pPr>
            <a:r>
              <a:rPr lang="en-US" sz="1100" b="1" dirty="0">
                <a:solidFill>
                  <a:srgbClr val="E4E9F2"/>
                </a:solidFill>
                <a:latin typeface="Calibri" pitchFamily="34" charset="0"/>
                <a:ea typeface="Calibri" pitchFamily="34" charset="-122"/>
                <a:cs typeface="Calibri" pitchFamily="34" charset="-120"/>
              </a:rPr>
              <a:t>Off policy evaluation:</a:t>
            </a:r>
            <a:pPr indent="0" marL="0">
              <a:lnSpc>
                <a:spcPct val="105000"/>
              </a:lnSpc>
              <a:buNone/>
            </a:pPr>
            <a:r>
              <a:rPr lang="en-US" sz="1100" dirty="0">
                <a:solidFill>
                  <a:srgbClr val="E4E9F2"/>
                </a:solidFill>
                <a:latin typeface="Calibri" pitchFamily="34" charset="0"/>
                <a:ea typeface="Calibri" pitchFamily="34" charset="-122"/>
                <a:cs typeface="Calibri" pitchFamily="34" charset="-120"/>
              </a:rPr>
              <a:t> per decision importance sampling, a clipped doubly robust estimator and the fitted model, each checked against the simulated truth. Red team: a UCB1 bandit; the game solved by linear programme.</a:t>
            </a:r>
            <a:endParaRPr lang="en-US" sz="1100" dirty="0"/>
          </a:p>
        </p:txBody>
      </p:sp>
      <p:sp>
        <p:nvSpPr>
          <p:cNvPr id="13" name="Text 9"/>
          <p:cNvSpPr txBox="1"/>
          <p:nvPr/>
        </p:nvSpPr>
        <p:spPr>
          <a:xfrm>
            <a:off x="3977640" y="4389120"/>
            <a:ext cx="3063240" cy="301752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100" b="1" dirty="0">
                <a:solidFill>
                  <a:srgbClr val="E4E9F2"/>
                </a:solidFill>
                <a:latin typeface="Calibri" pitchFamily="34" charset="0"/>
                <a:ea typeface="Calibri" pitchFamily="34" charset="-122"/>
                <a:cs typeface="Calibri" pitchFamily="34" charset="-120"/>
              </a:rPr>
              <a:t>Decision metrics:</a:t>
            </a:r>
            <a:pPr indent="0" marL="0">
              <a:lnSpc>
                <a:spcPct val="105000"/>
              </a:lnSpc>
              <a:buNone/>
            </a:pPr>
            <a:r>
              <a:rPr lang="en-US" sz="1100" dirty="0">
                <a:solidFill>
                  <a:srgbClr val="E4E9F2"/>
                </a:solidFill>
                <a:latin typeface="Calibri" pitchFamily="34" charset="0"/>
                <a:ea typeface="Calibri" pitchFamily="34" charset="-122"/>
                <a:cs typeface="Calibri" pitchFamily="34" charset="-120"/>
              </a:rPr>
              <a:t> precision, recall and F1 against the generator's truth; 400 scenario bootstrap for intervals, evidence grades, P(inversion) and winner stability; Kendall tau turned into the gap (1 minus tau over 2).</a:t>
            </a:r>
            <a:endParaRPr lang="en-US" sz="1100" dirty="0"/>
          </a:p>
          <a:p>
            <a:pPr marL="342900" indent="-342900">
              <a:lnSpc>
                <a:spcPct val="105000"/>
              </a:lnSpc>
              <a:spcAft>
                <a:spcPts val="500"/>
              </a:spcAft>
              <a:buSzPct val="100000"/>
              <a:buChar char="•"/>
            </a:pPr>
            <a:r>
              <a:rPr lang="en-US" sz="1100" b="1" dirty="0">
                <a:solidFill>
                  <a:srgbClr val="E4E9F2"/>
                </a:solidFill>
                <a:latin typeface="Calibri" pitchFamily="34" charset="0"/>
                <a:ea typeface="Calibri" pitchFamily="34" charset="-122"/>
                <a:cs typeface="Calibri" pitchFamily="34" charset="-120"/>
              </a:rPr>
              <a:t>Guarantee:</a:t>
            </a:r>
            <a:pPr indent="0" marL="0">
              <a:lnSpc>
                <a:spcPct val="105000"/>
              </a:lnSpc>
              <a:buNone/>
            </a:pPr>
            <a:r>
              <a:rPr lang="en-US" sz="1100" dirty="0">
                <a:solidFill>
                  <a:srgbClr val="E4E9F2"/>
                </a:solidFill>
                <a:latin typeface="Calibri" pitchFamily="34" charset="0"/>
                <a:ea typeface="Calibri" pitchFamily="34" charset="-122"/>
                <a:cs typeface="Calibri" pitchFamily="34" charset="-120"/>
              </a:rPr>
              <a:t> a split conformal threshold on exchangeable quiet scenarios gives a finite sample bound on the false alert probability at level alpha.</a:t>
            </a:r>
            <a:endParaRPr lang="en-US" sz="1100" dirty="0"/>
          </a:p>
          <a:p>
            <a:pPr marL="342900" indent="-342900">
              <a:lnSpc>
                <a:spcPct val="105000"/>
              </a:lnSpc>
              <a:spcAft>
                <a:spcPts val="500"/>
              </a:spcAft>
              <a:buSzPct val="100000"/>
              <a:buChar char="•"/>
            </a:pPr>
            <a:r>
              <a:rPr lang="en-US" sz="1100" b="1" dirty="0">
                <a:solidFill>
                  <a:srgbClr val="E4E9F2"/>
                </a:solidFill>
                <a:latin typeface="Calibri" pitchFamily="34" charset="0"/>
                <a:ea typeface="Calibri" pitchFamily="34" charset="-122"/>
                <a:cs typeface="Calibri" pitchFamily="34" charset="-120"/>
              </a:rPr>
              <a:t>Attribution and risk:</a:t>
            </a:r>
            <a:pPr indent="0" marL="0">
              <a:lnSpc>
                <a:spcPct val="105000"/>
              </a:lnSpc>
              <a:buNone/>
            </a:pPr>
            <a:r>
              <a:rPr lang="en-US" sz="1100" dirty="0">
                <a:solidFill>
                  <a:srgbClr val="E4E9F2"/>
                </a:solidFill>
                <a:latin typeface="Calibri" pitchFamily="34" charset="0"/>
                <a:ea typeface="Calibri" pitchFamily="34" charset="-122"/>
                <a:cs typeface="Calibri" pitchFamily="34" charset="-120"/>
              </a:rPr>
              <a:t> Shapley values over agent groups under common random numbers; Kaplan Meier and ridge Cox hazards for time to dislocation; VaR, expected shortfall and a generalised Pareto tail; sentinels from LSV imbalance, Hawkes branching, PCA absorption, Louvain communities and tail dependence.</a:t>
            </a:r>
            <a:endParaRPr lang="en-US" sz="1100" dirty="0"/>
          </a:p>
        </p:txBody>
      </p:sp>
      <p:sp>
        <p:nvSpPr>
          <p:cNvPr id="14" name="Shape 10"/>
          <p:cNvSpPr/>
          <p:nvPr/>
        </p:nvSpPr>
        <p:spPr>
          <a:xfrm>
            <a:off x="7680960" y="2103120"/>
            <a:ext cx="6400800" cy="2606040"/>
          </a:xfrm>
          <a:prstGeom prst="rect">
            <a:avLst/>
          </a:prstGeom>
          <a:solidFill>
            <a:srgbClr val="0B0F16"/>
          </a:solidFill>
          <a:ln w="9525">
            <a:solidFill>
              <a:srgbClr val="161E2A"/>
            </a:solidFill>
            <a:prstDash val="solid"/>
          </a:ln>
        </p:spPr>
      </p:sp>
      <p:sp>
        <p:nvSpPr>
          <p:cNvPr id="15" name="Shape 11"/>
          <p:cNvSpPr/>
          <p:nvPr/>
        </p:nvSpPr>
        <p:spPr>
          <a:xfrm>
            <a:off x="7680960" y="2103120"/>
            <a:ext cx="6400800" cy="384048"/>
          </a:xfrm>
          <a:prstGeom prst="rect">
            <a:avLst/>
          </a:prstGeom>
          <a:solidFill>
            <a:srgbClr val="10161F"/>
          </a:solidFill>
          <a:ln w="9525">
            <a:solidFill>
              <a:srgbClr val="161E2A"/>
            </a:solidFill>
            <a:prstDash val="solid"/>
          </a:ln>
        </p:spPr>
      </p:sp>
      <p:sp>
        <p:nvSpPr>
          <p:cNvPr id="16" name="Text 12"/>
          <p:cNvSpPr txBox="1"/>
          <p:nvPr/>
        </p:nvSpPr>
        <p:spPr>
          <a:xfrm>
            <a:off x="7808976" y="2103120"/>
            <a:ext cx="822960" cy="384048"/>
          </a:xfrm>
          <a:prstGeom prst="rect">
            <a:avLst/>
          </a:prstGeom>
          <a:noFill/>
          <a:ln/>
        </p:spPr>
        <p:txBody>
          <a:bodyPr wrap="square" lIns="0" tIns="0" rIns="0" bIns="0" rtlCol="0" anchor="ctr"/>
          <a:lstStyle/>
          <a:p>
            <a:pPr indent="0" marL="0">
              <a:buNone/>
            </a:pPr>
            <a:r>
              <a:rPr lang="en-US" sz="1100" b="1" spc="200" kern="0" dirty="0">
                <a:solidFill>
                  <a:srgbClr val="F6B52A"/>
                </a:solidFill>
                <a:latin typeface="Courier New" pitchFamily="34" charset="0"/>
                <a:ea typeface="Courier New" pitchFamily="34" charset="-122"/>
                <a:cs typeface="Courier New" pitchFamily="34" charset="-120"/>
              </a:rPr>
              <a:t>RSK</a:t>
            </a:r>
            <a:endParaRPr lang="en-US" sz="1100" dirty="0"/>
          </a:p>
        </p:txBody>
      </p:sp>
      <p:sp>
        <p:nvSpPr>
          <p:cNvPr id="17" name="Text 13"/>
          <p:cNvSpPr txBox="1"/>
          <p:nvPr/>
        </p:nvSpPr>
        <p:spPr>
          <a:xfrm>
            <a:off x="8549640" y="2103120"/>
            <a:ext cx="5394960" cy="384048"/>
          </a:xfrm>
          <a:prstGeom prst="rect">
            <a:avLst/>
          </a:prstGeom>
          <a:noFill/>
          <a:ln/>
        </p:spPr>
        <p:txBody>
          <a:bodyPr wrap="square" lIns="0" tIns="0" rIns="0" bIns="0" rtlCol="0" anchor="ctr"/>
          <a:lstStyle/>
          <a:p>
            <a:pPr indent="0" marL="0">
              <a:buNone/>
            </a:pPr>
            <a:r>
              <a:rPr lang="en-US" sz="1200" b="1" dirty="0">
                <a:solidFill>
                  <a:srgbClr val="E4E9F2"/>
                </a:solidFill>
                <a:latin typeface="Calibri" pitchFamily="34" charset="0"/>
                <a:ea typeface="Calibri" pitchFamily="34" charset="-122"/>
                <a:cs typeface="Calibri" pitchFamily="34" charset="-120"/>
              </a:rPr>
              <a:t>Methodology</a:t>
            </a:r>
            <a:endParaRPr lang="en-US" sz="1200" dirty="0"/>
          </a:p>
        </p:txBody>
      </p:sp>
      <p:sp>
        <p:nvSpPr>
          <p:cNvPr id="18" name="Text 14"/>
          <p:cNvSpPr txBox="1"/>
          <p:nvPr/>
        </p:nvSpPr>
        <p:spPr>
          <a:xfrm>
            <a:off x="7909560" y="2651760"/>
            <a:ext cx="5943600" cy="196596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250" dirty="0">
                <a:solidFill>
                  <a:srgbClr val="E4E9F2"/>
                </a:solidFill>
                <a:latin typeface="Calibri" pitchFamily="34" charset="0"/>
                <a:ea typeface="Calibri" pitchFamily="34" charset="-122"/>
                <a:cs typeface="Calibri" pitchFamily="34" charset="-120"/>
              </a:rPr>
              <a:t>Decision first validation: score tools on identifying the destabilising agents, not on look alike statistics; report the decision gap with a bootstrap probability of inversion.</a:t>
            </a:r>
            <a:endParaRPr lang="en-US" sz="1250" dirty="0"/>
          </a:p>
          <a:p>
            <a:pPr marL="342900" indent="-342900">
              <a:lnSpc>
                <a:spcPct val="105000"/>
              </a:lnSpc>
              <a:spcAft>
                <a:spcPts val="600"/>
              </a:spcAft>
              <a:buSzPct val="100000"/>
              <a:buChar char="•"/>
            </a:pPr>
            <a:r>
              <a:rPr lang="en-US" sz="1250" dirty="0">
                <a:solidFill>
                  <a:srgbClr val="E4E9F2"/>
                </a:solidFill>
                <a:latin typeface="Calibri" pitchFamily="34" charset="0"/>
                <a:ea typeface="Calibri" pitchFamily="34" charset="-122"/>
                <a:cs typeface="Calibri" pitchFamily="34" charset="-120"/>
              </a:rPr>
              <a:t>Certify by a conformal false alert guarantee; state winner stability and walk forward regret, so the procedure is what is certified.</a:t>
            </a:r>
            <a:endParaRPr lang="en-US" sz="1250" dirty="0"/>
          </a:p>
          <a:p>
            <a:pPr marL="342900" indent="-342900">
              <a:lnSpc>
                <a:spcPct val="105000"/>
              </a:lnSpc>
              <a:spcAft>
                <a:spcPts val="600"/>
              </a:spcAft>
              <a:buSzPct val="100000"/>
              <a:buChar char="•"/>
            </a:pPr>
            <a:r>
              <a:rPr lang="en-US" sz="1250" dirty="0">
                <a:solidFill>
                  <a:srgbClr val="E4E9F2"/>
                </a:solidFill>
                <a:latin typeface="Calibri" pitchFamily="34" charset="0"/>
                <a:ea typeface="Calibri" pitchFamily="34" charset="-122"/>
                <a:cs typeface="Calibri" pitchFamily="34" charset="-120"/>
              </a:rPr>
              <a:t>Attribution, truth dependence, dose response, tail risk, survival, a matrix game against the evader, and a regulatory options appraisal with human oversight classes.</a:t>
            </a:r>
            <a:endParaRPr lang="en-US" sz="1250" dirty="0"/>
          </a:p>
        </p:txBody>
      </p:sp>
      <p:sp>
        <p:nvSpPr>
          <p:cNvPr id="19" name="Shape 15"/>
          <p:cNvSpPr/>
          <p:nvPr/>
        </p:nvSpPr>
        <p:spPr>
          <a:xfrm>
            <a:off x="7680960" y="4937760"/>
            <a:ext cx="6400800" cy="2514600"/>
          </a:xfrm>
          <a:prstGeom prst="rect">
            <a:avLst/>
          </a:prstGeom>
          <a:solidFill>
            <a:srgbClr val="0B0F16"/>
          </a:solidFill>
          <a:ln w="9525">
            <a:solidFill>
              <a:srgbClr val="161E2A"/>
            </a:solidFill>
            <a:prstDash val="solid"/>
          </a:ln>
        </p:spPr>
      </p:sp>
      <p:sp>
        <p:nvSpPr>
          <p:cNvPr id="20" name="Shape 16"/>
          <p:cNvSpPr/>
          <p:nvPr/>
        </p:nvSpPr>
        <p:spPr>
          <a:xfrm>
            <a:off x="7680960" y="4937760"/>
            <a:ext cx="6400800" cy="384048"/>
          </a:xfrm>
          <a:prstGeom prst="rect">
            <a:avLst/>
          </a:prstGeom>
          <a:solidFill>
            <a:srgbClr val="10161F"/>
          </a:solidFill>
          <a:ln w="9525">
            <a:solidFill>
              <a:srgbClr val="161E2A"/>
            </a:solidFill>
            <a:prstDash val="solid"/>
          </a:ln>
        </p:spPr>
      </p:sp>
      <p:sp>
        <p:nvSpPr>
          <p:cNvPr id="21" name="Text 17"/>
          <p:cNvSpPr txBox="1"/>
          <p:nvPr/>
        </p:nvSpPr>
        <p:spPr>
          <a:xfrm>
            <a:off x="7808976" y="4937760"/>
            <a:ext cx="822960" cy="384048"/>
          </a:xfrm>
          <a:prstGeom prst="rect">
            <a:avLst/>
          </a:prstGeom>
          <a:noFill/>
          <a:ln/>
        </p:spPr>
        <p:txBody>
          <a:bodyPr wrap="square" lIns="0" tIns="0" rIns="0" bIns="0" rtlCol="0" anchor="ctr"/>
          <a:lstStyle/>
          <a:p>
            <a:pPr indent="0" marL="0">
              <a:buNone/>
            </a:pPr>
            <a:r>
              <a:rPr lang="en-US" sz="1100" b="1" spc="200" kern="0" dirty="0">
                <a:solidFill>
                  <a:srgbClr val="F6B52A"/>
                </a:solidFill>
                <a:latin typeface="Courier New" pitchFamily="34" charset="0"/>
                <a:ea typeface="Courier New" pitchFamily="34" charset="-122"/>
                <a:cs typeface="Courier New" pitchFamily="34" charset="-120"/>
              </a:rPr>
              <a:t>DAT</a:t>
            </a:r>
            <a:endParaRPr lang="en-US" sz="1100" dirty="0"/>
          </a:p>
        </p:txBody>
      </p:sp>
      <p:sp>
        <p:nvSpPr>
          <p:cNvPr id="22" name="Text 18"/>
          <p:cNvSpPr txBox="1"/>
          <p:nvPr/>
        </p:nvSpPr>
        <p:spPr>
          <a:xfrm>
            <a:off x="8549640" y="4937760"/>
            <a:ext cx="5394960" cy="384048"/>
          </a:xfrm>
          <a:prstGeom prst="rect">
            <a:avLst/>
          </a:prstGeom>
          <a:noFill/>
          <a:ln/>
        </p:spPr>
        <p:txBody>
          <a:bodyPr wrap="square" lIns="0" tIns="0" rIns="0" bIns="0" rtlCol="0" anchor="ctr"/>
          <a:lstStyle/>
          <a:p>
            <a:pPr indent="0" marL="0">
              <a:buNone/>
            </a:pPr>
            <a:r>
              <a:rPr lang="en-US" sz="1200" b="1" dirty="0">
                <a:solidFill>
                  <a:srgbClr val="E4E9F2"/>
                </a:solidFill>
                <a:latin typeface="Calibri" pitchFamily="34" charset="0"/>
                <a:ea typeface="Calibri" pitchFamily="34" charset="-122"/>
                <a:cs typeface="Calibri" pitchFamily="34" charset="-120"/>
              </a:rPr>
              <a:t>Tools and data</a:t>
            </a:r>
            <a:endParaRPr lang="en-US" sz="1200" dirty="0"/>
          </a:p>
        </p:txBody>
      </p:sp>
      <p:sp>
        <p:nvSpPr>
          <p:cNvPr id="23" name="Text 19"/>
          <p:cNvSpPr txBox="1"/>
          <p:nvPr/>
        </p:nvSpPr>
        <p:spPr>
          <a:xfrm>
            <a:off x="7909560" y="5486400"/>
            <a:ext cx="5943600" cy="187452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250" dirty="0">
                <a:solidFill>
                  <a:srgbClr val="E4E9F2"/>
                </a:solidFill>
                <a:latin typeface="Calibri" pitchFamily="34" charset="0"/>
                <a:ea typeface="Calibri" pitchFamily="34" charset="-122"/>
                <a:cs typeface="Calibri" pitchFamily="34" charset="-120"/>
              </a:rPr>
              <a:t>Pure Python simulator and terminal; conformal prediction; SHA-256 and HMAC signed ledger; asset manifest.</a:t>
            </a:r>
            <a:endParaRPr lang="en-US" sz="1250" dirty="0"/>
          </a:p>
          <a:p>
            <a:pPr marL="342900" indent="-342900">
              <a:lnSpc>
                <a:spcPct val="105000"/>
              </a:lnSpc>
              <a:spcAft>
                <a:spcPts val="600"/>
              </a:spcAft>
              <a:buSzPct val="100000"/>
              <a:buChar char="•"/>
            </a:pPr>
            <a:r>
              <a:rPr lang="en-US" sz="1250" dirty="0">
                <a:solidFill>
                  <a:srgbClr val="E4E9F2"/>
                </a:solidFill>
                <a:latin typeface="Calibri" pitchFamily="34" charset="0"/>
                <a:ea typeface="Calibri" pitchFamily="34" charset="-122"/>
                <a:cs typeface="Calibri" pitchFamily="34" charset="-120"/>
              </a:rPr>
              <a:t>Observed data through quarantine or connectors (Bloomberg, LSEG, FRED, ECB, Bank of England) calibrates the simulator and drives hybrid markets and backtests; families and agents in a bounded declarative language.</a:t>
            </a:r>
            <a:endParaRPr lang="en-US" sz="1250" dirty="0"/>
          </a:p>
          <a:p>
            <a:pPr marL="342900" indent="-342900">
              <a:lnSpc>
                <a:spcPct val="105000"/>
              </a:lnSpc>
              <a:spcAft>
                <a:spcPts val="600"/>
              </a:spcAft>
              <a:buSzPct val="100000"/>
              <a:buChar char="•"/>
            </a:pPr>
            <a:r>
              <a:rPr lang="en-US" sz="1250" dirty="0">
                <a:solidFill>
                  <a:srgbClr val="E4E9F2"/>
                </a:solidFill>
                <a:latin typeface="Calibri" pitchFamily="34" charset="0"/>
                <a:ea typeface="Calibri" pitchFamily="34" charset="-122"/>
                <a:cs typeface="Calibri" pitchFamily="34" charset="-120"/>
              </a:rPr>
              <a:t>Any model or none: Anthropic, OpenAI compatible, Azure, Gemini, custom or local; every metric computed, never generated.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cdir.png">    </p:cNvPr>
          <p:cNvPicPr>
            <a:picLocks noChangeAspect="1"/>
          </p:cNvPicPr>
          <p:nvPr/>
        </p:nvPicPr>
        <p:blipFill>
          <a:blip r:embed="rId1"/>
          <a:stretch>
            <a:fillRect/>
          </a:stretch>
        </p:blipFill>
        <p:spPr>
          <a:xfrm>
            <a:off x="548640" y="384048"/>
            <a:ext cx="1737360" cy="434340"/>
          </a:xfrm>
          <a:prstGeom prst="rect">
            <a:avLst/>
          </a:prstGeom>
        </p:spPr>
      </p:pic>
      <p:pic>
        <p:nvPicPr>
          <p:cNvPr id="3" name="Image 1" descr="fii.png">    </p:cNvPr>
          <p:cNvPicPr>
            <a:picLocks noChangeAspect="1"/>
          </p:cNvPicPr>
          <p:nvPr/>
        </p:nvPicPr>
        <p:blipFill>
          <a:blip r:embed="rId2"/>
          <a:stretch>
            <a:fillRect/>
          </a:stretch>
        </p:blipFill>
        <p:spPr>
          <a:xfrm>
            <a:off x="11658600" y="347472"/>
            <a:ext cx="2423160" cy="822960"/>
          </a:xfrm>
          <a:prstGeom prst="rect">
            <a:avLst/>
          </a:prstGeom>
        </p:spPr>
      </p:pic>
      <p:sp>
        <p:nvSpPr>
          <p:cNvPr id="4" name="Text 0"/>
          <p:cNvSpPr txBox="1"/>
          <p:nvPr/>
        </p:nvSpPr>
        <p:spPr>
          <a:xfrm>
            <a:off x="548640" y="1234440"/>
            <a:ext cx="10058400" cy="640080"/>
          </a:xfrm>
          <a:prstGeom prst="rect">
            <a:avLst/>
          </a:prstGeom>
          <a:noFill/>
          <a:ln/>
        </p:spPr>
        <p:txBody>
          <a:bodyPr wrap="square" lIns="0" tIns="0" rIns="0" bIns="0" rtlCol="0" anchor="ctr"/>
          <a:lstStyle/>
          <a:p>
            <a:pPr indent="0" marL="0">
              <a:buNone/>
            </a:pPr>
            <a:r>
              <a:rPr lang="en-US" sz="3000" b="1" dirty="0">
                <a:solidFill>
                  <a:srgbClr val="0B0F16"/>
                </a:solidFill>
                <a:latin typeface="Calibri" pitchFamily="34" charset="0"/>
                <a:ea typeface="Calibri" pitchFamily="34" charset="-122"/>
                <a:cs typeface="Calibri" pitchFamily="34" charset="-120"/>
              </a:rPr>
              <a:t>Results and guardrails</a:t>
            </a:r>
            <a:endParaRPr lang="en-US" sz="3000" dirty="0"/>
          </a:p>
        </p:txBody>
      </p:sp>
      <p:sp>
        <p:nvSpPr>
          <p:cNvPr id="5" name="Text 1"/>
          <p:cNvSpPr txBox="1"/>
          <p:nvPr/>
        </p:nvSpPr>
        <p:spPr>
          <a:xfrm>
            <a:off x="548640" y="7635240"/>
            <a:ext cx="4572000" cy="320040"/>
          </a:xfrm>
          <a:prstGeom prst="rect">
            <a:avLst/>
          </a:prstGeom>
          <a:noFill/>
          <a:ln/>
        </p:spPr>
        <p:txBody>
          <a:bodyPr wrap="square" lIns="0" tIns="0" rIns="0" bIns="0" rtlCol="0" anchor="ctr"/>
          <a:lstStyle/>
          <a:p>
            <a:pPr indent="0" marL="0">
              <a:buNone/>
            </a:pPr>
            <a:r>
              <a:rPr lang="en-US" sz="1000" dirty="0">
                <a:solidFill>
                  <a:srgbClr val="5D6A80"/>
                </a:solidFill>
                <a:latin typeface="Calibri" pitchFamily="34" charset="0"/>
                <a:ea typeface="Calibri" pitchFamily="34" charset="-122"/>
                <a:cs typeface="Calibri" pitchFamily="34" charset="-120"/>
              </a:rPr>
              <a:t>No Human Intelligence</a:t>
            </a:r>
            <a:endParaRPr lang="en-US" sz="1000" dirty="0"/>
          </a:p>
        </p:txBody>
      </p:sp>
      <p:sp>
        <p:nvSpPr>
          <p:cNvPr id="6" name="Text 2"/>
          <p:cNvSpPr txBox="1"/>
          <p:nvPr/>
        </p:nvSpPr>
        <p:spPr>
          <a:xfrm>
            <a:off x="13167360" y="7635240"/>
            <a:ext cx="914400" cy="320040"/>
          </a:xfrm>
          <a:prstGeom prst="rect">
            <a:avLst/>
          </a:prstGeom>
          <a:noFill/>
          <a:ln/>
        </p:spPr>
        <p:txBody>
          <a:bodyPr wrap="square" lIns="0" tIns="0" rIns="0" bIns="0" rtlCol="0" anchor="ctr"/>
          <a:lstStyle/>
          <a:p>
            <a:pPr algn="r" indent="0" marL="0">
              <a:buNone/>
            </a:pPr>
            <a:r>
              <a:rPr lang="en-US" sz="1000" dirty="0">
                <a:solidFill>
                  <a:srgbClr val="5D6A80"/>
                </a:solidFill>
                <a:latin typeface="Courier New" pitchFamily="34" charset="0"/>
                <a:ea typeface="Courier New" pitchFamily="34" charset="-122"/>
                <a:cs typeface="Courier New" pitchFamily="34" charset="-120"/>
              </a:rPr>
              <a:t>5</a:t>
            </a:r>
            <a:endParaRPr lang="en-US" sz="1000" dirty="0"/>
          </a:p>
        </p:txBody>
      </p:sp>
      <p:sp>
        <p:nvSpPr>
          <p:cNvPr id="7" name="Shape 3"/>
          <p:cNvSpPr/>
          <p:nvPr/>
        </p:nvSpPr>
        <p:spPr>
          <a:xfrm>
            <a:off x="548640" y="2103120"/>
            <a:ext cx="6400800" cy="2606040"/>
          </a:xfrm>
          <a:prstGeom prst="rect">
            <a:avLst/>
          </a:prstGeom>
          <a:solidFill>
            <a:srgbClr val="F3F5F9"/>
          </a:solidFill>
          <a:ln w="9525">
            <a:solidFill>
              <a:srgbClr val="D9DEE8"/>
            </a:solidFill>
            <a:prstDash val="solid"/>
          </a:ln>
        </p:spPr>
      </p:sp>
      <p:sp>
        <p:nvSpPr>
          <p:cNvPr id="8" name="Shape 4"/>
          <p:cNvSpPr/>
          <p:nvPr/>
        </p:nvSpPr>
        <p:spPr>
          <a:xfrm>
            <a:off x="777240" y="2286000"/>
            <a:ext cx="310896" cy="310896"/>
          </a:xfrm>
          <a:prstGeom prst="rect">
            <a:avLst/>
          </a:prstGeom>
          <a:solidFill>
            <a:srgbClr val="F6B52A"/>
          </a:solidFill>
          <a:ln w="12700">
            <a:solidFill>
              <a:srgbClr val="F6B52A"/>
            </a:solidFill>
            <a:prstDash val="solid"/>
          </a:ln>
        </p:spPr>
      </p:sp>
      <p:sp>
        <p:nvSpPr>
          <p:cNvPr id="9" name="Text 5"/>
          <p:cNvSpPr txBox="1"/>
          <p:nvPr/>
        </p:nvSpPr>
        <p:spPr>
          <a:xfrm>
            <a:off x="777240" y="2286000"/>
            <a:ext cx="310896" cy="310896"/>
          </a:xfrm>
          <a:prstGeom prst="rect">
            <a:avLst/>
          </a:prstGeom>
          <a:noFill/>
          <a:ln/>
        </p:spPr>
        <p:txBody>
          <a:bodyPr wrap="square" lIns="0" tIns="0" rIns="0" bIns="0" rtlCol="0" anchor="ctr"/>
          <a:lstStyle/>
          <a:p>
            <a:pPr algn="ctr" indent="0" marL="0">
              <a:buNone/>
            </a:pPr>
            <a:r>
              <a:rPr lang="en-US" sz="1100" b="1" dirty="0">
                <a:solidFill>
                  <a:srgbClr val="0B0F16"/>
                </a:solidFill>
                <a:latin typeface="Courier New" pitchFamily="34" charset="0"/>
                <a:ea typeface="Courier New" pitchFamily="34" charset="-122"/>
                <a:cs typeface="Courier New" pitchFamily="34" charset="-120"/>
              </a:rPr>
              <a:t>O</a:t>
            </a:r>
            <a:endParaRPr lang="en-US" sz="1100" dirty="0"/>
          </a:p>
        </p:txBody>
      </p:sp>
      <p:sp>
        <p:nvSpPr>
          <p:cNvPr id="10" name="Shape 6"/>
          <p:cNvSpPr/>
          <p:nvPr/>
        </p:nvSpPr>
        <p:spPr>
          <a:xfrm>
            <a:off x="1088136" y="2286000"/>
            <a:ext cx="1417320" cy="310896"/>
          </a:xfrm>
          <a:prstGeom prst="rect">
            <a:avLst/>
          </a:prstGeom>
          <a:solidFill>
            <a:srgbClr val="0B0F16"/>
          </a:solidFill>
          <a:ln w="12700">
            <a:solidFill>
              <a:srgbClr val="0B0F16"/>
            </a:solidFill>
            <a:prstDash val="solid"/>
          </a:ln>
        </p:spPr>
      </p:sp>
      <p:sp>
        <p:nvSpPr>
          <p:cNvPr id="11" name="Text 7"/>
          <p:cNvSpPr txBox="1"/>
          <p:nvPr/>
        </p:nvSpPr>
        <p:spPr>
          <a:xfrm>
            <a:off x="1088136" y="2286000"/>
            <a:ext cx="1417320" cy="310896"/>
          </a:xfrm>
          <a:prstGeom prst="rect">
            <a:avLst/>
          </a:prstGeom>
          <a:noFill/>
          <a:ln/>
        </p:spPr>
        <p:txBody>
          <a:bodyPr wrap="square" lIns="0" tIns="0" rIns="0" bIns="0" rtlCol="0" anchor="ctr"/>
          <a:lstStyle/>
          <a:p>
            <a:pPr algn="ctr" indent="0" marL="0">
              <a:buNone/>
            </a:pPr>
            <a:r>
              <a:rPr lang="en-US" sz="1100" b="1" spc="200" kern="0" dirty="0">
                <a:solidFill>
                  <a:srgbClr val="F6B52A"/>
                </a:solidFill>
                <a:latin typeface="Courier New" pitchFamily="34" charset="0"/>
                <a:ea typeface="Courier New" pitchFamily="34" charset="-122"/>
                <a:cs typeface="Courier New" pitchFamily="34" charset="-120"/>
              </a:rPr>
              <a:t>OUTCOMES</a:t>
            </a:r>
            <a:endParaRPr lang="en-US" sz="1100" dirty="0"/>
          </a:p>
        </p:txBody>
      </p:sp>
      <p:sp>
        <p:nvSpPr>
          <p:cNvPr id="12" name="Text 8"/>
          <p:cNvSpPr txBox="1"/>
          <p:nvPr/>
        </p:nvSpPr>
        <p:spPr>
          <a:xfrm>
            <a:off x="2697480" y="2240280"/>
            <a:ext cx="4069080" cy="237744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100" dirty="0">
                <a:solidFill>
                  <a:srgbClr val="0B0F16"/>
                </a:solidFill>
                <a:latin typeface="Calibri" pitchFamily="34" charset="0"/>
                <a:ea typeface="Calibri" pitchFamily="34" charset="-122"/>
                <a:cs typeface="Calibri" pitchFamily="34" charset="-120"/>
              </a:rPr>
              <a:t>The decision gap is real: the volatility trigger tops the fidelity ranking (1.00) and scores 0.25 on the decision; the rankings invert in 90% of resamples.</a:t>
            </a:r>
            <a:endParaRPr lang="en-US" sz="1100" dirty="0"/>
          </a:p>
          <a:p>
            <a:pPr marL="342900" indent="-342900">
              <a:lnSpc>
                <a:spcPct val="105000"/>
              </a:lnSpc>
              <a:spcAft>
                <a:spcPts val="500"/>
              </a:spcAft>
              <a:buSzPct val="100000"/>
              <a:buChar char="•"/>
            </a:pPr>
            <a:r>
              <a:rPr lang="en-US" sz="1100" dirty="0">
                <a:solidFill>
                  <a:srgbClr val="0B0F16"/>
                </a:solidFill>
                <a:latin typeface="Calibri" pitchFamily="34" charset="0"/>
                <a:ea typeface="Calibri" pitchFamily="34" charset="-122"/>
                <a:cs typeface="Calibri" pitchFamily="34" charset="-120"/>
              </a:rPr>
              <a:t>Tail dependence is conformally certified at level 0.25 given 8 calibration scenarios (decision F1 0.68); it tops the decision ranking in 98% of resamples but is the within budget pick in only 57%.</a:t>
            </a:r>
            <a:endParaRPr lang="en-US" sz="1100" dirty="0"/>
          </a:p>
          <a:p>
            <a:pPr marL="342900" indent="-342900">
              <a:lnSpc>
                <a:spcPct val="105000"/>
              </a:lnSpc>
              <a:spcAft>
                <a:spcPts val="500"/>
              </a:spcAft>
              <a:buSzPct val="100000"/>
              <a:buChar char="•"/>
            </a:pPr>
            <a:r>
              <a:rPr lang="en-US" sz="1100" dirty="0">
                <a:solidFill>
                  <a:srgbClr val="0B0F16"/>
                </a:solidFill>
                <a:latin typeface="Calibri" pitchFamily="34" charset="0"/>
                <a:ea typeface="Calibri" pitchFamily="34" charset="-122"/>
                <a:cs typeface="Calibri" pitchFamily="34" charset="-120"/>
              </a:rPr>
              <a:t>The red team drives the certified tool to F1 0.00 in every dislocating trial; on a faulty vendor model the market wide breaker contains 0.46, the targeted kill switch 0.25.</a:t>
            </a:r>
            <a:endParaRPr lang="en-US" sz="1100" dirty="0"/>
          </a:p>
        </p:txBody>
      </p:sp>
      <p:sp>
        <p:nvSpPr>
          <p:cNvPr id="13" name="Shape 9"/>
          <p:cNvSpPr/>
          <p:nvPr/>
        </p:nvSpPr>
        <p:spPr>
          <a:xfrm>
            <a:off x="548640" y="4892040"/>
            <a:ext cx="6400800" cy="2560320"/>
          </a:xfrm>
          <a:prstGeom prst="rect">
            <a:avLst/>
          </a:prstGeom>
          <a:solidFill>
            <a:srgbClr val="F3F5F9"/>
          </a:solidFill>
          <a:ln w="9525">
            <a:solidFill>
              <a:srgbClr val="D9DEE8"/>
            </a:solidFill>
            <a:prstDash val="solid"/>
          </a:ln>
        </p:spPr>
      </p:sp>
      <p:sp>
        <p:nvSpPr>
          <p:cNvPr id="14" name="Shape 10"/>
          <p:cNvSpPr/>
          <p:nvPr/>
        </p:nvSpPr>
        <p:spPr>
          <a:xfrm>
            <a:off x="777240" y="5074920"/>
            <a:ext cx="310896" cy="310896"/>
          </a:xfrm>
          <a:prstGeom prst="rect">
            <a:avLst/>
          </a:prstGeom>
          <a:solidFill>
            <a:srgbClr val="F6B52A"/>
          </a:solidFill>
          <a:ln w="12700">
            <a:solidFill>
              <a:srgbClr val="F6B52A"/>
            </a:solidFill>
            <a:prstDash val="solid"/>
          </a:ln>
        </p:spPr>
      </p:sp>
      <p:sp>
        <p:nvSpPr>
          <p:cNvPr id="15" name="Text 11"/>
          <p:cNvSpPr txBox="1"/>
          <p:nvPr/>
        </p:nvSpPr>
        <p:spPr>
          <a:xfrm>
            <a:off x="777240" y="5074920"/>
            <a:ext cx="310896" cy="310896"/>
          </a:xfrm>
          <a:prstGeom prst="rect">
            <a:avLst/>
          </a:prstGeom>
          <a:noFill/>
          <a:ln/>
        </p:spPr>
        <p:txBody>
          <a:bodyPr wrap="square" lIns="0" tIns="0" rIns="0" bIns="0" rtlCol="0" anchor="ctr"/>
          <a:lstStyle/>
          <a:p>
            <a:pPr algn="ctr" indent="0" marL="0">
              <a:buNone/>
            </a:pPr>
            <a:r>
              <a:rPr lang="en-US" sz="1100" b="1" dirty="0">
                <a:solidFill>
                  <a:srgbClr val="0B0F16"/>
                </a:solidFill>
                <a:latin typeface="Courier New" pitchFamily="34" charset="0"/>
                <a:ea typeface="Courier New" pitchFamily="34" charset="-122"/>
                <a:cs typeface="Courier New" pitchFamily="34" charset="-120"/>
              </a:rPr>
              <a:t>R</a:t>
            </a:r>
            <a:endParaRPr lang="en-US" sz="1100" dirty="0"/>
          </a:p>
        </p:txBody>
      </p:sp>
      <p:sp>
        <p:nvSpPr>
          <p:cNvPr id="16" name="Shape 12"/>
          <p:cNvSpPr/>
          <p:nvPr/>
        </p:nvSpPr>
        <p:spPr>
          <a:xfrm>
            <a:off x="1088136" y="5074920"/>
            <a:ext cx="1417320" cy="310896"/>
          </a:xfrm>
          <a:prstGeom prst="rect">
            <a:avLst/>
          </a:prstGeom>
          <a:solidFill>
            <a:srgbClr val="0B0F16"/>
          </a:solidFill>
          <a:ln w="12700">
            <a:solidFill>
              <a:srgbClr val="0B0F16"/>
            </a:solidFill>
            <a:prstDash val="solid"/>
          </a:ln>
        </p:spPr>
      </p:sp>
      <p:sp>
        <p:nvSpPr>
          <p:cNvPr id="17" name="Text 13"/>
          <p:cNvSpPr txBox="1"/>
          <p:nvPr/>
        </p:nvSpPr>
        <p:spPr>
          <a:xfrm>
            <a:off x="1088136" y="5074920"/>
            <a:ext cx="1417320" cy="310896"/>
          </a:xfrm>
          <a:prstGeom prst="rect">
            <a:avLst/>
          </a:prstGeom>
          <a:noFill/>
          <a:ln/>
        </p:spPr>
        <p:txBody>
          <a:bodyPr wrap="square" lIns="0" tIns="0" rIns="0" bIns="0" rtlCol="0" anchor="ctr"/>
          <a:lstStyle/>
          <a:p>
            <a:pPr algn="ctr" indent="0" marL="0">
              <a:buNone/>
            </a:pPr>
            <a:r>
              <a:rPr lang="en-US" sz="1100" b="1" spc="200" kern="0" dirty="0">
                <a:solidFill>
                  <a:srgbClr val="F6B52A"/>
                </a:solidFill>
                <a:latin typeface="Courier New" pitchFamily="34" charset="0"/>
                <a:ea typeface="Courier New" pitchFamily="34" charset="-122"/>
                <a:cs typeface="Courier New" pitchFamily="34" charset="-120"/>
              </a:rPr>
              <a:t>RISKS</a:t>
            </a:r>
            <a:endParaRPr lang="en-US" sz="1100" dirty="0"/>
          </a:p>
        </p:txBody>
      </p:sp>
      <p:sp>
        <p:nvSpPr>
          <p:cNvPr id="18" name="Text 14"/>
          <p:cNvSpPr txBox="1"/>
          <p:nvPr/>
        </p:nvSpPr>
        <p:spPr>
          <a:xfrm>
            <a:off x="2697480" y="5029200"/>
            <a:ext cx="4069080" cy="233172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100" dirty="0">
                <a:solidFill>
                  <a:srgbClr val="0B0F16"/>
                </a:solidFill>
                <a:latin typeface="Calibri" pitchFamily="34" charset="0"/>
                <a:ea typeface="Calibri" pitchFamily="34" charset="-122"/>
                <a:cs typeface="Calibri" pitchFamily="34" charset="-120"/>
              </a:rPr>
              <a:t>Sim to real gap: calibrate the simulator from the authority's data, run hybrid markets on the observed path, report the calibration shift (0.47, rank one not preserved) and rankings, never forecasts.</a:t>
            </a:r>
            <a:endParaRPr lang="en-US" sz="1100" dirty="0"/>
          </a:p>
          <a:p>
            <a:pPr marL="342900" indent="-342900">
              <a:lnSpc>
                <a:spcPct val="105000"/>
              </a:lnSpc>
              <a:spcAft>
                <a:spcPts val="500"/>
              </a:spcAft>
              <a:buSzPct val="100000"/>
              <a:buChar char="•"/>
            </a:pPr>
            <a:r>
              <a:rPr lang="en-US" sz="1100" dirty="0">
                <a:solidFill>
                  <a:srgbClr val="0B0F16"/>
                </a:solidFill>
                <a:latin typeface="Calibri" pitchFamily="34" charset="0"/>
                <a:ea typeface="Calibri" pitchFamily="34" charset="-122"/>
                <a:cs typeface="Calibri" pitchFamily="34" charset="-120"/>
              </a:rPr>
              <a:t>Goodharting and overreliance: held out families, a truth dependence audit under four generators, walk forward regret 0.27, evidence grades and limitations on every figure.</a:t>
            </a:r>
            <a:endParaRPr lang="en-US" sz="1100" dirty="0"/>
          </a:p>
        </p:txBody>
      </p:sp>
      <p:sp>
        <p:nvSpPr>
          <p:cNvPr id="19" name="Shape 15"/>
          <p:cNvSpPr/>
          <p:nvPr/>
        </p:nvSpPr>
        <p:spPr>
          <a:xfrm>
            <a:off x="7132320" y="2103120"/>
            <a:ext cx="6949440" cy="5349240"/>
          </a:xfrm>
          <a:prstGeom prst="rect">
            <a:avLst/>
          </a:prstGeom>
          <a:solidFill>
            <a:srgbClr val="F3F5F9"/>
          </a:solidFill>
          <a:ln w="9525">
            <a:solidFill>
              <a:srgbClr val="D9DEE8"/>
            </a:solidFill>
            <a:prstDash val="solid"/>
          </a:ln>
        </p:spPr>
      </p:sp>
      <p:sp>
        <p:nvSpPr>
          <p:cNvPr id="20" name="Shape 16"/>
          <p:cNvSpPr/>
          <p:nvPr/>
        </p:nvSpPr>
        <p:spPr>
          <a:xfrm>
            <a:off x="7360920" y="2286000"/>
            <a:ext cx="310896" cy="310896"/>
          </a:xfrm>
          <a:prstGeom prst="rect">
            <a:avLst/>
          </a:prstGeom>
          <a:solidFill>
            <a:srgbClr val="F6B52A"/>
          </a:solidFill>
          <a:ln w="12700">
            <a:solidFill>
              <a:srgbClr val="F6B52A"/>
            </a:solidFill>
            <a:prstDash val="solid"/>
          </a:ln>
        </p:spPr>
      </p:sp>
      <p:sp>
        <p:nvSpPr>
          <p:cNvPr id="21" name="Text 17"/>
          <p:cNvSpPr txBox="1"/>
          <p:nvPr/>
        </p:nvSpPr>
        <p:spPr>
          <a:xfrm>
            <a:off x="7360920" y="2286000"/>
            <a:ext cx="310896" cy="310896"/>
          </a:xfrm>
          <a:prstGeom prst="rect">
            <a:avLst/>
          </a:prstGeom>
          <a:noFill/>
          <a:ln/>
        </p:spPr>
        <p:txBody>
          <a:bodyPr wrap="square" lIns="0" tIns="0" rIns="0" bIns="0" rtlCol="0" anchor="ctr"/>
          <a:lstStyle/>
          <a:p>
            <a:pPr algn="ctr" indent="0" marL="0">
              <a:buNone/>
            </a:pPr>
            <a:r>
              <a:rPr lang="en-US" sz="1100" b="1" dirty="0">
                <a:solidFill>
                  <a:srgbClr val="0B0F16"/>
                </a:solidFill>
                <a:latin typeface="Courier New" pitchFamily="34" charset="0"/>
                <a:ea typeface="Courier New" pitchFamily="34" charset="-122"/>
                <a:cs typeface="Courier New" pitchFamily="34" charset="-120"/>
              </a:rPr>
              <a:t>G</a:t>
            </a:r>
            <a:endParaRPr lang="en-US" sz="1100" dirty="0"/>
          </a:p>
        </p:txBody>
      </p:sp>
      <p:sp>
        <p:nvSpPr>
          <p:cNvPr id="22" name="Shape 18"/>
          <p:cNvSpPr/>
          <p:nvPr/>
        </p:nvSpPr>
        <p:spPr>
          <a:xfrm>
            <a:off x="7671816" y="2286000"/>
            <a:ext cx="1417320" cy="310896"/>
          </a:xfrm>
          <a:prstGeom prst="rect">
            <a:avLst/>
          </a:prstGeom>
          <a:solidFill>
            <a:srgbClr val="0B0F16"/>
          </a:solidFill>
          <a:ln w="12700">
            <a:solidFill>
              <a:srgbClr val="0B0F16"/>
            </a:solidFill>
            <a:prstDash val="solid"/>
          </a:ln>
        </p:spPr>
      </p:sp>
      <p:sp>
        <p:nvSpPr>
          <p:cNvPr id="23" name="Text 19"/>
          <p:cNvSpPr txBox="1"/>
          <p:nvPr/>
        </p:nvSpPr>
        <p:spPr>
          <a:xfrm>
            <a:off x="7671816" y="2286000"/>
            <a:ext cx="1417320" cy="310896"/>
          </a:xfrm>
          <a:prstGeom prst="rect">
            <a:avLst/>
          </a:prstGeom>
          <a:noFill/>
          <a:ln/>
        </p:spPr>
        <p:txBody>
          <a:bodyPr wrap="square" lIns="0" tIns="0" rIns="0" bIns="0" rtlCol="0" anchor="ctr"/>
          <a:lstStyle/>
          <a:p>
            <a:pPr algn="ctr" indent="0" marL="0">
              <a:buNone/>
            </a:pPr>
            <a:r>
              <a:rPr lang="en-US" sz="1100" b="1" spc="200" kern="0" dirty="0">
                <a:solidFill>
                  <a:srgbClr val="F6B52A"/>
                </a:solidFill>
                <a:latin typeface="Courier New" pitchFamily="34" charset="0"/>
                <a:ea typeface="Courier New" pitchFamily="34" charset="-122"/>
                <a:cs typeface="Courier New" pitchFamily="34" charset="-120"/>
              </a:rPr>
              <a:t>GOVERNANCE</a:t>
            </a:r>
            <a:endParaRPr lang="en-US" sz="1100" dirty="0"/>
          </a:p>
        </p:txBody>
      </p:sp>
      <p:sp>
        <p:nvSpPr>
          <p:cNvPr id="24" name="Text 20"/>
          <p:cNvSpPr txBox="1"/>
          <p:nvPr/>
        </p:nvSpPr>
        <p:spPr>
          <a:xfrm>
            <a:off x="9144000" y="2258568"/>
            <a:ext cx="4754880" cy="365760"/>
          </a:xfrm>
          <a:prstGeom prst="rect">
            <a:avLst/>
          </a:prstGeom>
          <a:noFill/>
          <a:ln/>
        </p:spPr>
        <p:txBody>
          <a:bodyPr wrap="square" lIns="0" tIns="0" rIns="0" bIns="0" rtlCol="0" anchor="ctr"/>
          <a:lstStyle/>
          <a:p>
            <a:pPr indent="0" marL="0">
              <a:buNone/>
            </a:pPr>
            <a:r>
              <a:rPr lang="en-US" sz="1200" b="1" dirty="0">
                <a:solidFill>
                  <a:srgbClr val="0B0F16"/>
                </a:solidFill>
                <a:latin typeface="Calibri" pitchFamily="34" charset="0"/>
                <a:ea typeface="Calibri" pitchFamily="34" charset="-122"/>
                <a:cs typeface="Calibri" pitchFamily="34" charset="-120"/>
              </a:rPr>
              <a:t>The four mandated controls, implemented and demonstrated</a:t>
            </a:r>
            <a:endParaRPr lang="en-US" sz="1200" dirty="0"/>
          </a:p>
        </p:txBody>
      </p:sp>
      <p:sp>
        <p:nvSpPr>
          <p:cNvPr id="25" name="Text 21"/>
          <p:cNvSpPr txBox="1"/>
          <p:nvPr/>
        </p:nvSpPr>
        <p:spPr>
          <a:xfrm>
            <a:off x="7360920" y="2743200"/>
            <a:ext cx="6492240" cy="1170432"/>
          </a:xfrm>
          <a:prstGeom prst="rect">
            <a:avLst/>
          </a:prstGeom>
          <a:noFill/>
          <a:ln/>
        </p:spPr>
        <p:txBody>
          <a:bodyPr wrap="square" lIns="0" tIns="0" rIns="0" bIns="0" rtlCol="0" anchor="t"/>
          <a:lstStyle/>
          <a:p>
            <a:pPr indent="0" marL="0">
              <a:lnSpc>
                <a:spcPct val="100000"/>
              </a:lnSpc>
              <a:spcAft>
                <a:spcPts val="200"/>
              </a:spcAft>
              <a:buNone/>
            </a:pPr>
            <a:r>
              <a:rPr lang="en-US" sz="1150" b="1" dirty="0">
                <a:solidFill>
                  <a:srgbClr val="0B0F16"/>
                </a:solidFill>
                <a:latin typeface="Calibri" pitchFamily="34" charset="0"/>
                <a:ea typeface="Calibri" pitchFamily="34" charset="-122"/>
                <a:cs typeface="Calibri" pitchFamily="34" charset="-120"/>
              </a:rPr>
              <a:t>Human in the loop</a:t>
            </a:r>
            <a:endParaRPr lang="en-US" sz="1150" dirty="0"/>
          </a:p>
          <a:p>
            <a:pPr indent="0" marL="0">
              <a:lnSpc>
                <a:spcPct val="100000"/>
              </a:lnSpc>
              <a:spcAft>
                <a:spcPts val="200"/>
              </a:spcAft>
              <a:buNone/>
            </a:pPr>
            <a:r>
              <a:rPr lang="en-US" sz="1000" dirty="0">
                <a:solidFill>
                  <a:srgbClr val="0B0F16"/>
                </a:solidFill>
                <a:latin typeface="Calibri" pitchFamily="34" charset="0"/>
                <a:ea typeface="Calibri" pitchFamily="34" charset="-122"/>
                <a:cs typeface="Calibri" pitchFamily="34" charset="-120"/>
              </a:rPr>
              <a:t>Two mandatory gates: the approver signs off the battery by hash, then releases the briefing, or refuses with a recorded reason. The approver must be on the register of regulated persons (active SMF or certified function, matched by reference), must differ from the preparer, and can stop a run at any moment. Every rule carries its human oversight class; the learned policy is advisory only.</a:t>
            </a:r>
            <a:endParaRPr lang="en-US" sz="1150" dirty="0"/>
          </a:p>
          <a:p>
            <a:pPr indent="0" marL="0">
              <a:lnSpc>
                <a:spcPct val="100000"/>
              </a:lnSpc>
              <a:buNone/>
            </a:pPr>
            <a:r>
              <a:rPr lang="en-US" sz="1000" b="1" dirty="0">
                <a:solidFill>
                  <a:srgbClr val="B5821A"/>
                </a:solidFill>
                <a:latin typeface="Calibri" pitchFamily="34" charset="0"/>
                <a:ea typeface="Calibri" pitchFamily="34" charset="-122"/>
                <a:cs typeface="Calibri" pitchFamily="34" charset="-120"/>
              </a:rPr>
              <a:t>Video: Gate 1 approval, a refusal with reason, Gate 2 release, the emergency stop.</a:t>
            </a:r>
            <a:endParaRPr lang="en-US" sz="1150" dirty="0"/>
          </a:p>
        </p:txBody>
      </p:sp>
      <p:sp>
        <p:nvSpPr>
          <p:cNvPr id="26" name="Text 22"/>
          <p:cNvSpPr txBox="1"/>
          <p:nvPr/>
        </p:nvSpPr>
        <p:spPr>
          <a:xfrm>
            <a:off x="7360920" y="3931920"/>
            <a:ext cx="6492240" cy="1170432"/>
          </a:xfrm>
          <a:prstGeom prst="rect">
            <a:avLst/>
          </a:prstGeom>
          <a:noFill/>
          <a:ln/>
        </p:spPr>
        <p:txBody>
          <a:bodyPr wrap="square" lIns="0" tIns="0" rIns="0" bIns="0" rtlCol="0" anchor="t"/>
          <a:lstStyle/>
          <a:p>
            <a:pPr indent="0" marL="0">
              <a:lnSpc>
                <a:spcPct val="100000"/>
              </a:lnSpc>
              <a:spcAft>
                <a:spcPts val="200"/>
              </a:spcAft>
              <a:buNone/>
            </a:pPr>
            <a:r>
              <a:rPr lang="en-US" sz="1150" b="1" dirty="0">
                <a:solidFill>
                  <a:srgbClr val="0B0F16"/>
                </a:solidFill>
                <a:latin typeface="Calibri" pitchFamily="34" charset="0"/>
                <a:ea typeface="Calibri" pitchFamily="34" charset="-122"/>
                <a:cs typeface="Calibri" pitchFamily="34" charset="-120"/>
              </a:rPr>
              <a:t>Auditability and traceability</a:t>
            </a:r>
            <a:endParaRPr lang="en-US" sz="1150" dirty="0"/>
          </a:p>
          <a:p>
            <a:pPr indent="0" marL="0">
              <a:lnSpc>
                <a:spcPct val="100000"/>
              </a:lnSpc>
              <a:spcAft>
                <a:spcPts val="200"/>
              </a:spcAft>
              <a:buNone/>
            </a:pPr>
            <a:r>
              <a:rPr lang="en-US" sz="1000" dirty="0">
                <a:solidFill>
                  <a:srgbClr val="0B0F16"/>
                </a:solidFill>
                <a:latin typeface="Calibri" pitchFamily="34" charset="0"/>
                <a:ea typeface="Calibri" pitchFamily="34" charset="-122"/>
                <a:cs typeface="Calibri" pitchFamily="34" charset="-120"/>
              </a:rPr>
              <a:t>An HMAC signed, hash chained ledger of every step, replayable by a third party; the battery, persona, agent and family definitions hashed and bound at Gate 1; 31 critic checks that recompute every number from the raw rows; an evidence pack with a manifest, a transparency record in the UK ATRS structure and an exchange record.</a:t>
            </a:r>
            <a:endParaRPr lang="en-US" sz="1150" dirty="0"/>
          </a:p>
          <a:p>
            <a:pPr indent="0" marL="0">
              <a:lnSpc>
                <a:spcPct val="100000"/>
              </a:lnSpc>
              <a:buNone/>
            </a:pPr>
            <a:r>
              <a:rPr lang="en-US" sz="1000" b="1" dirty="0">
                <a:solidFill>
                  <a:srgbClr val="B5821A"/>
                </a:solidFill>
                <a:latin typeface="Calibri" pitchFamily="34" charset="0"/>
                <a:ea typeface="Calibri" pitchFamily="34" charset="-122"/>
                <a:cs typeface="Calibri" pitchFamily="34" charset="-120"/>
              </a:rPr>
              <a:t>Video: the LDG page verifying the chain, the critic verdict, the evidence pack download.</a:t>
            </a:r>
            <a:endParaRPr lang="en-US" sz="1150" dirty="0"/>
          </a:p>
        </p:txBody>
      </p:sp>
      <p:sp>
        <p:nvSpPr>
          <p:cNvPr id="27" name="Text 23"/>
          <p:cNvSpPr txBox="1"/>
          <p:nvPr/>
        </p:nvSpPr>
        <p:spPr>
          <a:xfrm>
            <a:off x="7360920" y="5120640"/>
            <a:ext cx="6492240" cy="1170432"/>
          </a:xfrm>
          <a:prstGeom prst="rect">
            <a:avLst/>
          </a:prstGeom>
          <a:noFill/>
          <a:ln/>
        </p:spPr>
        <p:txBody>
          <a:bodyPr wrap="square" lIns="0" tIns="0" rIns="0" bIns="0" rtlCol="0" anchor="t"/>
          <a:lstStyle/>
          <a:p>
            <a:pPr indent="0" marL="0">
              <a:lnSpc>
                <a:spcPct val="100000"/>
              </a:lnSpc>
              <a:spcAft>
                <a:spcPts val="200"/>
              </a:spcAft>
              <a:buNone/>
            </a:pPr>
            <a:r>
              <a:rPr lang="en-US" sz="1150" b="1" dirty="0">
                <a:solidFill>
                  <a:srgbClr val="0B0F16"/>
                </a:solidFill>
                <a:latin typeface="Calibri" pitchFamily="34" charset="0"/>
                <a:ea typeface="Calibri" pitchFamily="34" charset="-122"/>
                <a:cs typeface="Calibri" pitchFamily="34" charset="-120"/>
              </a:rPr>
              <a:t>Safety and governance controls</a:t>
            </a:r>
            <a:endParaRPr lang="en-US" sz="1150" dirty="0"/>
          </a:p>
          <a:p>
            <a:pPr indent="0" marL="0">
              <a:lnSpc>
                <a:spcPct val="100000"/>
              </a:lnSpc>
              <a:spcAft>
                <a:spcPts val="200"/>
              </a:spcAft>
              <a:buNone/>
            </a:pPr>
            <a:r>
              <a:rPr lang="en-US" sz="1000" dirty="0">
                <a:solidFill>
                  <a:srgbClr val="0B0F16"/>
                </a:solidFill>
                <a:latin typeface="Calibri" pitchFamily="34" charset="0"/>
                <a:ea typeface="Calibri" pitchFamily="34" charset="-122"/>
                <a:cs typeface="Calibri" pitchFamily="34" charset="-120"/>
              </a:rPr>
              <a:t>No generated figure reaches a supervisor: the critic vets every number in the briefing and the transparency record, and the model, when used, only plans within hard bounds, distils personas and phrases text. Conformal certification bounds false alerts; the autonomy gate defaults to no execution; an injection suite of 11 cases must be contained on every run; roles (viewer, preparer, approver, admin) gate every action.</a:t>
            </a:r>
            <a:endParaRPr lang="en-US" sz="1150" dirty="0"/>
          </a:p>
          <a:p>
            <a:pPr indent="0" marL="0">
              <a:lnSpc>
                <a:spcPct val="100000"/>
              </a:lnSpc>
              <a:buNone/>
            </a:pPr>
            <a:r>
              <a:rPr lang="en-US" sz="1000" b="1" dirty="0">
                <a:solidFill>
                  <a:srgbClr val="B5821A"/>
                </a:solidFill>
                <a:latin typeface="Calibri" pitchFamily="34" charset="0"/>
                <a:ea typeface="Calibri" pitchFamily="34" charset="-122"/>
                <a:cs typeface="Calibri" pitchFamily="34" charset="-120"/>
              </a:rPr>
              <a:t>Video: the critic passing, the autonomy gate, the reports coverage on RSK.</a:t>
            </a:r>
            <a:endParaRPr lang="en-US" sz="1150" dirty="0"/>
          </a:p>
        </p:txBody>
      </p:sp>
      <p:sp>
        <p:nvSpPr>
          <p:cNvPr id="28" name="Text 24"/>
          <p:cNvSpPr txBox="1"/>
          <p:nvPr/>
        </p:nvSpPr>
        <p:spPr>
          <a:xfrm>
            <a:off x="7360920" y="6309360"/>
            <a:ext cx="6492240" cy="1170432"/>
          </a:xfrm>
          <a:prstGeom prst="rect">
            <a:avLst/>
          </a:prstGeom>
          <a:noFill/>
          <a:ln/>
        </p:spPr>
        <p:txBody>
          <a:bodyPr wrap="square" lIns="0" tIns="0" rIns="0" bIns="0" rtlCol="0" anchor="t"/>
          <a:lstStyle/>
          <a:p>
            <a:pPr indent="0" marL="0">
              <a:lnSpc>
                <a:spcPct val="100000"/>
              </a:lnSpc>
              <a:spcAft>
                <a:spcPts val="200"/>
              </a:spcAft>
              <a:buNone/>
            </a:pPr>
            <a:r>
              <a:rPr lang="en-US" sz="1150" b="1" dirty="0">
                <a:solidFill>
                  <a:srgbClr val="0B0F16"/>
                </a:solidFill>
                <a:latin typeface="Calibri" pitchFamily="34" charset="0"/>
                <a:ea typeface="Calibri" pitchFamily="34" charset="-122"/>
                <a:cs typeface="Calibri" pitchFamily="34" charset="-120"/>
              </a:rPr>
              <a:t>Cyber risk management</a:t>
            </a:r>
            <a:endParaRPr lang="en-US" sz="1150" dirty="0"/>
          </a:p>
          <a:p>
            <a:pPr indent="0" marL="0">
              <a:lnSpc>
                <a:spcPct val="100000"/>
              </a:lnSpc>
              <a:spcAft>
                <a:spcPts val="200"/>
              </a:spcAft>
              <a:buNone/>
            </a:pPr>
            <a:r>
              <a:rPr lang="en-US" sz="1000" dirty="0">
                <a:solidFill>
                  <a:srgbClr val="0B0F16"/>
                </a:solidFill>
                <a:latin typeface="Calibri" pitchFamily="34" charset="0"/>
                <a:ea typeface="Calibri" pitchFamily="34" charset="-122"/>
                <a:cs typeface="Calibri" pitchFamily="34" charset="-120"/>
              </a:rPr>
              <a:t>A security framework after Anderson, checked live on SEC as 17 controls that block release on a failure: keys from the environment only, security headers, request and rate limits, a sha256 manifest over every vendored asset, https and an egress allowlist for connectors and models, a quarantine for every dataset (size, type, formula and personal identifier checks), classification with no write down, identity from an authenticating proxy.</a:t>
            </a:r>
            <a:endParaRPr lang="en-US" sz="1150" dirty="0"/>
          </a:p>
          <a:p>
            <a:pPr indent="0" marL="0">
              <a:lnSpc>
                <a:spcPct val="100000"/>
              </a:lnSpc>
              <a:buNone/>
            </a:pPr>
            <a:r>
              <a:rPr lang="en-US" sz="1000" b="1" dirty="0">
                <a:solidFill>
                  <a:srgbClr val="B5821A"/>
                </a:solidFill>
                <a:latin typeface="Calibri" pitchFamily="34" charset="0"/>
                <a:ea typeface="Calibri" pitchFamily="34" charset="-122"/>
                <a:cs typeface="Calibri" pitchFamily="34" charset="-120"/>
              </a:rPr>
              <a:t>Video: the SEC page, an upload refused by the quarantine.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cdir.png">    </p:cNvPr>
          <p:cNvPicPr>
            <a:picLocks noChangeAspect="1"/>
          </p:cNvPicPr>
          <p:nvPr/>
        </p:nvPicPr>
        <p:blipFill>
          <a:blip r:embed="rId1"/>
          <a:stretch>
            <a:fillRect/>
          </a:stretch>
        </p:blipFill>
        <p:spPr>
          <a:xfrm>
            <a:off x="548640" y="384048"/>
            <a:ext cx="1737360" cy="434340"/>
          </a:xfrm>
          <a:prstGeom prst="rect">
            <a:avLst/>
          </a:prstGeom>
        </p:spPr>
      </p:pic>
      <p:pic>
        <p:nvPicPr>
          <p:cNvPr id="3" name="Image 1" descr="fii.png">    </p:cNvPr>
          <p:cNvPicPr>
            <a:picLocks noChangeAspect="1"/>
          </p:cNvPicPr>
          <p:nvPr/>
        </p:nvPicPr>
        <p:blipFill>
          <a:blip r:embed="rId2"/>
          <a:stretch>
            <a:fillRect/>
          </a:stretch>
        </p:blipFill>
        <p:spPr>
          <a:xfrm>
            <a:off x="11658600" y="347472"/>
            <a:ext cx="2423160" cy="822960"/>
          </a:xfrm>
          <a:prstGeom prst="rect">
            <a:avLst/>
          </a:prstGeom>
        </p:spPr>
      </p:pic>
      <p:sp>
        <p:nvSpPr>
          <p:cNvPr id="4" name="Text 0"/>
          <p:cNvSpPr txBox="1"/>
          <p:nvPr/>
        </p:nvSpPr>
        <p:spPr>
          <a:xfrm>
            <a:off x="548640" y="1234440"/>
            <a:ext cx="10058400" cy="640080"/>
          </a:xfrm>
          <a:prstGeom prst="rect">
            <a:avLst/>
          </a:prstGeom>
          <a:noFill/>
          <a:ln/>
        </p:spPr>
        <p:txBody>
          <a:bodyPr wrap="square" lIns="0" tIns="0" rIns="0" bIns="0" rtlCol="0" anchor="ctr"/>
          <a:lstStyle/>
          <a:p>
            <a:pPr indent="0" marL="0">
              <a:buNone/>
            </a:pPr>
            <a:r>
              <a:rPr lang="en-US" sz="3000" b="1" dirty="0">
                <a:solidFill>
                  <a:srgbClr val="0B0F16"/>
                </a:solidFill>
                <a:latin typeface="Calibri" pitchFamily="34" charset="0"/>
                <a:ea typeface="Calibri" pitchFamily="34" charset="-122"/>
                <a:cs typeface="Calibri" pitchFamily="34" charset="-120"/>
              </a:rPr>
              <a:t>Reading the results (1 of 2): tools and rules</a:t>
            </a:r>
            <a:endParaRPr lang="en-US" sz="3000" dirty="0"/>
          </a:p>
        </p:txBody>
      </p:sp>
      <p:sp>
        <p:nvSpPr>
          <p:cNvPr id="5" name="Text 1"/>
          <p:cNvSpPr txBox="1"/>
          <p:nvPr/>
        </p:nvSpPr>
        <p:spPr>
          <a:xfrm>
            <a:off x="548640" y="7635240"/>
            <a:ext cx="4572000" cy="320040"/>
          </a:xfrm>
          <a:prstGeom prst="rect">
            <a:avLst/>
          </a:prstGeom>
          <a:noFill/>
          <a:ln/>
        </p:spPr>
        <p:txBody>
          <a:bodyPr wrap="square" lIns="0" tIns="0" rIns="0" bIns="0" rtlCol="0" anchor="ctr"/>
          <a:lstStyle/>
          <a:p>
            <a:pPr indent="0" marL="0">
              <a:buNone/>
            </a:pPr>
            <a:r>
              <a:rPr lang="en-US" sz="1000" dirty="0">
                <a:solidFill>
                  <a:srgbClr val="5D6A80"/>
                </a:solidFill>
                <a:latin typeface="Calibri" pitchFamily="34" charset="0"/>
                <a:ea typeface="Calibri" pitchFamily="34" charset="-122"/>
                <a:cs typeface="Calibri" pitchFamily="34" charset="-120"/>
              </a:rPr>
              <a:t>No Human Intelligence</a:t>
            </a:r>
            <a:endParaRPr lang="en-US" sz="1000" dirty="0"/>
          </a:p>
        </p:txBody>
      </p:sp>
      <p:sp>
        <p:nvSpPr>
          <p:cNvPr id="6" name="Text 2"/>
          <p:cNvSpPr txBox="1"/>
          <p:nvPr/>
        </p:nvSpPr>
        <p:spPr>
          <a:xfrm>
            <a:off x="13167360" y="7635240"/>
            <a:ext cx="914400" cy="320040"/>
          </a:xfrm>
          <a:prstGeom prst="rect">
            <a:avLst/>
          </a:prstGeom>
          <a:noFill/>
          <a:ln/>
        </p:spPr>
        <p:txBody>
          <a:bodyPr wrap="square" lIns="0" tIns="0" rIns="0" bIns="0" rtlCol="0" anchor="ctr"/>
          <a:lstStyle/>
          <a:p>
            <a:pPr algn="r" indent="0" marL="0">
              <a:buNone/>
            </a:pPr>
            <a:r>
              <a:rPr lang="en-US" sz="1000" dirty="0">
                <a:solidFill>
                  <a:srgbClr val="5D6A80"/>
                </a:solidFill>
                <a:latin typeface="Courier New" pitchFamily="34" charset="0"/>
                <a:ea typeface="Courier New" pitchFamily="34" charset="-122"/>
                <a:cs typeface="Courier New" pitchFamily="34" charset="-120"/>
              </a:rPr>
              <a:t>6</a:t>
            </a:r>
            <a:endParaRPr lang="en-US" sz="1000" dirty="0"/>
          </a:p>
        </p:txBody>
      </p:sp>
      <p:sp>
        <p:nvSpPr>
          <p:cNvPr id="7" name="Shape 3"/>
          <p:cNvSpPr/>
          <p:nvPr/>
        </p:nvSpPr>
        <p:spPr>
          <a:xfrm>
            <a:off x="548640" y="2103120"/>
            <a:ext cx="310896" cy="310896"/>
          </a:xfrm>
          <a:prstGeom prst="rect">
            <a:avLst/>
          </a:prstGeom>
          <a:solidFill>
            <a:srgbClr val="F6B52A"/>
          </a:solidFill>
          <a:ln w="12700">
            <a:solidFill>
              <a:srgbClr val="F6B52A"/>
            </a:solidFill>
            <a:prstDash val="solid"/>
          </a:ln>
        </p:spPr>
      </p:sp>
      <p:sp>
        <p:nvSpPr>
          <p:cNvPr id="8" name="Text 4"/>
          <p:cNvSpPr txBox="1"/>
          <p:nvPr/>
        </p:nvSpPr>
        <p:spPr>
          <a:xfrm>
            <a:off x="548640" y="2103120"/>
            <a:ext cx="310896" cy="310896"/>
          </a:xfrm>
          <a:prstGeom prst="rect">
            <a:avLst/>
          </a:prstGeom>
          <a:noFill/>
          <a:ln/>
        </p:spPr>
        <p:txBody>
          <a:bodyPr wrap="square" lIns="0" tIns="0" rIns="0" bIns="0" rtlCol="0" anchor="ctr"/>
          <a:lstStyle/>
          <a:p>
            <a:pPr algn="ctr" indent="0" marL="0">
              <a:buNone/>
            </a:pPr>
            <a:r>
              <a:rPr lang="en-US" sz="1100" b="1" dirty="0">
                <a:solidFill>
                  <a:srgbClr val="0B0F16"/>
                </a:solidFill>
                <a:latin typeface="Courier New" pitchFamily="34" charset="0"/>
                <a:ea typeface="Courier New" pitchFamily="34" charset="-122"/>
                <a:cs typeface="Courier New" pitchFamily="34" charset="-120"/>
              </a:rPr>
              <a:t>G</a:t>
            </a:r>
            <a:endParaRPr lang="en-US" sz="1100" dirty="0"/>
          </a:p>
        </p:txBody>
      </p:sp>
      <p:sp>
        <p:nvSpPr>
          <p:cNvPr id="9" name="Shape 5"/>
          <p:cNvSpPr/>
          <p:nvPr/>
        </p:nvSpPr>
        <p:spPr>
          <a:xfrm>
            <a:off x="859536" y="2103120"/>
            <a:ext cx="603504" cy="310896"/>
          </a:xfrm>
          <a:prstGeom prst="rect">
            <a:avLst/>
          </a:prstGeom>
          <a:solidFill>
            <a:srgbClr val="0B0F16"/>
          </a:solidFill>
          <a:ln w="12700">
            <a:solidFill>
              <a:srgbClr val="0B0F16"/>
            </a:solidFill>
            <a:prstDash val="solid"/>
          </a:ln>
        </p:spPr>
      </p:sp>
      <p:sp>
        <p:nvSpPr>
          <p:cNvPr id="10" name="Text 6"/>
          <p:cNvSpPr txBox="1"/>
          <p:nvPr/>
        </p:nvSpPr>
        <p:spPr>
          <a:xfrm>
            <a:off x="859536" y="2103120"/>
            <a:ext cx="603504" cy="310896"/>
          </a:xfrm>
          <a:prstGeom prst="rect">
            <a:avLst/>
          </a:prstGeom>
          <a:noFill/>
          <a:ln/>
        </p:spPr>
        <p:txBody>
          <a:bodyPr wrap="square" lIns="0" tIns="0" rIns="0" bIns="0" rtlCol="0" anchor="ctr"/>
          <a:lstStyle/>
          <a:p>
            <a:pPr algn="ctr" indent="0" marL="0">
              <a:buNone/>
            </a:pPr>
            <a:r>
              <a:rPr lang="en-US" sz="1100" b="1" spc="200" kern="0" dirty="0">
                <a:solidFill>
                  <a:srgbClr val="F6B52A"/>
                </a:solidFill>
                <a:latin typeface="Courier New" pitchFamily="34" charset="0"/>
                <a:ea typeface="Courier New" pitchFamily="34" charset="-122"/>
                <a:cs typeface="Courier New" pitchFamily="34" charset="-120"/>
              </a:rPr>
              <a:t>GAP</a:t>
            </a:r>
            <a:endParaRPr lang="en-US" sz="1100" dirty="0"/>
          </a:p>
        </p:txBody>
      </p:sp>
      <p:sp>
        <p:nvSpPr>
          <p:cNvPr id="11" name="Text 7"/>
          <p:cNvSpPr txBox="1"/>
          <p:nvPr/>
        </p:nvSpPr>
        <p:spPr>
          <a:xfrm>
            <a:off x="1600200" y="2075688"/>
            <a:ext cx="5669280" cy="365760"/>
          </a:xfrm>
          <a:prstGeom prst="rect">
            <a:avLst/>
          </a:prstGeom>
          <a:noFill/>
          <a:ln/>
        </p:spPr>
        <p:txBody>
          <a:bodyPr wrap="square" lIns="0" tIns="0" rIns="0" bIns="0" rtlCol="0" anchor="ctr"/>
          <a:lstStyle/>
          <a:p>
            <a:pPr indent="0" marL="0">
              <a:buNone/>
            </a:pPr>
            <a:r>
              <a:rPr lang="en-US" sz="1500" b="1" dirty="0">
                <a:solidFill>
                  <a:srgbClr val="0B0F16"/>
                </a:solidFill>
                <a:latin typeface="Calibri" pitchFamily="34" charset="0"/>
                <a:ea typeface="Calibri" pitchFamily="34" charset="-122"/>
                <a:cs typeface="Calibri" pitchFamily="34" charset="-120"/>
              </a:rPr>
              <a:t>How a surveillance tool is certified</a:t>
            </a:r>
            <a:endParaRPr lang="en-US" sz="1500" dirty="0"/>
          </a:p>
        </p:txBody>
      </p:sp>
      <p:sp>
        <p:nvSpPr>
          <p:cNvPr id="12" name="Text 8"/>
          <p:cNvSpPr txBox="1"/>
          <p:nvPr/>
        </p:nvSpPr>
        <p:spPr>
          <a:xfrm>
            <a:off x="548640" y="2560320"/>
            <a:ext cx="6766560" cy="1234440"/>
          </a:xfrm>
          <a:prstGeom prst="rect">
            <a:avLst/>
          </a:prstGeom>
          <a:noFill/>
          <a:ln/>
        </p:spPr>
        <p:txBody>
          <a:bodyPr wrap="square" lIns="0" tIns="0" rIns="0" bIns="0" rtlCol="0" anchor="t"/>
          <a:lstStyle/>
          <a:p>
            <a:pPr indent="0" marL="0">
              <a:lnSpc>
                <a:spcPct val="105000"/>
              </a:lnSpc>
              <a:buNone/>
            </a:pPr>
            <a:r>
              <a:rPr lang="en-US" sz="1100" b="1" dirty="0">
                <a:solidFill>
                  <a:srgbClr val="0B0F16"/>
                </a:solidFill>
                <a:latin typeface="Calibri" pitchFamily="34" charset="0"/>
                <a:ea typeface="Calibri" pitchFamily="34" charset="-122"/>
                <a:cs typeface="Calibri" pitchFamily="34" charset="-120"/>
              </a:rPr>
              <a:t>Every sentinel is ranked twice. </a:t>
            </a:r>
            <a:pPr indent="0" marL="0">
              <a:lnSpc>
                <a:spcPct val="105000"/>
              </a:lnSpc>
              <a:buNone/>
            </a:pPr>
            <a:r>
              <a:rPr lang="en-US" sz="1100" dirty="0">
                <a:solidFill>
                  <a:srgbClr val="0B0F16"/>
                </a:solidFill>
                <a:latin typeface="Calibri" pitchFamily="34" charset="0"/>
                <a:ea typeface="Calibri" pitchFamily="34" charset="-122"/>
                <a:cs typeface="Calibri" pitchFamily="34" charset="-120"/>
              </a:rPr>
              <a:t>By fidelity: how closely its stress signal tracks the market's aggregate statistics, the conventional validation yardstick. By decision accuracy: whether the agents it flags are the ones that were in fact destabilising, which only a generated market can reveal. The decision gap (0 same order, 1 exact reverse) is 0.68; in 90% of 400 resampled batteries the two orders still disagree. The volatility trigger is first by fidelity and last on the decision.</a:t>
            </a:r>
            <a:endParaRPr lang="en-US" sz="1100" dirty="0"/>
          </a:p>
        </p:txBody>
      </p:sp>
      <p:sp>
        <p:nvSpPr>
          <p:cNvPr id="13" name="Text 9"/>
          <p:cNvSpPr txBox="1"/>
          <p:nvPr/>
        </p:nvSpPr>
        <p:spPr>
          <a:xfrm>
            <a:off x="548640" y="3886200"/>
            <a:ext cx="3108960" cy="274320"/>
          </a:xfrm>
          <a:prstGeom prst="rect">
            <a:avLst/>
          </a:prstGeom>
          <a:noFill/>
          <a:ln/>
        </p:spPr>
        <p:txBody>
          <a:bodyPr wrap="square" lIns="0" tIns="0" rIns="0" bIns="0" rtlCol="0" anchor="ctr"/>
          <a:lstStyle/>
          <a:p>
            <a:pPr indent="0" marL="0">
              <a:buNone/>
            </a:pPr>
            <a:r>
              <a:rPr lang="en-US" sz="1050" b="1" dirty="0">
                <a:solidFill>
                  <a:srgbClr val="5D6A80"/>
                </a:solidFill>
                <a:latin typeface="Calibri" pitchFamily="34" charset="0"/>
                <a:ea typeface="Calibri" pitchFamily="34" charset="-122"/>
                <a:cs typeface="Calibri" pitchFamily="34" charset="-120"/>
              </a:rPr>
              <a:t>Ranked by fidelity (conventional)</a:t>
            </a:r>
            <a:endParaRPr lang="en-US" sz="1050" dirty="0"/>
          </a:p>
        </p:txBody>
      </p:sp>
      <p:sp>
        <p:nvSpPr>
          <p:cNvPr id="14" name="Text 10"/>
          <p:cNvSpPr txBox="1"/>
          <p:nvPr/>
        </p:nvSpPr>
        <p:spPr>
          <a:xfrm>
            <a:off x="4160520" y="3886200"/>
            <a:ext cx="3108960" cy="274320"/>
          </a:xfrm>
          <a:prstGeom prst="rect">
            <a:avLst/>
          </a:prstGeom>
          <a:noFill/>
          <a:ln/>
        </p:spPr>
        <p:txBody>
          <a:bodyPr wrap="square" lIns="0" tIns="0" rIns="0" bIns="0" rtlCol="0" anchor="ctr"/>
          <a:lstStyle/>
          <a:p>
            <a:pPr indent="0" marL="0">
              <a:buNone/>
            </a:pPr>
            <a:r>
              <a:rPr lang="en-US" sz="1050" b="1" dirty="0">
                <a:solidFill>
                  <a:srgbClr val="5D6A80"/>
                </a:solidFill>
                <a:latin typeface="Calibri" pitchFamily="34" charset="0"/>
                <a:ea typeface="Calibri" pitchFamily="34" charset="-122"/>
                <a:cs typeface="Calibri" pitchFamily="34" charset="-120"/>
              </a:rPr>
              <a:t>Ranked by decision accuracy (HSL)</a:t>
            </a:r>
            <a:endParaRPr lang="en-US" sz="1050" dirty="0"/>
          </a:p>
        </p:txBody>
      </p:sp>
      <p:sp>
        <p:nvSpPr>
          <p:cNvPr id="15" name="Text 11"/>
          <p:cNvSpPr txBox="1"/>
          <p:nvPr/>
        </p:nvSpPr>
        <p:spPr>
          <a:xfrm>
            <a:off x="548640" y="4197096"/>
            <a:ext cx="2468880" cy="329184"/>
          </a:xfrm>
          <a:prstGeom prst="rect">
            <a:avLst/>
          </a:prstGeom>
          <a:noFill/>
          <a:ln/>
        </p:spPr>
        <p:txBody>
          <a:bodyPr wrap="square" lIns="0" tIns="0" rIns="0" bIns="0" rtlCol="0" anchor="ctr"/>
          <a:lstStyle/>
          <a:p>
            <a:pPr indent="0" marL="0">
              <a:buNone/>
            </a:pPr>
            <a:r>
              <a:rPr lang="en-US" sz="1050" dirty="0">
                <a:solidFill>
                  <a:srgbClr val="0B0F16"/>
                </a:solidFill>
                <a:latin typeface="Calibri" pitchFamily="34" charset="0"/>
                <a:ea typeface="Calibri" pitchFamily="34" charset="-122"/>
                <a:cs typeface="Calibri" pitchFamily="34" charset="-120"/>
              </a:rPr>
              <a:t>1  Volatility trigger</a:t>
            </a:r>
            <a:endParaRPr lang="en-US" sz="1050" dirty="0"/>
          </a:p>
        </p:txBody>
      </p:sp>
      <p:sp>
        <p:nvSpPr>
          <p:cNvPr id="16" name="Text 12"/>
          <p:cNvSpPr txBox="1"/>
          <p:nvPr/>
        </p:nvSpPr>
        <p:spPr>
          <a:xfrm>
            <a:off x="3017520" y="4197096"/>
            <a:ext cx="548640" cy="329184"/>
          </a:xfrm>
          <a:prstGeom prst="rect">
            <a:avLst/>
          </a:prstGeom>
          <a:noFill/>
          <a:ln/>
        </p:spPr>
        <p:txBody>
          <a:bodyPr wrap="square" lIns="0" tIns="0" rIns="0" bIns="0" rtlCol="0" anchor="ctr"/>
          <a:lstStyle/>
          <a:p>
            <a:pPr algn="r" indent="0" marL="0">
              <a:buNone/>
            </a:pPr>
            <a:r>
              <a:rPr lang="en-US" sz="1000" dirty="0">
                <a:solidFill>
                  <a:srgbClr val="5D6A80"/>
                </a:solidFill>
                <a:latin typeface="Courier New" pitchFamily="34" charset="0"/>
                <a:ea typeface="Courier New" pitchFamily="34" charset="-122"/>
                <a:cs typeface="Courier New" pitchFamily="34" charset="-120"/>
              </a:rPr>
              <a:t>1.00</a:t>
            </a:r>
            <a:endParaRPr lang="en-US" sz="1000" dirty="0"/>
          </a:p>
        </p:txBody>
      </p:sp>
      <p:sp>
        <p:nvSpPr>
          <p:cNvPr id="17" name="Text 13"/>
          <p:cNvSpPr txBox="1"/>
          <p:nvPr/>
        </p:nvSpPr>
        <p:spPr>
          <a:xfrm>
            <a:off x="548640" y="4526280"/>
            <a:ext cx="2468880" cy="329184"/>
          </a:xfrm>
          <a:prstGeom prst="rect">
            <a:avLst/>
          </a:prstGeom>
          <a:noFill/>
          <a:ln/>
        </p:spPr>
        <p:txBody>
          <a:bodyPr wrap="square" lIns="0" tIns="0" rIns="0" bIns="0" rtlCol="0" anchor="ctr"/>
          <a:lstStyle/>
          <a:p>
            <a:pPr indent="0" marL="0">
              <a:buNone/>
            </a:pPr>
            <a:r>
              <a:rPr lang="en-US" sz="1050" dirty="0">
                <a:solidFill>
                  <a:srgbClr val="0B0F16"/>
                </a:solidFill>
                <a:latin typeface="Calibri" pitchFamily="34" charset="0"/>
                <a:ea typeface="Calibri" pitchFamily="34" charset="-122"/>
                <a:cs typeface="Calibri" pitchFamily="34" charset="-120"/>
              </a:rPr>
              <a:t>2  Absorption ratio</a:t>
            </a:r>
            <a:endParaRPr lang="en-US" sz="1050" dirty="0"/>
          </a:p>
        </p:txBody>
      </p:sp>
      <p:sp>
        <p:nvSpPr>
          <p:cNvPr id="18" name="Text 14"/>
          <p:cNvSpPr txBox="1"/>
          <p:nvPr/>
        </p:nvSpPr>
        <p:spPr>
          <a:xfrm>
            <a:off x="3017520" y="4526280"/>
            <a:ext cx="548640" cy="329184"/>
          </a:xfrm>
          <a:prstGeom prst="rect">
            <a:avLst/>
          </a:prstGeom>
          <a:noFill/>
          <a:ln/>
        </p:spPr>
        <p:txBody>
          <a:bodyPr wrap="square" lIns="0" tIns="0" rIns="0" bIns="0" rtlCol="0" anchor="ctr"/>
          <a:lstStyle/>
          <a:p>
            <a:pPr algn="r" indent="0" marL="0">
              <a:buNone/>
            </a:pPr>
            <a:r>
              <a:rPr lang="en-US" sz="1000" dirty="0">
                <a:solidFill>
                  <a:srgbClr val="5D6A80"/>
                </a:solidFill>
                <a:latin typeface="Courier New" pitchFamily="34" charset="0"/>
                <a:ea typeface="Courier New" pitchFamily="34" charset="-122"/>
                <a:cs typeface="Courier New" pitchFamily="34" charset="-120"/>
              </a:rPr>
              <a:t>0.22</a:t>
            </a:r>
            <a:endParaRPr lang="en-US" sz="1000" dirty="0"/>
          </a:p>
        </p:txBody>
      </p:sp>
      <p:sp>
        <p:nvSpPr>
          <p:cNvPr id="19" name="Text 15"/>
          <p:cNvSpPr txBox="1"/>
          <p:nvPr/>
        </p:nvSpPr>
        <p:spPr>
          <a:xfrm>
            <a:off x="548640" y="4855464"/>
            <a:ext cx="2468880" cy="329184"/>
          </a:xfrm>
          <a:prstGeom prst="rect">
            <a:avLst/>
          </a:prstGeom>
          <a:noFill/>
          <a:ln/>
        </p:spPr>
        <p:txBody>
          <a:bodyPr wrap="square" lIns="0" tIns="0" rIns="0" bIns="0" rtlCol="0" anchor="ctr"/>
          <a:lstStyle/>
          <a:p>
            <a:pPr indent="0" marL="0">
              <a:buNone/>
            </a:pPr>
            <a:r>
              <a:rPr lang="en-US" sz="1050" dirty="0">
                <a:solidFill>
                  <a:srgbClr val="0B0F16"/>
                </a:solidFill>
                <a:latin typeface="Calibri" pitchFamily="34" charset="0"/>
                <a:ea typeface="Calibri" pitchFamily="34" charset="-122"/>
                <a:cs typeface="Calibri" pitchFamily="34" charset="-120"/>
              </a:rPr>
              <a:t>3  Endogeneity (Hawkes)</a:t>
            </a:r>
            <a:endParaRPr lang="en-US" sz="1050" dirty="0"/>
          </a:p>
        </p:txBody>
      </p:sp>
      <p:sp>
        <p:nvSpPr>
          <p:cNvPr id="20" name="Text 16"/>
          <p:cNvSpPr txBox="1"/>
          <p:nvPr/>
        </p:nvSpPr>
        <p:spPr>
          <a:xfrm>
            <a:off x="3017520" y="4855464"/>
            <a:ext cx="548640" cy="329184"/>
          </a:xfrm>
          <a:prstGeom prst="rect">
            <a:avLst/>
          </a:prstGeom>
          <a:noFill/>
          <a:ln/>
        </p:spPr>
        <p:txBody>
          <a:bodyPr wrap="square" lIns="0" tIns="0" rIns="0" bIns="0" rtlCol="0" anchor="ctr"/>
          <a:lstStyle/>
          <a:p>
            <a:pPr algn="r" indent="0" marL="0">
              <a:buNone/>
            </a:pPr>
            <a:r>
              <a:rPr lang="en-US" sz="1000" dirty="0">
                <a:solidFill>
                  <a:srgbClr val="5D6A80"/>
                </a:solidFill>
                <a:latin typeface="Courier New" pitchFamily="34" charset="0"/>
                <a:ea typeface="Courier New" pitchFamily="34" charset="-122"/>
                <a:cs typeface="Courier New" pitchFamily="34" charset="-120"/>
              </a:rPr>
              <a:t>0.21</a:t>
            </a:r>
            <a:endParaRPr lang="en-US" sz="1000" dirty="0"/>
          </a:p>
        </p:txBody>
      </p:sp>
      <p:sp>
        <p:nvSpPr>
          <p:cNvPr id="21" name="Text 17"/>
          <p:cNvSpPr txBox="1"/>
          <p:nvPr/>
        </p:nvSpPr>
        <p:spPr>
          <a:xfrm>
            <a:off x="548640" y="5184648"/>
            <a:ext cx="2468880" cy="329184"/>
          </a:xfrm>
          <a:prstGeom prst="rect">
            <a:avLst/>
          </a:prstGeom>
          <a:noFill/>
          <a:ln/>
        </p:spPr>
        <p:txBody>
          <a:bodyPr wrap="square" lIns="0" tIns="0" rIns="0" bIns="0" rtlCol="0" anchor="ctr"/>
          <a:lstStyle/>
          <a:p>
            <a:pPr indent="0" marL="0">
              <a:buNone/>
            </a:pPr>
            <a:r>
              <a:rPr lang="en-US" sz="1050" dirty="0">
                <a:solidFill>
                  <a:srgbClr val="0B0F16"/>
                </a:solidFill>
                <a:latin typeface="Calibri" pitchFamily="34" charset="0"/>
                <a:ea typeface="Calibri" pitchFamily="34" charset="-122"/>
                <a:cs typeface="Calibri" pitchFamily="34" charset="-120"/>
              </a:rPr>
              <a:t>4  Correlation clustering</a:t>
            </a:r>
            <a:endParaRPr lang="en-US" sz="1050" dirty="0"/>
          </a:p>
        </p:txBody>
      </p:sp>
      <p:sp>
        <p:nvSpPr>
          <p:cNvPr id="22" name="Text 18"/>
          <p:cNvSpPr txBox="1"/>
          <p:nvPr/>
        </p:nvSpPr>
        <p:spPr>
          <a:xfrm>
            <a:off x="3017520" y="5184648"/>
            <a:ext cx="548640" cy="329184"/>
          </a:xfrm>
          <a:prstGeom prst="rect">
            <a:avLst/>
          </a:prstGeom>
          <a:noFill/>
          <a:ln/>
        </p:spPr>
        <p:txBody>
          <a:bodyPr wrap="square" lIns="0" tIns="0" rIns="0" bIns="0" rtlCol="0" anchor="ctr"/>
          <a:lstStyle/>
          <a:p>
            <a:pPr algn="r" indent="0" marL="0">
              <a:buNone/>
            </a:pPr>
            <a:r>
              <a:rPr lang="en-US" sz="1000" dirty="0">
                <a:solidFill>
                  <a:srgbClr val="5D6A80"/>
                </a:solidFill>
                <a:latin typeface="Courier New" pitchFamily="34" charset="0"/>
                <a:ea typeface="Courier New" pitchFamily="34" charset="-122"/>
                <a:cs typeface="Courier New" pitchFamily="34" charset="-120"/>
              </a:rPr>
              <a:t>0.21</a:t>
            </a:r>
            <a:endParaRPr lang="en-US" sz="1000" dirty="0"/>
          </a:p>
        </p:txBody>
      </p:sp>
      <p:sp>
        <p:nvSpPr>
          <p:cNvPr id="23" name="Text 19"/>
          <p:cNvSpPr txBox="1"/>
          <p:nvPr/>
        </p:nvSpPr>
        <p:spPr>
          <a:xfrm>
            <a:off x="548640" y="5513832"/>
            <a:ext cx="2468880" cy="329184"/>
          </a:xfrm>
          <a:prstGeom prst="rect">
            <a:avLst/>
          </a:prstGeom>
          <a:noFill/>
          <a:ln/>
        </p:spPr>
        <p:txBody>
          <a:bodyPr wrap="square" lIns="0" tIns="0" rIns="0" bIns="0" rtlCol="0" anchor="ctr"/>
          <a:lstStyle/>
          <a:p>
            <a:pPr indent="0" marL="0">
              <a:buNone/>
            </a:pPr>
            <a:r>
              <a:rPr lang="en-US" sz="1050" dirty="0">
                <a:solidFill>
                  <a:srgbClr val="0B0F16"/>
                </a:solidFill>
                <a:latin typeface="Calibri" pitchFamily="34" charset="0"/>
                <a:ea typeface="Calibri" pitchFamily="34" charset="-122"/>
                <a:cs typeface="Calibri" pitchFamily="34" charset="-120"/>
              </a:rPr>
              <a:t>5  Buy sell imbalance</a:t>
            </a:r>
            <a:endParaRPr lang="en-US" sz="1050" dirty="0"/>
          </a:p>
        </p:txBody>
      </p:sp>
      <p:sp>
        <p:nvSpPr>
          <p:cNvPr id="24" name="Text 20"/>
          <p:cNvSpPr txBox="1"/>
          <p:nvPr/>
        </p:nvSpPr>
        <p:spPr>
          <a:xfrm>
            <a:off x="3017520" y="5513832"/>
            <a:ext cx="548640" cy="329184"/>
          </a:xfrm>
          <a:prstGeom prst="rect">
            <a:avLst/>
          </a:prstGeom>
          <a:noFill/>
          <a:ln/>
        </p:spPr>
        <p:txBody>
          <a:bodyPr wrap="square" lIns="0" tIns="0" rIns="0" bIns="0" rtlCol="0" anchor="ctr"/>
          <a:lstStyle/>
          <a:p>
            <a:pPr algn="r" indent="0" marL="0">
              <a:buNone/>
            </a:pPr>
            <a:r>
              <a:rPr lang="en-US" sz="1000" dirty="0">
                <a:solidFill>
                  <a:srgbClr val="5D6A80"/>
                </a:solidFill>
                <a:latin typeface="Courier New" pitchFamily="34" charset="0"/>
                <a:ea typeface="Courier New" pitchFamily="34" charset="-122"/>
                <a:cs typeface="Courier New" pitchFamily="34" charset="-120"/>
              </a:rPr>
              <a:t>0.20</a:t>
            </a:r>
            <a:endParaRPr lang="en-US" sz="1000" dirty="0"/>
          </a:p>
        </p:txBody>
      </p:sp>
      <p:sp>
        <p:nvSpPr>
          <p:cNvPr id="25" name="Text 21"/>
          <p:cNvSpPr txBox="1"/>
          <p:nvPr/>
        </p:nvSpPr>
        <p:spPr>
          <a:xfrm>
            <a:off x="548640" y="5843016"/>
            <a:ext cx="2468880" cy="329184"/>
          </a:xfrm>
          <a:prstGeom prst="rect">
            <a:avLst/>
          </a:prstGeom>
          <a:noFill/>
          <a:ln/>
        </p:spPr>
        <p:txBody>
          <a:bodyPr wrap="square" lIns="0" tIns="0" rIns="0" bIns="0" rtlCol="0" anchor="ctr"/>
          <a:lstStyle/>
          <a:p>
            <a:pPr indent="0" marL="0">
              <a:buNone/>
            </a:pPr>
            <a:r>
              <a:rPr lang="en-US" sz="1050" dirty="0">
                <a:solidFill>
                  <a:srgbClr val="0B0F16"/>
                </a:solidFill>
                <a:latin typeface="Calibri" pitchFamily="34" charset="0"/>
                <a:ea typeface="Calibri" pitchFamily="34" charset="-122"/>
                <a:cs typeface="Calibri" pitchFamily="34" charset="-120"/>
              </a:rPr>
              <a:t>6  Tail dependence</a:t>
            </a:r>
            <a:endParaRPr lang="en-US" sz="1050" dirty="0"/>
          </a:p>
        </p:txBody>
      </p:sp>
      <p:sp>
        <p:nvSpPr>
          <p:cNvPr id="26" name="Text 22"/>
          <p:cNvSpPr txBox="1"/>
          <p:nvPr/>
        </p:nvSpPr>
        <p:spPr>
          <a:xfrm>
            <a:off x="3017520" y="5843016"/>
            <a:ext cx="548640" cy="329184"/>
          </a:xfrm>
          <a:prstGeom prst="rect">
            <a:avLst/>
          </a:prstGeom>
          <a:noFill/>
          <a:ln/>
        </p:spPr>
        <p:txBody>
          <a:bodyPr wrap="square" lIns="0" tIns="0" rIns="0" bIns="0" rtlCol="0" anchor="ctr"/>
          <a:lstStyle/>
          <a:p>
            <a:pPr algn="r" indent="0" marL="0">
              <a:buNone/>
            </a:pPr>
            <a:r>
              <a:rPr lang="en-US" sz="1000" dirty="0">
                <a:solidFill>
                  <a:srgbClr val="5D6A80"/>
                </a:solidFill>
                <a:latin typeface="Courier New" pitchFamily="34" charset="0"/>
                <a:ea typeface="Courier New" pitchFamily="34" charset="-122"/>
                <a:cs typeface="Courier New" pitchFamily="34" charset="-120"/>
              </a:rPr>
              <a:t>0.19</a:t>
            </a:r>
            <a:endParaRPr lang="en-US" sz="1000" dirty="0"/>
          </a:p>
        </p:txBody>
      </p:sp>
      <p:sp>
        <p:nvSpPr>
          <p:cNvPr id="27" name="Text 23"/>
          <p:cNvSpPr txBox="1"/>
          <p:nvPr/>
        </p:nvSpPr>
        <p:spPr>
          <a:xfrm>
            <a:off x="548640" y="6172200"/>
            <a:ext cx="2468880" cy="329184"/>
          </a:xfrm>
          <a:prstGeom prst="rect">
            <a:avLst/>
          </a:prstGeom>
          <a:noFill/>
          <a:ln/>
        </p:spPr>
        <p:txBody>
          <a:bodyPr wrap="square" lIns="0" tIns="0" rIns="0" bIns="0" rtlCol="0" anchor="ctr"/>
          <a:lstStyle/>
          <a:p>
            <a:pPr indent="0" marL="0">
              <a:buNone/>
            </a:pPr>
            <a:r>
              <a:rPr lang="en-US" sz="1050" dirty="0">
                <a:solidFill>
                  <a:srgbClr val="0B0F16"/>
                </a:solidFill>
                <a:latin typeface="Calibri" pitchFamily="34" charset="0"/>
                <a:ea typeface="Calibri" pitchFamily="34" charset="-122"/>
                <a:cs typeface="Calibri" pitchFamily="34" charset="-120"/>
              </a:rPr>
              <a:t>7  Network community</a:t>
            </a:r>
            <a:endParaRPr lang="en-US" sz="1050" dirty="0"/>
          </a:p>
        </p:txBody>
      </p:sp>
      <p:sp>
        <p:nvSpPr>
          <p:cNvPr id="28" name="Text 24"/>
          <p:cNvSpPr txBox="1"/>
          <p:nvPr/>
        </p:nvSpPr>
        <p:spPr>
          <a:xfrm>
            <a:off x="3017520" y="6172200"/>
            <a:ext cx="548640" cy="329184"/>
          </a:xfrm>
          <a:prstGeom prst="rect">
            <a:avLst/>
          </a:prstGeom>
          <a:noFill/>
          <a:ln/>
        </p:spPr>
        <p:txBody>
          <a:bodyPr wrap="square" lIns="0" tIns="0" rIns="0" bIns="0" rtlCol="0" anchor="ctr"/>
          <a:lstStyle/>
          <a:p>
            <a:pPr algn="r" indent="0" marL="0">
              <a:buNone/>
            </a:pPr>
            <a:r>
              <a:rPr lang="en-US" sz="1000" dirty="0">
                <a:solidFill>
                  <a:srgbClr val="5D6A80"/>
                </a:solidFill>
                <a:latin typeface="Courier New" pitchFamily="34" charset="0"/>
                <a:ea typeface="Courier New" pitchFamily="34" charset="-122"/>
                <a:cs typeface="Courier New" pitchFamily="34" charset="-120"/>
              </a:rPr>
              <a:t>0.15</a:t>
            </a:r>
            <a:endParaRPr lang="en-US" sz="1000" dirty="0"/>
          </a:p>
        </p:txBody>
      </p:sp>
      <p:sp>
        <p:nvSpPr>
          <p:cNvPr id="29" name="Text 25"/>
          <p:cNvSpPr txBox="1"/>
          <p:nvPr/>
        </p:nvSpPr>
        <p:spPr>
          <a:xfrm>
            <a:off x="548640" y="6501384"/>
            <a:ext cx="2468880" cy="329184"/>
          </a:xfrm>
          <a:prstGeom prst="rect">
            <a:avLst/>
          </a:prstGeom>
          <a:noFill/>
          <a:ln/>
        </p:spPr>
        <p:txBody>
          <a:bodyPr wrap="square" lIns="0" tIns="0" rIns="0" bIns="0" rtlCol="0" anchor="ctr"/>
          <a:lstStyle/>
          <a:p>
            <a:pPr indent="0" marL="0">
              <a:buNone/>
            </a:pPr>
            <a:r>
              <a:rPr lang="en-US" sz="1050" dirty="0">
                <a:solidFill>
                  <a:srgbClr val="0B0F16"/>
                </a:solidFill>
                <a:latin typeface="Calibri" pitchFamily="34" charset="0"/>
                <a:ea typeface="Calibri" pitchFamily="34" charset="-122"/>
                <a:cs typeface="Calibri" pitchFamily="34" charset="-120"/>
              </a:rPr>
              <a:t>8  Lead lag ignition</a:t>
            </a:r>
            <a:endParaRPr lang="en-US" sz="1050" dirty="0"/>
          </a:p>
        </p:txBody>
      </p:sp>
      <p:sp>
        <p:nvSpPr>
          <p:cNvPr id="30" name="Text 26"/>
          <p:cNvSpPr txBox="1"/>
          <p:nvPr/>
        </p:nvSpPr>
        <p:spPr>
          <a:xfrm>
            <a:off x="3017520" y="6501384"/>
            <a:ext cx="548640" cy="329184"/>
          </a:xfrm>
          <a:prstGeom prst="rect">
            <a:avLst/>
          </a:prstGeom>
          <a:noFill/>
          <a:ln/>
        </p:spPr>
        <p:txBody>
          <a:bodyPr wrap="square" lIns="0" tIns="0" rIns="0" bIns="0" rtlCol="0" anchor="ctr"/>
          <a:lstStyle/>
          <a:p>
            <a:pPr algn="r" indent="0" marL="0">
              <a:buNone/>
            </a:pPr>
            <a:r>
              <a:rPr lang="en-US" sz="1000" dirty="0">
                <a:solidFill>
                  <a:srgbClr val="5D6A80"/>
                </a:solidFill>
                <a:latin typeface="Courier New" pitchFamily="34" charset="0"/>
                <a:ea typeface="Courier New" pitchFamily="34" charset="-122"/>
                <a:cs typeface="Courier New" pitchFamily="34" charset="-120"/>
              </a:rPr>
              <a:t>0.10</a:t>
            </a:r>
            <a:endParaRPr lang="en-US" sz="1000" dirty="0"/>
          </a:p>
        </p:txBody>
      </p:sp>
      <p:sp>
        <p:nvSpPr>
          <p:cNvPr id="31" name="Text 27"/>
          <p:cNvSpPr txBox="1"/>
          <p:nvPr/>
        </p:nvSpPr>
        <p:spPr>
          <a:xfrm>
            <a:off x="4160520" y="4197096"/>
            <a:ext cx="2468880" cy="329184"/>
          </a:xfrm>
          <a:prstGeom prst="rect">
            <a:avLst/>
          </a:prstGeom>
          <a:noFill/>
          <a:ln/>
        </p:spPr>
        <p:txBody>
          <a:bodyPr wrap="square" lIns="0" tIns="0" rIns="0" bIns="0" rtlCol="0" anchor="ctr"/>
          <a:lstStyle/>
          <a:p>
            <a:pPr indent="0" marL="0">
              <a:buNone/>
            </a:pPr>
            <a:r>
              <a:rPr lang="en-US" sz="1050" b="1" dirty="0">
                <a:solidFill>
                  <a:srgbClr val="B5821A"/>
                </a:solidFill>
                <a:latin typeface="Calibri" pitchFamily="34" charset="0"/>
                <a:ea typeface="Calibri" pitchFamily="34" charset="-122"/>
                <a:cs typeface="Calibri" pitchFamily="34" charset="-120"/>
              </a:rPr>
              <a:t>1  Tail dependence  (certified)</a:t>
            </a:r>
            <a:endParaRPr lang="en-US" sz="1050" dirty="0"/>
          </a:p>
        </p:txBody>
      </p:sp>
      <p:sp>
        <p:nvSpPr>
          <p:cNvPr id="32" name="Text 28"/>
          <p:cNvSpPr txBox="1"/>
          <p:nvPr/>
        </p:nvSpPr>
        <p:spPr>
          <a:xfrm>
            <a:off x="6629400" y="4197096"/>
            <a:ext cx="548640" cy="329184"/>
          </a:xfrm>
          <a:prstGeom prst="rect">
            <a:avLst/>
          </a:prstGeom>
          <a:noFill/>
          <a:ln/>
        </p:spPr>
        <p:txBody>
          <a:bodyPr wrap="square" lIns="0" tIns="0" rIns="0" bIns="0" rtlCol="0" anchor="ctr"/>
          <a:lstStyle/>
          <a:p>
            <a:pPr algn="r" indent="0" marL="0">
              <a:buNone/>
            </a:pPr>
            <a:r>
              <a:rPr lang="en-US" sz="1000" dirty="0">
                <a:solidFill>
                  <a:srgbClr val="5D6A80"/>
                </a:solidFill>
                <a:latin typeface="Courier New" pitchFamily="34" charset="0"/>
                <a:ea typeface="Courier New" pitchFamily="34" charset="-122"/>
                <a:cs typeface="Courier New" pitchFamily="34" charset="-120"/>
              </a:rPr>
              <a:t>0.68</a:t>
            </a:r>
            <a:endParaRPr lang="en-US" sz="1000" dirty="0"/>
          </a:p>
        </p:txBody>
      </p:sp>
      <p:sp>
        <p:nvSpPr>
          <p:cNvPr id="33" name="Text 29"/>
          <p:cNvSpPr txBox="1"/>
          <p:nvPr/>
        </p:nvSpPr>
        <p:spPr>
          <a:xfrm>
            <a:off x="4160520" y="4526280"/>
            <a:ext cx="2468880" cy="329184"/>
          </a:xfrm>
          <a:prstGeom prst="rect">
            <a:avLst/>
          </a:prstGeom>
          <a:noFill/>
          <a:ln/>
        </p:spPr>
        <p:txBody>
          <a:bodyPr wrap="square" lIns="0" tIns="0" rIns="0" bIns="0" rtlCol="0" anchor="ctr"/>
          <a:lstStyle/>
          <a:p>
            <a:pPr indent="0" marL="0">
              <a:buNone/>
            </a:pPr>
            <a:r>
              <a:rPr lang="en-US" sz="1050" dirty="0">
                <a:solidFill>
                  <a:srgbClr val="0B0F16"/>
                </a:solidFill>
                <a:latin typeface="Calibri" pitchFamily="34" charset="0"/>
                <a:ea typeface="Calibri" pitchFamily="34" charset="-122"/>
                <a:cs typeface="Calibri" pitchFamily="34" charset="-120"/>
              </a:rPr>
              <a:t>2  Absorption ratio</a:t>
            </a:r>
            <a:endParaRPr lang="en-US" sz="1050" dirty="0"/>
          </a:p>
        </p:txBody>
      </p:sp>
      <p:sp>
        <p:nvSpPr>
          <p:cNvPr id="34" name="Text 30"/>
          <p:cNvSpPr txBox="1"/>
          <p:nvPr/>
        </p:nvSpPr>
        <p:spPr>
          <a:xfrm>
            <a:off x="6629400" y="4526280"/>
            <a:ext cx="548640" cy="329184"/>
          </a:xfrm>
          <a:prstGeom prst="rect">
            <a:avLst/>
          </a:prstGeom>
          <a:noFill/>
          <a:ln/>
        </p:spPr>
        <p:txBody>
          <a:bodyPr wrap="square" lIns="0" tIns="0" rIns="0" bIns="0" rtlCol="0" anchor="ctr"/>
          <a:lstStyle/>
          <a:p>
            <a:pPr algn="r" indent="0" marL="0">
              <a:buNone/>
            </a:pPr>
            <a:r>
              <a:rPr lang="en-US" sz="1000" dirty="0">
                <a:solidFill>
                  <a:srgbClr val="5D6A80"/>
                </a:solidFill>
                <a:latin typeface="Courier New" pitchFamily="34" charset="0"/>
                <a:ea typeface="Courier New" pitchFamily="34" charset="-122"/>
                <a:cs typeface="Courier New" pitchFamily="34" charset="-120"/>
              </a:rPr>
              <a:t>0.57</a:t>
            </a:r>
            <a:endParaRPr lang="en-US" sz="1000" dirty="0"/>
          </a:p>
        </p:txBody>
      </p:sp>
      <p:sp>
        <p:nvSpPr>
          <p:cNvPr id="35" name="Text 31"/>
          <p:cNvSpPr txBox="1"/>
          <p:nvPr/>
        </p:nvSpPr>
        <p:spPr>
          <a:xfrm>
            <a:off x="4160520" y="4855464"/>
            <a:ext cx="2468880" cy="329184"/>
          </a:xfrm>
          <a:prstGeom prst="rect">
            <a:avLst/>
          </a:prstGeom>
          <a:noFill/>
          <a:ln/>
        </p:spPr>
        <p:txBody>
          <a:bodyPr wrap="square" lIns="0" tIns="0" rIns="0" bIns="0" rtlCol="0" anchor="ctr"/>
          <a:lstStyle/>
          <a:p>
            <a:pPr indent="0" marL="0">
              <a:buNone/>
            </a:pPr>
            <a:r>
              <a:rPr lang="en-US" sz="1050" dirty="0">
                <a:solidFill>
                  <a:srgbClr val="0B0F16"/>
                </a:solidFill>
                <a:latin typeface="Calibri" pitchFamily="34" charset="0"/>
                <a:ea typeface="Calibri" pitchFamily="34" charset="-122"/>
                <a:cs typeface="Calibri" pitchFamily="34" charset="-120"/>
              </a:rPr>
              <a:t>3  Buy sell imbalance</a:t>
            </a:r>
            <a:endParaRPr lang="en-US" sz="1050" dirty="0"/>
          </a:p>
        </p:txBody>
      </p:sp>
      <p:sp>
        <p:nvSpPr>
          <p:cNvPr id="36" name="Text 32"/>
          <p:cNvSpPr txBox="1"/>
          <p:nvPr/>
        </p:nvSpPr>
        <p:spPr>
          <a:xfrm>
            <a:off x="6629400" y="4855464"/>
            <a:ext cx="548640" cy="329184"/>
          </a:xfrm>
          <a:prstGeom prst="rect">
            <a:avLst/>
          </a:prstGeom>
          <a:noFill/>
          <a:ln/>
        </p:spPr>
        <p:txBody>
          <a:bodyPr wrap="square" lIns="0" tIns="0" rIns="0" bIns="0" rtlCol="0" anchor="ctr"/>
          <a:lstStyle/>
          <a:p>
            <a:pPr algn="r" indent="0" marL="0">
              <a:buNone/>
            </a:pPr>
            <a:r>
              <a:rPr lang="en-US" sz="1000" dirty="0">
                <a:solidFill>
                  <a:srgbClr val="5D6A80"/>
                </a:solidFill>
                <a:latin typeface="Courier New" pitchFamily="34" charset="0"/>
                <a:ea typeface="Courier New" pitchFamily="34" charset="-122"/>
                <a:cs typeface="Courier New" pitchFamily="34" charset="-120"/>
              </a:rPr>
              <a:t>0.42</a:t>
            </a:r>
            <a:endParaRPr lang="en-US" sz="1000" dirty="0"/>
          </a:p>
        </p:txBody>
      </p:sp>
      <p:sp>
        <p:nvSpPr>
          <p:cNvPr id="37" name="Text 33"/>
          <p:cNvSpPr txBox="1"/>
          <p:nvPr/>
        </p:nvSpPr>
        <p:spPr>
          <a:xfrm>
            <a:off x="4160520" y="5184648"/>
            <a:ext cx="2468880" cy="329184"/>
          </a:xfrm>
          <a:prstGeom prst="rect">
            <a:avLst/>
          </a:prstGeom>
          <a:noFill/>
          <a:ln/>
        </p:spPr>
        <p:txBody>
          <a:bodyPr wrap="square" lIns="0" tIns="0" rIns="0" bIns="0" rtlCol="0" anchor="ctr"/>
          <a:lstStyle/>
          <a:p>
            <a:pPr indent="0" marL="0">
              <a:buNone/>
            </a:pPr>
            <a:r>
              <a:rPr lang="en-US" sz="1050" dirty="0">
                <a:solidFill>
                  <a:srgbClr val="0B0F16"/>
                </a:solidFill>
                <a:latin typeface="Calibri" pitchFamily="34" charset="0"/>
                <a:ea typeface="Calibri" pitchFamily="34" charset="-122"/>
                <a:cs typeface="Calibri" pitchFamily="34" charset="-120"/>
              </a:rPr>
              <a:t>4  Lead lag ignition</a:t>
            </a:r>
            <a:endParaRPr lang="en-US" sz="1050" dirty="0"/>
          </a:p>
        </p:txBody>
      </p:sp>
      <p:sp>
        <p:nvSpPr>
          <p:cNvPr id="38" name="Text 34"/>
          <p:cNvSpPr txBox="1"/>
          <p:nvPr/>
        </p:nvSpPr>
        <p:spPr>
          <a:xfrm>
            <a:off x="6629400" y="5184648"/>
            <a:ext cx="548640" cy="329184"/>
          </a:xfrm>
          <a:prstGeom prst="rect">
            <a:avLst/>
          </a:prstGeom>
          <a:noFill/>
          <a:ln/>
        </p:spPr>
        <p:txBody>
          <a:bodyPr wrap="square" lIns="0" tIns="0" rIns="0" bIns="0" rtlCol="0" anchor="ctr"/>
          <a:lstStyle/>
          <a:p>
            <a:pPr algn="r" indent="0" marL="0">
              <a:buNone/>
            </a:pPr>
            <a:r>
              <a:rPr lang="en-US" sz="1000" dirty="0">
                <a:solidFill>
                  <a:srgbClr val="5D6A80"/>
                </a:solidFill>
                <a:latin typeface="Courier New" pitchFamily="34" charset="0"/>
                <a:ea typeface="Courier New" pitchFamily="34" charset="-122"/>
                <a:cs typeface="Courier New" pitchFamily="34" charset="-120"/>
              </a:rPr>
              <a:t>0.41</a:t>
            </a:r>
            <a:endParaRPr lang="en-US" sz="1000" dirty="0"/>
          </a:p>
        </p:txBody>
      </p:sp>
      <p:sp>
        <p:nvSpPr>
          <p:cNvPr id="39" name="Text 35"/>
          <p:cNvSpPr txBox="1"/>
          <p:nvPr/>
        </p:nvSpPr>
        <p:spPr>
          <a:xfrm>
            <a:off x="4160520" y="5513832"/>
            <a:ext cx="2468880" cy="329184"/>
          </a:xfrm>
          <a:prstGeom prst="rect">
            <a:avLst/>
          </a:prstGeom>
          <a:noFill/>
          <a:ln/>
        </p:spPr>
        <p:txBody>
          <a:bodyPr wrap="square" lIns="0" tIns="0" rIns="0" bIns="0" rtlCol="0" anchor="ctr"/>
          <a:lstStyle/>
          <a:p>
            <a:pPr indent="0" marL="0">
              <a:buNone/>
            </a:pPr>
            <a:r>
              <a:rPr lang="en-US" sz="1050" dirty="0">
                <a:solidFill>
                  <a:srgbClr val="0B0F16"/>
                </a:solidFill>
                <a:latin typeface="Calibri" pitchFamily="34" charset="0"/>
                <a:ea typeface="Calibri" pitchFamily="34" charset="-122"/>
                <a:cs typeface="Calibri" pitchFamily="34" charset="-120"/>
              </a:rPr>
              <a:t>5  Network community</a:t>
            </a:r>
            <a:endParaRPr lang="en-US" sz="1050" dirty="0"/>
          </a:p>
        </p:txBody>
      </p:sp>
      <p:sp>
        <p:nvSpPr>
          <p:cNvPr id="40" name="Text 36"/>
          <p:cNvSpPr txBox="1"/>
          <p:nvPr/>
        </p:nvSpPr>
        <p:spPr>
          <a:xfrm>
            <a:off x="6629400" y="5513832"/>
            <a:ext cx="548640" cy="329184"/>
          </a:xfrm>
          <a:prstGeom prst="rect">
            <a:avLst/>
          </a:prstGeom>
          <a:noFill/>
          <a:ln/>
        </p:spPr>
        <p:txBody>
          <a:bodyPr wrap="square" lIns="0" tIns="0" rIns="0" bIns="0" rtlCol="0" anchor="ctr"/>
          <a:lstStyle/>
          <a:p>
            <a:pPr algn="r" indent="0" marL="0">
              <a:buNone/>
            </a:pPr>
            <a:r>
              <a:rPr lang="en-US" sz="1000" dirty="0">
                <a:solidFill>
                  <a:srgbClr val="5D6A80"/>
                </a:solidFill>
                <a:latin typeface="Courier New" pitchFamily="34" charset="0"/>
                <a:ea typeface="Courier New" pitchFamily="34" charset="-122"/>
                <a:cs typeface="Courier New" pitchFamily="34" charset="-120"/>
              </a:rPr>
              <a:t>0.41</a:t>
            </a:r>
            <a:endParaRPr lang="en-US" sz="1000" dirty="0"/>
          </a:p>
        </p:txBody>
      </p:sp>
      <p:sp>
        <p:nvSpPr>
          <p:cNvPr id="41" name="Text 37"/>
          <p:cNvSpPr txBox="1"/>
          <p:nvPr/>
        </p:nvSpPr>
        <p:spPr>
          <a:xfrm>
            <a:off x="4160520" y="5843016"/>
            <a:ext cx="2468880" cy="329184"/>
          </a:xfrm>
          <a:prstGeom prst="rect">
            <a:avLst/>
          </a:prstGeom>
          <a:noFill/>
          <a:ln/>
        </p:spPr>
        <p:txBody>
          <a:bodyPr wrap="square" lIns="0" tIns="0" rIns="0" bIns="0" rtlCol="0" anchor="ctr"/>
          <a:lstStyle/>
          <a:p>
            <a:pPr indent="0" marL="0">
              <a:buNone/>
            </a:pPr>
            <a:r>
              <a:rPr lang="en-US" sz="1050" dirty="0">
                <a:solidFill>
                  <a:srgbClr val="0B0F16"/>
                </a:solidFill>
                <a:latin typeface="Calibri" pitchFamily="34" charset="0"/>
                <a:ea typeface="Calibri" pitchFamily="34" charset="-122"/>
                <a:cs typeface="Calibri" pitchFamily="34" charset="-120"/>
              </a:rPr>
              <a:t>6  Correlation clustering</a:t>
            </a:r>
            <a:endParaRPr lang="en-US" sz="1050" dirty="0"/>
          </a:p>
        </p:txBody>
      </p:sp>
      <p:sp>
        <p:nvSpPr>
          <p:cNvPr id="42" name="Text 38"/>
          <p:cNvSpPr txBox="1"/>
          <p:nvPr/>
        </p:nvSpPr>
        <p:spPr>
          <a:xfrm>
            <a:off x="6629400" y="5843016"/>
            <a:ext cx="548640" cy="329184"/>
          </a:xfrm>
          <a:prstGeom prst="rect">
            <a:avLst/>
          </a:prstGeom>
          <a:noFill/>
          <a:ln/>
        </p:spPr>
        <p:txBody>
          <a:bodyPr wrap="square" lIns="0" tIns="0" rIns="0" bIns="0" rtlCol="0" anchor="ctr"/>
          <a:lstStyle/>
          <a:p>
            <a:pPr algn="r" indent="0" marL="0">
              <a:buNone/>
            </a:pPr>
            <a:r>
              <a:rPr lang="en-US" sz="1000" dirty="0">
                <a:solidFill>
                  <a:srgbClr val="5D6A80"/>
                </a:solidFill>
                <a:latin typeface="Courier New" pitchFamily="34" charset="0"/>
                <a:ea typeface="Courier New" pitchFamily="34" charset="-122"/>
                <a:cs typeface="Courier New" pitchFamily="34" charset="-120"/>
              </a:rPr>
              <a:t>0.34</a:t>
            </a:r>
            <a:endParaRPr lang="en-US" sz="1000" dirty="0"/>
          </a:p>
        </p:txBody>
      </p:sp>
      <p:sp>
        <p:nvSpPr>
          <p:cNvPr id="43" name="Text 39"/>
          <p:cNvSpPr txBox="1"/>
          <p:nvPr/>
        </p:nvSpPr>
        <p:spPr>
          <a:xfrm>
            <a:off x="4160520" y="6172200"/>
            <a:ext cx="2468880" cy="329184"/>
          </a:xfrm>
          <a:prstGeom prst="rect">
            <a:avLst/>
          </a:prstGeom>
          <a:noFill/>
          <a:ln/>
        </p:spPr>
        <p:txBody>
          <a:bodyPr wrap="square" lIns="0" tIns="0" rIns="0" bIns="0" rtlCol="0" anchor="ctr"/>
          <a:lstStyle/>
          <a:p>
            <a:pPr indent="0" marL="0">
              <a:buNone/>
            </a:pPr>
            <a:r>
              <a:rPr lang="en-US" sz="1050" dirty="0">
                <a:solidFill>
                  <a:srgbClr val="0B0F16"/>
                </a:solidFill>
                <a:latin typeface="Calibri" pitchFamily="34" charset="0"/>
                <a:ea typeface="Calibri" pitchFamily="34" charset="-122"/>
                <a:cs typeface="Calibri" pitchFamily="34" charset="-120"/>
              </a:rPr>
              <a:t>7  Endogeneity (Hawkes)</a:t>
            </a:r>
            <a:endParaRPr lang="en-US" sz="1050" dirty="0"/>
          </a:p>
        </p:txBody>
      </p:sp>
      <p:sp>
        <p:nvSpPr>
          <p:cNvPr id="44" name="Text 40"/>
          <p:cNvSpPr txBox="1"/>
          <p:nvPr/>
        </p:nvSpPr>
        <p:spPr>
          <a:xfrm>
            <a:off x="6629400" y="6172200"/>
            <a:ext cx="548640" cy="329184"/>
          </a:xfrm>
          <a:prstGeom prst="rect">
            <a:avLst/>
          </a:prstGeom>
          <a:noFill/>
          <a:ln/>
        </p:spPr>
        <p:txBody>
          <a:bodyPr wrap="square" lIns="0" tIns="0" rIns="0" bIns="0" rtlCol="0" anchor="ctr"/>
          <a:lstStyle/>
          <a:p>
            <a:pPr algn="r" indent="0" marL="0">
              <a:buNone/>
            </a:pPr>
            <a:r>
              <a:rPr lang="en-US" sz="1000" dirty="0">
                <a:solidFill>
                  <a:srgbClr val="5D6A80"/>
                </a:solidFill>
                <a:latin typeface="Courier New" pitchFamily="34" charset="0"/>
                <a:ea typeface="Courier New" pitchFamily="34" charset="-122"/>
                <a:cs typeface="Courier New" pitchFamily="34" charset="-120"/>
              </a:rPr>
              <a:t>0.30</a:t>
            </a:r>
            <a:endParaRPr lang="en-US" sz="1000" dirty="0"/>
          </a:p>
        </p:txBody>
      </p:sp>
      <p:sp>
        <p:nvSpPr>
          <p:cNvPr id="45" name="Text 41"/>
          <p:cNvSpPr txBox="1"/>
          <p:nvPr/>
        </p:nvSpPr>
        <p:spPr>
          <a:xfrm>
            <a:off x="4160520" y="6501384"/>
            <a:ext cx="2468880" cy="329184"/>
          </a:xfrm>
          <a:prstGeom prst="rect">
            <a:avLst/>
          </a:prstGeom>
          <a:noFill/>
          <a:ln/>
        </p:spPr>
        <p:txBody>
          <a:bodyPr wrap="square" lIns="0" tIns="0" rIns="0" bIns="0" rtlCol="0" anchor="ctr"/>
          <a:lstStyle/>
          <a:p>
            <a:pPr indent="0" marL="0">
              <a:buNone/>
            </a:pPr>
            <a:r>
              <a:rPr lang="en-US" sz="1050" dirty="0">
                <a:solidFill>
                  <a:srgbClr val="0B0F16"/>
                </a:solidFill>
                <a:latin typeface="Calibri" pitchFamily="34" charset="0"/>
                <a:ea typeface="Calibri" pitchFamily="34" charset="-122"/>
                <a:cs typeface="Calibri" pitchFamily="34" charset="-120"/>
              </a:rPr>
              <a:t>8  Volatility trigger</a:t>
            </a:r>
            <a:endParaRPr lang="en-US" sz="1050" dirty="0"/>
          </a:p>
        </p:txBody>
      </p:sp>
      <p:sp>
        <p:nvSpPr>
          <p:cNvPr id="46" name="Text 42"/>
          <p:cNvSpPr txBox="1"/>
          <p:nvPr/>
        </p:nvSpPr>
        <p:spPr>
          <a:xfrm>
            <a:off x="6629400" y="6501384"/>
            <a:ext cx="548640" cy="329184"/>
          </a:xfrm>
          <a:prstGeom prst="rect">
            <a:avLst/>
          </a:prstGeom>
          <a:noFill/>
          <a:ln/>
        </p:spPr>
        <p:txBody>
          <a:bodyPr wrap="square" lIns="0" tIns="0" rIns="0" bIns="0" rtlCol="0" anchor="ctr"/>
          <a:lstStyle/>
          <a:p>
            <a:pPr algn="r" indent="0" marL="0">
              <a:buNone/>
            </a:pPr>
            <a:r>
              <a:rPr lang="en-US" sz="1000" dirty="0">
                <a:solidFill>
                  <a:srgbClr val="5D6A80"/>
                </a:solidFill>
                <a:latin typeface="Courier New" pitchFamily="34" charset="0"/>
                <a:ea typeface="Courier New" pitchFamily="34" charset="-122"/>
                <a:cs typeface="Courier New" pitchFamily="34" charset="-120"/>
              </a:rPr>
              <a:t>0.25</a:t>
            </a:r>
            <a:endParaRPr lang="en-US" sz="1000" dirty="0"/>
          </a:p>
        </p:txBody>
      </p:sp>
      <p:sp>
        <p:nvSpPr>
          <p:cNvPr id="47" name="Shape 43"/>
          <p:cNvSpPr/>
          <p:nvPr/>
        </p:nvSpPr>
        <p:spPr>
          <a:xfrm>
            <a:off x="3703320" y="4361688"/>
            <a:ext cx="411480" cy="2304288"/>
          </a:xfrm>
          <a:prstGeom prst="line">
            <a:avLst/>
          </a:prstGeom>
          <a:noFill/>
          <a:ln w="22225">
            <a:solidFill>
              <a:srgbClr val="F6B52A"/>
            </a:solidFill>
            <a:prstDash val="solid"/>
          </a:ln>
        </p:spPr>
      </p:sp>
      <p:sp>
        <p:nvSpPr>
          <p:cNvPr id="48" name="Shape 44"/>
          <p:cNvSpPr/>
          <p:nvPr/>
        </p:nvSpPr>
        <p:spPr>
          <a:xfrm>
            <a:off x="3703320" y="4690872"/>
            <a:ext cx="411480" cy="914"/>
          </a:xfrm>
          <a:prstGeom prst="line">
            <a:avLst/>
          </a:prstGeom>
          <a:noFill/>
          <a:ln w="9525">
            <a:solidFill>
              <a:srgbClr val="B9C2D3"/>
            </a:solidFill>
            <a:prstDash val="solid"/>
          </a:ln>
        </p:spPr>
      </p:sp>
      <p:sp>
        <p:nvSpPr>
          <p:cNvPr id="49" name="Shape 45"/>
          <p:cNvSpPr/>
          <p:nvPr/>
        </p:nvSpPr>
        <p:spPr>
          <a:xfrm>
            <a:off x="3703320" y="5020056"/>
            <a:ext cx="411480" cy="1316736"/>
          </a:xfrm>
          <a:prstGeom prst="line">
            <a:avLst/>
          </a:prstGeom>
          <a:noFill/>
          <a:ln w="9525">
            <a:solidFill>
              <a:srgbClr val="B9C2D3"/>
            </a:solidFill>
            <a:prstDash val="solid"/>
          </a:ln>
        </p:spPr>
      </p:sp>
      <p:sp>
        <p:nvSpPr>
          <p:cNvPr id="50" name="Shape 46"/>
          <p:cNvSpPr/>
          <p:nvPr/>
        </p:nvSpPr>
        <p:spPr>
          <a:xfrm>
            <a:off x="3703320" y="5349240"/>
            <a:ext cx="411480" cy="658368"/>
          </a:xfrm>
          <a:prstGeom prst="line">
            <a:avLst/>
          </a:prstGeom>
          <a:noFill/>
          <a:ln w="9525">
            <a:solidFill>
              <a:srgbClr val="B9C2D3"/>
            </a:solidFill>
            <a:prstDash val="solid"/>
          </a:ln>
        </p:spPr>
      </p:sp>
      <p:sp>
        <p:nvSpPr>
          <p:cNvPr id="51" name="Shape 47"/>
          <p:cNvSpPr/>
          <p:nvPr/>
        </p:nvSpPr>
        <p:spPr>
          <a:xfrm flipV="1">
            <a:off x="3703320" y="5020056"/>
            <a:ext cx="411480" cy="658368"/>
          </a:xfrm>
          <a:prstGeom prst="line">
            <a:avLst/>
          </a:prstGeom>
          <a:noFill/>
          <a:ln w="9525">
            <a:solidFill>
              <a:srgbClr val="B9C2D3"/>
            </a:solidFill>
            <a:prstDash val="solid"/>
          </a:ln>
        </p:spPr>
      </p:sp>
      <p:sp>
        <p:nvSpPr>
          <p:cNvPr id="52" name="Shape 48"/>
          <p:cNvSpPr/>
          <p:nvPr/>
        </p:nvSpPr>
        <p:spPr>
          <a:xfrm flipV="1">
            <a:off x="3703320" y="4361688"/>
            <a:ext cx="411480" cy="1645920"/>
          </a:xfrm>
          <a:prstGeom prst="line">
            <a:avLst/>
          </a:prstGeom>
          <a:noFill/>
          <a:ln w="22225">
            <a:solidFill>
              <a:srgbClr val="F6B52A"/>
            </a:solidFill>
            <a:prstDash val="solid"/>
          </a:ln>
        </p:spPr>
      </p:sp>
      <p:sp>
        <p:nvSpPr>
          <p:cNvPr id="53" name="Shape 49"/>
          <p:cNvSpPr/>
          <p:nvPr/>
        </p:nvSpPr>
        <p:spPr>
          <a:xfrm flipV="1">
            <a:off x="3703320" y="5678424"/>
            <a:ext cx="411480" cy="658368"/>
          </a:xfrm>
          <a:prstGeom prst="line">
            <a:avLst/>
          </a:prstGeom>
          <a:noFill/>
          <a:ln w="9525">
            <a:solidFill>
              <a:srgbClr val="B9C2D3"/>
            </a:solidFill>
            <a:prstDash val="solid"/>
          </a:ln>
        </p:spPr>
      </p:sp>
      <p:sp>
        <p:nvSpPr>
          <p:cNvPr id="54" name="Shape 50"/>
          <p:cNvSpPr/>
          <p:nvPr/>
        </p:nvSpPr>
        <p:spPr>
          <a:xfrm flipV="1">
            <a:off x="3703320" y="5349240"/>
            <a:ext cx="411480" cy="1316736"/>
          </a:xfrm>
          <a:prstGeom prst="line">
            <a:avLst/>
          </a:prstGeom>
          <a:noFill/>
          <a:ln w="9525">
            <a:solidFill>
              <a:srgbClr val="B9C2D3"/>
            </a:solidFill>
            <a:prstDash val="solid"/>
          </a:ln>
        </p:spPr>
      </p:sp>
      <p:sp>
        <p:nvSpPr>
          <p:cNvPr id="55" name="Text 51"/>
          <p:cNvSpPr txBox="1"/>
          <p:nvPr/>
        </p:nvSpPr>
        <p:spPr>
          <a:xfrm>
            <a:off x="548640" y="6858000"/>
            <a:ext cx="6766560" cy="640080"/>
          </a:xfrm>
          <a:prstGeom prst="rect">
            <a:avLst/>
          </a:prstGeom>
          <a:noFill/>
          <a:ln/>
        </p:spPr>
        <p:txBody>
          <a:bodyPr wrap="square" lIns="0" tIns="0" rIns="0" bIns="0" rtlCol="0" anchor="t"/>
          <a:lstStyle/>
          <a:p>
            <a:pPr indent="0" marL="0">
              <a:buNone/>
            </a:pPr>
            <a:r>
              <a:rPr lang="en-US" sz="950" dirty="0">
                <a:solidFill>
                  <a:srgbClr val="5D6A80"/>
                </a:solidFill>
                <a:latin typeface="Calibri" pitchFamily="34" charset="0"/>
                <a:ea typeface="Calibri" pitchFamily="34" charset="-122"/>
                <a:cs typeface="Calibri" pitchFamily="34" charset="-120"/>
              </a:rPr>
              <a:t>Certification: tail dependence is the most accurate tool whose false alert probability on a new quiet market is bounded at 0.25 by a conformal threshold set on 8 calibration scenarios. It tops the decision ranking in 98% of resamples; the walk forward test (certify on earlier folds, score on the next) shows a mean regret of 0.27, so the procedure, not the tool, is what is certified.</a:t>
            </a:r>
            <a:endParaRPr lang="en-US" sz="950" dirty="0"/>
          </a:p>
        </p:txBody>
      </p:sp>
      <p:sp>
        <p:nvSpPr>
          <p:cNvPr id="56" name="Shape 52"/>
          <p:cNvSpPr/>
          <p:nvPr/>
        </p:nvSpPr>
        <p:spPr>
          <a:xfrm>
            <a:off x="7772400" y="2103120"/>
            <a:ext cx="310896" cy="310896"/>
          </a:xfrm>
          <a:prstGeom prst="rect">
            <a:avLst/>
          </a:prstGeom>
          <a:solidFill>
            <a:srgbClr val="F6B52A"/>
          </a:solidFill>
          <a:ln w="12700">
            <a:solidFill>
              <a:srgbClr val="F6B52A"/>
            </a:solidFill>
            <a:prstDash val="solid"/>
          </a:ln>
        </p:spPr>
      </p:sp>
      <p:sp>
        <p:nvSpPr>
          <p:cNvPr id="57" name="Text 53"/>
          <p:cNvSpPr txBox="1"/>
          <p:nvPr/>
        </p:nvSpPr>
        <p:spPr>
          <a:xfrm>
            <a:off x="7772400" y="2103120"/>
            <a:ext cx="310896" cy="310896"/>
          </a:xfrm>
          <a:prstGeom prst="rect">
            <a:avLst/>
          </a:prstGeom>
          <a:noFill/>
          <a:ln/>
        </p:spPr>
        <p:txBody>
          <a:bodyPr wrap="square" lIns="0" tIns="0" rIns="0" bIns="0" rtlCol="0" anchor="ctr"/>
          <a:lstStyle/>
          <a:p>
            <a:pPr algn="ctr" indent="0" marL="0">
              <a:buNone/>
            </a:pPr>
            <a:r>
              <a:rPr lang="en-US" sz="1100" b="1" dirty="0">
                <a:solidFill>
                  <a:srgbClr val="0B0F16"/>
                </a:solidFill>
                <a:latin typeface="Courier New" pitchFamily="34" charset="0"/>
                <a:ea typeface="Courier New" pitchFamily="34" charset="-122"/>
                <a:cs typeface="Courier New" pitchFamily="34" charset="-120"/>
              </a:rPr>
              <a:t>I</a:t>
            </a:r>
            <a:endParaRPr lang="en-US" sz="1100" dirty="0"/>
          </a:p>
        </p:txBody>
      </p:sp>
      <p:sp>
        <p:nvSpPr>
          <p:cNvPr id="58" name="Shape 54"/>
          <p:cNvSpPr/>
          <p:nvPr/>
        </p:nvSpPr>
        <p:spPr>
          <a:xfrm>
            <a:off x="8083296" y="2103120"/>
            <a:ext cx="603504" cy="310896"/>
          </a:xfrm>
          <a:prstGeom prst="rect">
            <a:avLst/>
          </a:prstGeom>
          <a:solidFill>
            <a:srgbClr val="0B0F16"/>
          </a:solidFill>
          <a:ln w="12700">
            <a:solidFill>
              <a:srgbClr val="0B0F16"/>
            </a:solidFill>
            <a:prstDash val="solid"/>
          </a:ln>
        </p:spPr>
      </p:sp>
      <p:sp>
        <p:nvSpPr>
          <p:cNvPr id="59" name="Text 55"/>
          <p:cNvSpPr txBox="1"/>
          <p:nvPr/>
        </p:nvSpPr>
        <p:spPr>
          <a:xfrm>
            <a:off x="8083296" y="2103120"/>
            <a:ext cx="603504" cy="310896"/>
          </a:xfrm>
          <a:prstGeom prst="rect">
            <a:avLst/>
          </a:prstGeom>
          <a:noFill/>
          <a:ln/>
        </p:spPr>
        <p:txBody>
          <a:bodyPr wrap="square" lIns="0" tIns="0" rIns="0" bIns="0" rtlCol="0" anchor="ctr"/>
          <a:lstStyle/>
          <a:p>
            <a:pPr algn="ctr" indent="0" marL="0">
              <a:buNone/>
            </a:pPr>
            <a:r>
              <a:rPr lang="en-US" sz="1100" b="1" spc="200" kern="0" dirty="0">
                <a:solidFill>
                  <a:srgbClr val="F6B52A"/>
                </a:solidFill>
                <a:latin typeface="Courier New" pitchFamily="34" charset="0"/>
                <a:ea typeface="Courier New" pitchFamily="34" charset="-122"/>
                <a:cs typeface="Courier New" pitchFamily="34" charset="-120"/>
              </a:rPr>
              <a:t>INT</a:t>
            </a:r>
            <a:endParaRPr lang="en-US" sz="1100" dirty="0"/>
          </a:p>
        </p:txBody>
      </p:sp>
      <p:sp>
        <p:nvSpPr>
          <p:cNvPr id="60" name="Text 56"/>
          <p:cNvSpPr txBox="1"/>
          <p:nvPr/>
        </p:nvSpPr>
        <p:spPr>
          <a:xfrm>
            <a:off x="8823960" y="2075688"/>
            <a:ext cx="5212080" cy="365760"/>
          </a:xfrm>
          <a:prstGeom prst="rect">
            <a:avLst/>
          </a:prstGeom>
          <a:noFill/>
          <a:ln/>
        </p:spPr>
        <p:txBody>
          <a:bodyPr wrap="square" lIns="0" tIns="0" rIns="0" bIns="0" rtlCol="0" anchor="ctr"/>
          <a:lstStyle/>
          <a:p>
            <a:pPr indent="0" marL="0">
              <a:buNone/>
            </a:pPr>
            <a:r>
              <a:rPr lang="en-US" sz="1500" b="1" dirty="0">
                <a:solidFill>
                  <a:srgbClr val="0B0F16"/>
                </a:solidFill>
                <a:latin typeface="Calibri" pitchFamily="34" charset="0"/>
                <a:ea typeface="Calibri" pitchFamily="34" charset="-122"/>
                <a:cs typeface="Calibri" pitchFamily="34" charset="-120"/>
              </a:rPr>
              <a:t>How an intervention rule is scored</a:t>
            </a:r>
            <a:endParaRPr lang="en-US" sz="1500" dirty="0"/>
          </a:p>
        </p:txBody>
      </p:sp>
      <p:sp>
        <p:nvSpPr>
          <p:cNvPr id="61" name="Text 57"/>
          <p:cNvSpPr txBox="1"/>
          <p:nvPr/>
        </p:nvSpPr>
        <p:spPr>
          <a:xfrm>
            <a:off x="7772400" y="2560320"/>
            <a:ext cx="6309360" cy="1463040"/>
          </a:xfrm>
          <a:prstGeom prst="rect">
            <a:avLst/>
          </a:prstGeom>
          <a:noFill/>
          <a:ln/>
        </p:spPr>
        <p:txBody>
          <a:bodyPr wrap="square" lIns="0" tIns="0" rIns="0" bIns="0" rtlCol="0" anchor="t"/>
          <a:lstStyle/>
          <a:p>
            <a:pPr indent="0" marL="0">
              <a:lnSpc>
                <a:spcPct val="105000"/>
              </a:lnSpc>
              <a:buNone/>
            </a:pPr>
            <a:r>
              <a:rPr lang="en-US" sz="1050" b="1" dirty="0">
                <a:solidFill>
                  <a:srgbClr val="0B0F16"/>
                </a:solidFill>
                <a:latin typeface="Calibri" pitchFamily="34" charset="0"/>
                <a:ea typeface="Calibri" pitchFamily="34" charset="-122"/>
                <a:cs typeface="Calibri" pitchFamily="34" charset="-120"/>
              </a:rPr>
              <a:t>Each rule is applied to every herding scenario and to the quiet ones. </a:t>
            </a:r>
            <a:pPr indent="0" marL="0">
              <a:lnSpc>
                <a:spcPct val="105000"/>
              </a:lnSpc>
              <a:buNone/>
            </a:pPr>
            <a:r>
              <a:rPr lang="en-US" sz="1050" dirty="0">
                <a:solidFill>
                  <a:srgbClr val="0B0F16"/>
                </a:solidFill>
                <a:latin typeface="Calibri" pitchFamily="34" charset="0"/>
                <a:ea typeface="Calibri" pitchFamily="34" charset="-122"/>
                <a:cs typeface="Calibri" pitchFamily="34" charset="-120"/>
              </a:rPr>
              <a:t>Containment is the share of the dislocation it removes; the hazard ratio (Cox model against the untreated market) is the chance of a crash beginning at any moment relative to doing nothing, so 0.27 means the breaker prevents crashes rather than delaying them; the expected shortfall reduction is the cut to the worst tenth of crashes; false halts are how often it stops a calm market. The appraisal then asks three regulator's questions, containment, false halts and proportionality: only the market wide breaker passes all three.</a:t>
            </a:r>
            <a:endParaRPr lang="en-US" sz="1050" dirty="0"/>
          </a:p>
        </p:txBody>
      </p:sp>
      <p:graphicFrame>
        <p:nvGraphicFramePr>
          <p:cNvPr id="62" name="Chart 0" descr=""/>
          <p:cNvGraphicFramePr/>
          <p:nvPr/>
        </p:nvGraphicFramePr>
        <p:xfrm>
          <a:off x="7772400" y="4069080"/>
          <a:ext cx="6309360" cy="2926080"/>
        </p:xfrm>
        <a:graphic xmlns:a="http://schemas.openxmlformats.org/drawingml/2006/main">
          <a:graphicData uri="http://schemas.openxmlformats.org/drawingml/2006/chart">
            <c:chart xmlns:c="http://schemas.openxmlformats.org/drawingml/2006/chart" r:id="rId3"/>
          </a:graphicData>
        </a:graphic>
      </p:graphicFrame>
      <p:sp>
        <p:nvSpPr>
          <p:cNvPr id="63" name="Text 58"/>
          <p:cNvSpPr txBox="1"/>
          <p:nvPr/>
        </p:nvSpPr>
        <p:spPr>
          <a:xfrm>
            <a:off x="7772400" y="7040880"/>
            <a:ext cx="6309360" cy="411480"/>
          </a:xfrm>
          <a:prstGeom prst="rect">
            <a:avLst/>
          </a:prstGeom>
          <a:noFill/>
          <a:ln/>
        </p:spPr>
        <p:txBody>
          <a:bodyPr wrap="square" lIns="0" tIns="0" rIns="0" bIns="0" rtlCol="0" anchor="ctr"/>
          <a:lstStyle/>
          <a:p>
            <a:pPr indent="0" marL="0">
              <a:buNone/>
            </a:pPr>
            <a:r>
              <a:rPr lang="en-US" sz="950" dirty="0">
                <a:solidFill>
                  <a:srgbClr val="5D6A80"/>
                </a:solidFill>
                <a:latin typeface="Calibri" pitchFamily="34" charset="0"/>
                <a:ea typeface="Calibri" pitchFamily="34" charset="-122"/>
                <a:cs typeface="Calibri" pitchFamily="34" charset="-120"/>
              </a:rPr>
              <a:t>Hazard ratios: breaker 0.27, throttle 0.50, kill switch 0.63, LULD 0.61, venue halt 0.80, ladder 0.72. No rule halted a quiet market.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cdir.png">    </p:cNvPr>
          <p:cNvPicPr>
            <a:picLocks noChangeAspect="1"/>
          </p:cNvPicPr>
          <p:nvPr/>
        </p:nvPicPr>
        <p:blipFill>
          <a:blip r:embed="rId1"/>
          <a:stretch>
            <a:fillRect/>
          </a:stretch>
        </p:blipFill>
        <p:spPr>
          <a:xfrm>
            <a:off x="548640" y="384048"/>
            <a:ext cx="1737360" cy="434340"/>
          </a:xfrm>
          <a:prstGeom prst="rect">
            <a:avLst/>
          </a:prstGeom>
        </p:spPr>
      </p:pic>
      <p:pic>
        <p:nvPicPr>
          <p:cNvPr id="3" name="Image 1" descr="fii.png">    </p:cNvPr>
          <p:cNvPicPr>
            <a:picLocks noChangeAspect="1"/>
          </p:cNvPicPr>
          <p:nvPr/>
        </p:nvPicPr>
        <p:blipFill>
          <a:blip r:embed="rId2"/>
          <a:stretch>
            <a:fillRect/>
          </a:stretch>
        </p:blipFill>
        <p:spPr>
          <a:xfrm>
            <a:off x="11658600" y="347472"/>
            <a:ext cx="2423160" cy="822960"/>
          </a:xfrm>
          <a:prstGeom prst="rect">
            <a:avLst/>
          </a:prstGeom>
        </p:spPr>
      </p:pic>
      <p:sp>
        <p:nvSpPr>
          <p:cNvPr id="4" name="Text 0"/>
          <p:cNvSpPr txBox="1"/>
          <p:nvPr/>
        </p:nvSpPr>
        <p:spPr>
          <a:xfrm>
            <a:off x="548640" y="1234440"/>
            <a:ext cx="10058400" cy="640080"/>
          </a:xfrm>
          <a:prstGeom prst="rect">
            <a:avLst/>
          </a:prstGeom>
          <a:noFill/>
          <a:ln/>
        </p:spPr>
        <p:txBody>
          <a:bodyPr wrap="square" lIns="0" tIns="0" rIns="0" bIns="0" rtlCol="0" anchor="ctr"/>
          <a:lstStyle/>
          <a:p>
            <a:pPr indent="0" marL="0">
              <a:buNone/>
            </a:pPr>
            <a:r>
              <a:rPr lang="en-US" sz="3000" b="1" dirty="0">
                <a:solidFill>
                  <a:srgbClr val="0B0F16"/>
                </a:solidFill>
                <a:latin typeface="Calibri" pitchFamily="34" charset="0"/>
                <a:ea typeface="Calibri" pitchFamily="34" charset="-122"/>
                <a:cs typeface="Calibri" pitchFamily="34" charset="-120"/>
              </a:rPr>
              <a:t>Reading the results (2 of 2): causes, robustness, your own data</a:t>
            </a:r>
            <a:endParaRPr lang="en-US" sz="3000" dirty="0"/>
          </a:p>
        </p:txBody>
      </p:sp>
      <p:sp>
        <p:nvSpPr>
          <p:cNvPr id="5" name="Text 1"/>
          <p:cNvSpPr txBox="1"/>
          <p:nvPr/>
        </p:nvSpPr>
        <p:spPr>
          <a:xfrm>
            <a:off x="548640" y="7635240"/>
            <a:ext cx="4572000" cy="320040"/>
          </a:xfrm>
          <a:prstGeom prst="rect">
            <a:avLst/>
          </a:prstGeom>
          <a:noFill/>
          <a:ln/>
        </p:spPr>
        <p:txBody>
          <a:bodyPr wrap="square" lIns="0" tIns="0" rIns="0" bIns="0" rtlCol="0" anchor="ctr"/>
          <a:lstStyle/>
          <a:p>
            <a:pPr indent="0" marL="0">
              <a:buNone/>
            </a:pPr>
            <a:r>
              <a:rPr lang="en-US" sz="1000" dirty="0">
                <a:solidFill>
                  <a:srgbClr val="5D6A80"/>
                </a:solidFill>
                <a:latin typeface="Calibri" pitchFamily="34" charset="0"/>
                <a:ea typeface="Calibri" pitchFamily="34" charset="-122"/>
                <a:cs typeface="Calibri" pitchFamily="34" charset="-120"/>
              </a:rPr>
              <a:t>No Human Intelligence</a:t>
            </a:r>
            <a:endParaRPr lang="en-US" sz="1000" dirty="0"/>
          </a:p>
        </p:txBody>
      </p:sp>
      <p:sp>
        <p:nvSpPr>
          <p:cNvPr id="6" name="Text 2"/>
          <p:cNvSpPr txBox="1"/>
          <p:nvPr/>
        </p:nvSpPr>
        <p:spPr>
          <a:xfrm>
            <a:off x="13167360" y="7635240"/>
            <a:ext cx="914400" cy="320040"/>
          </a:xfrm>
          <a:prstGeom prst="rect">
            <a:avLst/>
          </a:prstGeom>
          <a:noFill/>
          <a:ln/>
        </p:spPr>
        <p:txBody>
          <a:bodyPr wrap="square" lIns="0" tIns="0" rIns="0" bIns="0" rtlCol="0" anchor="ctr"/>
          <a:lstStyle/>
          <a:p>
            <a:pPr algn="r" indent="0" marL="0">
              <a:buNone/>
            </a:pPr>
            <a:r>
              <a:rPr lang="en-US" sz="1000" dirty="0">
                <a:solidFill>
                  <a:srgbClr val="5D6A80"/>
                </a:solidFill>
                <a:latin typeface="Courier New" pitchFamily="34" charset="0"/>
                <a:ea typeface="Courier New" pitchFamily="34" charset="-122"/>
                <a:cs typeface="Courier New" pitchFamily="34" charset="-120"/>
              </a:rPr>
              <a:t>7</a:t>
            </a:r>
            <a:endParaRPr lang="en-US" sz="1000" dirty="0"/>
          </a:p>
        </p:txBody>
      </p:sp>
      <p:sp>
        <p:nvSpPr>
          <p:cNvPr id="7" name="Shape 3"/>
          <p:cNvSpPr/>
          <p:nvPr/>
        </p:nvSpPr>
        <p:spPr>
          <a:xfrm>
            <a:off x="548640" y="2103120"/>
            <a:ext cx="310896" cy="310896"/>
          </a:xfrm>
          <a:prstGeom prst="rect">
            <a:avLst/>
          </a:prstGeom>
          <a:solidFill>
            <a:srgbClr val="F6B52A"/>
          </a:solidFill>
          <a:ln w="12700">
            <a:solidFill>
              <a:srgbClr val="F6B52A"/>
            </a:solidFill>
            <a:prstDash val="solid"/>
          </a:ln>
        </p:spPr>
      </p:sp>
      <p:sp>
        <p:nvSpPr>
          <p:cNvPr id="8" name="Text 4"/>
          <p:cNvSpPr txBox="1"/>
          <p:nvPr/>
        </p:nvSpPr>
        <p:spPr>
          <a:xfrm>
            <a:off x="548640" y="2103120"/>
            <a:ext cx="310896" cy="310896"/>
          </a:xfrm>
          <a:prstGeom prst="rect">
            <a:avLst/>
          </a:prstGeom>
          <a:noFill/>
          <a:ln/>
        </p:spPr>
        <p:txBody>
          <a:bodyPr wrap="square" lIns="0" tIns="0" rIns="0" bIns="0" rtlCol="0" anchor="ctr"/>
          <a:lstStyle/>
          <a:p>
            <a:pPr algn="ctr" indent="0" marL="0">
              <a:buNone/>
            </a:pPr>
            <a:r>
              <a:rPr lang="en-US" sz="1100" b="1" dirty="0">
                <a:solidFill>
                  <a:srgbClr val="0B0F16"/>
                </a:solidFill>
                <a:latin typeface="Courier New" pitchFamily="34" charset="0"/>
                <a:ea typeface="Courier New" pitchFamily="34" charset="-122"/>
                <a:cs typeface="Courier New" pitchFamily="34" charset="-120"/>
              </a:rPr>
              <a:t>N</a:t>
            </a:r>
            <a:endParaRPr lang="en-US" sz="1100" dirty="0"/>
          </a:p>
        </p:txBody>
      </p:sp>
      <p:sp>
        <p:nvSpPr>
          <p:cNvPr id="9" name="Shape 5"/>
          <p:cNvSpPr/>
          <p:nvPr/>
        </p:nvSpPr>
        <p:spPr>
          <a:xfrm>
            <a:off x="859536" y="2103120"/>
            <a:ext cx="603504" cy="310896"/>
          </a:xfrm>
          <a:prstGeom prst="rect">
            <a:avLst/>
          </a:prstGeom>
          <a:solidFill>
            <a:srgbClr val="0B0F16"/>
          </a:solidFill>
          <a:ln w="12700">
            <a:solidFill>
              <a:srgbClr val="0B0F16"/>
            </a:solidFill>
            <a:prstDash val="solid"/>
          </a:ln>
        </p:spPr>
      </p:sp>
      <p:sp>
        <p:nvSpPr>
          <p:cNvPr id="10" name="Text 6"/>
          <p:cNvSpPr txBox="1"/>
          <p:nvPr/>
        </p:nvSpPr>
        <p:spPr>
          <a:xfrm>
            <a:off x="859536" y="2103120"/>
            <a:ext cx="603504" cy="310896"/>
          </a:xfrm>
          <a:prstGeom prst="rect">
            <a:avLst/>
          </a:prstGeom>
          <a:noFill/>
          <a:ln/>
        </p:spPr>
        <p:txBody>
          <a:bodyPr wrap="square" lIns="0" tIns="0" rIns="0" bIns="0" rtlCol="0" anchor="ctr"/>
          <a:lstStyle/>
          <a:p>
            <a:pPr algn="ctr" indent="0" marL="0">
              <a:buNone/>
            </a:pPr>
            <a:r>
              <a:rPr lang="en-US" sz="1100" b="1" spc="200" kern="0" dirty="0">
                <a:solidFill>
                  <a:srgbClr val="F6B52A"/>
                </a:solidFill>
                <a:latin typeface="Courier New" pitchFamily="34" charset="0"/>
                <a:ea typeface="Courier New" pitchFamily="34" charset="-122"/>
                <a:cs typeface="Courier New" pitchFamily="34" charset="-120"/>
              </a:rPr>
              <a:t>NET</a:t>
            </a:r>
            <a:endParaRPr lang="en-US" sz="1100" dirty="0"/>
          </a:p>
        </p:txBody>
      </p:sp>
      <p:sp>
        <p:nvSpPr>
          <p:cNvPr id="11" name="Text 7"/>
          <p:cNvSpPr txBox="1"/>
          <p:nvPr/>
        </p:nvSpPr>
        <p:spPr>
          <a:xfrm>
            <a:off x="1600200" y="2075688"/>
            <a:ext cx="5669280" cy="365760"/>
          </a:xfrm>
          <a:prstGeom prst="rect">
            <a:avLst/>
          </a:prstGeom>
          <a:noFill/>
          <a:ln/>
        </p:spPr>
        <p:txBody>
          <a:bodyPr wrap="square" lIns="0" tIns="0" rIns="0" bIns="0" rtlCol="0" anchor="ctr"/>
          <a:lstStyle/>
          <a:p>
            <a:pPr indent="0" marL="0">
              <a:buNone/>
            </a:pPr>
            <a:r>
              <a:rPr lang="en-US" sz="1500" b="1" dirty="0">
                <a:solidFill>
                  <a:srgbClr val="0B0F16"/>
                </a:solidFill>
                <a:latin typeface="Calibri" pitchFamily="34" charset="0"/>
                <a:ea typeface="Calibri" pitchFamily="34" charset="-122"/>
                <a:cs typeface="Calibri" pitchFamily="34" charset="-120"/>
              </a:rPr>
              <a:t>Where the risk comes from</a:t>
            </a:r>
            <a:endParaRPr lang="en-US" sz="1500" dirty="0"/>
          </a:p>
        </p:txBody>
      </p:sp>
      <p:sp>
        <p:nvSpPr>
          <p:cNvPr id="12" name="Text 8"/>
          <p:cNvSpPr txBox="1"/>
          <p:nvPr/>
        </p:nvSpPr>
        <p:spPr>
          <a:xfrm>
            <a:off x="548640" y="2560320"/>
            <a:ext cx="6766560" cy="1234440"/>
          </a:xfrm>
          <a:prstGeom prst="rect">
            <a:avLst/>
          </a:prstGeom>
          <a:noFill/>
          <a:ln/>
        </p:spPr>
        <p:txBody>
          <a:bodyPr wrap="square" lIns="0" tIns="0" rIns="0" bIns="0" rtlCol="0" anchor="t"/>
          <a:lstStyle/>
          <a:p>
            <a:pPr indent="0" marL="0">
              <a:lnSpc>
                <a:spcPct val="105000"/>
              </a:lnSpc>
              <a:buNone/>
            </a:pPr>
            <a:r>
              <a:rPr lang="en-US" sz="1050" b="1" dirty="0">
                <a:solidFill>
                  <a:srgbClr val="0B0F16"/>
                </a:solidFill>
                <a:latin typeface="Calibri" pitchFamily="34" charset="0"/>
                <a:ea typeface="Calibri" pitchFamily="34" charset="-122"/>
                <a:cs typeface="Calibri" pitchFamily="34" charset="-120"/>
              </a:rPr>
              <a:t>Concentration. </a:t>
            </a:r>
            <a:pPr indent="0" marL="0">
              <a:lnSpc>
                <a:spcPct val="105000"/>
              </a:lnSpc>
              <a:buNone/>
            </a:pPr>
            <a:r>
              <a:rPr lang="en-US" sz="1050" dirty="0">
                <a:solidFill>
                  <a:srgbClr val="0B0F16"/>
                </a:solidFill>
                <a:latin typeface="Calibri" pitchFamily="34" charset="0"/>
                <a:ea typeface="Calibri" pitchFamily="34" charset="-122"/>
                <a:cs typeface="Calibri" pitchFamily="34" charset="-120"/>
              </a:rPr>
              <a:t>The share of agents on one vendor is raised step by step at a fixed correlation and the crash measured each time. Below 30% no dislocation; from 30% every run dislocates, and the curve is convex (curvature 0.63): each extra percent does more damage than the last. </a:t>
            </a:r>
            <a:pPr indent="0" marL="0">
              <a:lnSpc>
                <a:spcPct val="105000"/>
              </a:lnSpc>
              <a:buNone/>
            </a:pPr>
            <a:r>
              <a:rPr lang="en-US" sz="1050" b="1" dirty="0">
                <a:solidFill>
                  <a:srgbClr val="0B0F16"/>
                </a:solidFill>
                <a:latin typeface="Calibri" pitchFamily="34" charset="0"/>
                <a:ea typeface="Calibri" pitchFamily="34" charset="-122"/>
                <a:cs typeface="Calibri" pitchFamily="34" charset="-120"/>
              </a:rPr>
              <a:t>Attribution. </a:t>
            </a:r>
            <a:pPr indent="0" marL="0">
              <a:lnSpc>
                <a:spcPct val="105000"/>
              </a:lnSpc>
              <a:buNone/>
            </a:pPr>
            <a:r>
              <a:rPr lang="en-US" sz="1050" dirty="0">
                <a:solidFill>
                  <a:srgbClr val="0B0F16"/>
                </a:solidFill>
                <a:latin typeface="Calibri" pitchFamily="34" charset="0"/>
                <a:ea typeface="Calibri" pitchFamily="34" charset="-122"/>
                <a:cs typeface="Calibri" pitchFamily="34" charset="-120"/>
              </a:rPr>
              <a:t>Shapley values share the crash among agent groups by silencing each combination and re running the same shock; in the strong herd vendor A carries 0.106 of the drawdown, vendor B 0.013. </a:t>
            </a:r>
            <a:pPr indent="0" marL="0">
              <a:lnSpc>
                <a:spcPct val="105000"/>
              </a:lnSpc>
              <a:buNone/>
            </a:pPr>
            <a:r>
              <a:rPr lang="en-US" sz="1050" b="1" dirty="0">
                <a:solidFill>
                  <a:srgbClr val="0B0F16"/>
                </a:solidFill>
                <a:latin typeface="Calibri" pitchFamily="34" charset="0"/>
                <a:ea typeface="Calibri" pitchFamily="34" charset="-122"/>
                <a:cs typeface="Calibri" pitchFamily="34" charset="-120"/>
              </a:rPr>
              <a:t>Learned herding. </a:t>
            </a:r>
            <a:pPr indent="0" marL="0">
              <a:lnSpc>
                <a:spcPct val="105000"/>
              </a:lnSpc>
              <a:buNone/>
            </a:pPr>
            <a:r>
              <a:rPr lang="en-US" sz="1050" dirty="0">
                <a:solidFill>
                  <a:srgbClr val="0B0F16"/>
                </a:solidFill>
                <a:latin typeface="Calibri" pitchFamily="34" charset="0"/>
                <a:ea typeface="Calibri" pitchFamily="34" charset="-122"/>
                <a:cs typeface="Calibri" pitchFamily="34" charset="-120"/>
              </a:rPr>
              <a:t>48 RL traders trained separately converge on the same strategy (0.74) without any shared signal.</a:t>
            </a:r>
            <a:endParaRPr lang="en-US" sz="1050" dirty="0"/>
          </a:p>
        </p:txBody>
      </p:sp>
      <p:graphicFrame>
        <p:nvGraphicFramePr>
          <p:cNvPr id="13" name="Chart 0" descr=""/>
          <p:cNvGraphicFramePr/>
          <p:nvPr/>
        </p:nvGraphicFramePr>
        <p:xfrm>
          <a:off x="548640" y="3886200"/>
          <a:ext cx="6766560" cy="2926080"/>
        </p:xfrm>
        <a:graphic xmlns:a="http://schemas.openxmlformats.org/drawingml/2006/main">
          <a:graphicData uri="http://schemas.openxmlformats.org/drawingml/2006/chart">
            <c:chart xmlns:c="http://schemas.openxmlformats.org/drawingml/2006/chart" r:id="rId3"/>
          </a:graphicData>
        </a:graphic>
      </p:graphicFrame>
      <p:sp>
        <p:nvSpPr>
          <p:cNvPr id="14" name="Text 9"/>
          <p:cNvSpPr txBox="1"/>
          <p:nvPr/>
        </p:nvSpPr>
        <p:spPr>
          <a:xfrm>
            <a:off x="548640" y="6858000"/>
            <a:ext cx="6766560" cy="594360"/>
          </a:xfrm>
          <a:prstGeom prst="rect">
            <a:avLst/>
          </a:prstGeom>
          <a:noFill/>
          <a:ln/>
        </p:spPr>
        <p:txBody>
          <a:bodyPr wrap="square" lIns="0" tIns="0" rIns="0" bIns="0" rtlCol="0" anchor="ctr"/>
          <a:lstStyle/>
          <a:p>
            <a:pPr indent="0" marL="0">
              <a:buNone/>
            </a:pPr>
            <a:r>
              <a:rPr lang="en-US" sz="950" dirty="0">
                <a:solidFill>
                  <a:srgbClr val="5D6A80"/>
                </a:solidFill>
                <a:latin typeface="Calibri" pitchFamily="34" charset="0"/>
                <a:ea typeface="Calibri" pitchFamily="34" charset="-122"/>
                <a:cs typeface="Calibri" pitchFamily="34" charset="-120"/>
              </a:rPr>
              <a:t>The dislocation threshold (drawdown above 0.10) is crossed at a 30% share: the concentration risk the FSB and Bank of England reports describe gets a number.</a:t>
            </a:r>
            <a:endParaRPr lang="en-US" sz="950" dirty="0"/>
          </a:p>
        </p:txBody>
      </p:sp>
      <p:sp>
        <p:nvSpPr>
          <p:cNvPr id="15" name="Shape 10"/>
          <p:cNvSpPr/>
          <p:nvPr/>
        </p:nvSpPr>
        <p:spPr>
          <a:xfrm>
            <a:off x="7772400" y="2103120"/>
            <a:ext cx="310896" cy="310896"/>
          </a:xfrm>
          <a:prstGeom prst="rect">
            <a:avLst/>
          </a:prstGeom>
          <a:solidFill>
            <a:srgbClr val="F6B52A"/>
          </a:solidFill>
          <a:ln w="12700">
            <a:solidFill>
              <a:srgbClr val="F6B52A"/>
            </a:solidFill>
            <a:prstDash val="solid"/>
          </a:ln>
        </p:spPr>
      </p:sp>
      <p:sp>
        <p:nvSpPr>
          <p:cNvPr id="16" name="Text 11"/>
          <p:cNvSpPr txBox="1"/>
          <p:nvPr/>
        </p:nvSpPr>
        <p:spPr>
          <a:xfrm>
            <a:off x="7772400" y="2103120"/>
            <a:ext cx="310896" cy="310896"/>
          </a:xfrm>
          <a:prstGeom prst="rect">
            <a:avLst/>
          </a:prstGeom>
          <a:noFill/>
          <a:ln/>
        </p:spPr>
        <p:txBody>
          <a:bodyPr wrap="square" lIns="0" tIns="0" rIns="0" bIns="0" rtlCol="0" anchor="ctr"/>
          <a:lstStyle/>
          <a:p>
            <a:pPr algn="ctr" indent="0" marL="0">
              <a:buNone/>
            </a:pPr>
            <a:r>
              <a:rPr lang="en-US" sz="1100" b="1" dirty="0">
                <a:solidFill>
                  <a:srgbClr val="0B0F16"/>
                </a:solidFill>
                <a:latin typeface="Courier New" pitchFamily="34" charset="0"/>
                <a:ea typeface="Courier New" pitchFamily="34" charset="-122"/>
                <a:cs typeface="Courier New" pitchFamily="34" charset="-120"/>
              </a:rPr>
              <a:t>K</a:t>
            </a:r>
            <a:endParaRPr lang="en-US" sz="1100" dirty="0"/>
          </a:p>
        </p:txBody>
      </p:sp>
      <p:sp>
        <p:nvSpPr>
          <p:cNvPr id="17" name="Shape 12"/>
          <p:cNvSpPr/>
          <p:nvPr/>
        </p:nvSpPr>
        <p:spPr>
          <a:xfrm>
            <a:off x="8083296" y="2103120"/>
            <a:ext cx="603504" cy="310896"/>
          </a:xfrm>
          <a:prstGeom prst="rect">
            <a:avLst/>
          </a:prstGeom>
          <a:solidFill>
            <a:srgbClr val="0B0F16"/>
          </a:solidFill>
          <a:ln w="12700">
            <a:solidFill>
              <a:srgbClr val="0B0F16"/>
            </a:solidFill>
            <a:prstDash val="solid"/>
          </a:ln>
        </p:spPr>
      </p:sp>
      <p:sp>
        <p:nvSpPr>
          <p:cNvPr id="18" name="Text 13"/>
          <p:cNvSpPr txBox="1"/>
          <p:nvPr/>
        </p:nvSpPr>
        <p:spPr>
          <a:xfrm>
            <a:off x="8083296" y="2103120"/>
            <a:ext cx="603504" cy="310896"/>
          </a:xfrm>
          <a:prstGeom prst="rect">
            <a:avLst/>
          </a:prstGeom>
          <a:noFill/>
          <a:ln/>
        </p:spPr>
        <p:txBody>
          <a:bodyPr wrap="square" lIns="0" tIns="0" rIns="0" bIns="0" rtlCol="0" anchor="ctr"/>
          <a:lstStyle/>
          <a:p>
            <a:pPr algn="ctr" indent="0" marL="0">
              <a:buNone/>
            </a:pPr>
            <a:r>
              <a:rPr lang="en-US" sz="1100" b="1" spc="200" kern="0" dirty="0">
                <a:solidFill>
                  <a:srgbClr val="F6B52A"/>
                </a:solidFill>
                <a:latin typeface="Courier New" pitchFamily="34" charset="0"/>
                <a:ea typeface="Courier New" pitchFamily="34" charset="-122"/>
                <a:cs typeface="Courier New" pitchFamily="34" charset="-120"/>
              </a:rPr>
              <a:t>RSK</a:t>
            </a:r>
            <a:endParaRPr lang="en-US" sz="1100" dirty="0"/>
          </a:p>
        </p:txBody>
      </p:sp>
      <p:sp>
        <p:nvSpPr>
          <p:cNvPr id="19" name="Text 14"/>
          <p:cNvSpPr txBox="1"/>
          <p:nvPr/>
        </p:nvSpPr>
        <p:spPr>
          <a:xfrm>
            <a:off x="8823960" y="2075688"/>
            <a:ext cx="5212080" cy="365760"/>
          </a:xfrm>
          <a:prstGeom prst="rect">
            <a:avLst/>
          </a:prstGeom>
          <a:noFill/>
          <a:ln/>
        </p:spPr>
        <p:txBody>
          <a:bodyPr wrap="square" lIns="0" tIns="0" rIns="0" bIns="0" rtlCol="0" anchor="ctr"/>
          <a:lstStyle/>
          <a:p>
            <a:pPr indent="0" marL="0">
              <a:buNone/>
            </a:pPr>
            <a:r>
              <a:rPr lang="en-US" sz="1500" b="1" dirty="0">
                <a:solidFill>
                  <a:srgbClr val="0B0F16"/>
                </a:solidFill>
                <a:latin typeface="Calibri" pitchFamily="34" charset="0"/>
                <a:ea typeface="Calibri" pitchFamily="34" charset="-122"/>
                <a:cs typeface="Calibri" pitchFamily="34" charset="-120"/>
              </a:rPr>
              <a:t>Can the answer be gamed, and does it transfer</a:t>
            </a:r>
            <a:endParaRPr lang="en-US" sz="1500" dirty="0"/>
          </a:p>
        </p:txBody>
      </p:sp>
      <p:sp>
        <p:nvSpPr>
          <p:cNvPr id="20" name="Text 15"/>
          <p:cNvSpPr txBox="1"/>
          <p:nvPr/>
        </p:nvSpPr>
        <p:spPr>
          <a:xfrm>
            <a:off x="7772400" y="2560320"/>
            <a:ext cx="6309360" cy="1965960"/>
          </a:xfrm>
          <a:prstGeom prst="rect">
            <a:avLst/>
          </a:prstGeom>
          <a:noFill/>
          <a:ln/>
        </p:spPr>
        <p:txBody>
          <a:bodyPr wrap="square" lIns="0" tIns="0" rIns="0" bIns="0" rtlCol="0" anchor="t"/>
          <a:lstStyle/>
          <a:p>
            <a:pPr indent="0" marL="0">
              <a:lnSpc>
                <a:spcPct val="105000"/>
              </a:lnSpc>
              <a:buNone/>
            </a:pPr>
            <a:r>
              <a:rPr lang="en-US" sz="1100" b="1" dirty="0">
                <a:solidFill>
                  <a:srgbClr val="0B0F16"/>
                </a:solidFill>
                <a:latin typeface="Calibri" pitchFamily="34" charset="0"/>
                <a:ea typeface="Calibri" pitchFamily="34" charset="-122"/>
                <a:cs typeface="Calibri" pitchFamily="34" charset="-120"/>
              </a:rPr>
              <a:t>Red team and the game. </a:t>
            </a:r>
            <a:pPr indent="0" marL="0">
              <a:lnSpc>
                <a:spcPct val="105000"/>
              </a:lnSpc>
              <a:buNone/>
            </a:pPr>
            <a:r>
              <a:rPr lang="en-US" sz="1100" dirty="0">
                <a:solidFill>
                  <a:srgbClr val="0B0F16"/>
                </a:solidFill>
                <a:latin typeface="Calibri" pitchFamily="34" charset="0"/>
                <a:ea typeface="Calibri" pitchFamily="34" charset="-122"/>
                <a:cs typeface="Calibri" pitchFamily="34" charset="-120"/>
              </a:rPr>
              <a:t>A bandit search for the evasion that hurts the certified tool most while the market still dislocates finds one that drives it to F1 0.00, and the same holds for every other single sentinel. Treated as a game (supervisor picks a tool, adversary picks an evasion), a fixed choice loses outright, but drawing the armed sentinel at random from a mix (endogeneity 41%, lead lag 30%, volatility trigger 29%) guarantees 0.16: unpredictability is worth measurable detection. </a:t>
            </a:r>
            <a:pPr indent="0" marL="0">
              <a:lnSpc>
                <a:spcPct val="105000"/>
              </a:lnSpc>
              <a:buNone/>
            </a:pPr>
            <a:r>
              <a:rPr lang="en-US" sz="1100" b="1" dirty="0">
                <a:solidFill>
                  <a:srgbClr val="0B0F16"/>
                </a:solidFill>
                <a:latin typeface="Calibri" pitchFamily="34" charset="0"/>
                <a:ea typeface="Calibri" pitchFamily="34" charset="-122"/>
                <a:cs typeface="Calibri" pitchFamily="34" charset="-120"/>
              </a:rPr>
              <a:t>Truth dependence. </a:t>
            </a:r>
            <a:pPr indent="0" marL="0">
              <a:lnSpc>
                <a:spcPct val="105000"/>
              </a:lnSpc>
              <a:buNone/>
            </a:pPr>
            <a:r>
              <a:rPr lang="en-US" sz="1100" dirty="0">
                <a:solidFill>
                  <a:srgbClr val="0B0F16"/>
                </a:solidFill>
                <a:latin typeface="Calibri" pitchFamily="34" charset="0"/>
                <a:ea typeface="Calibri" pitchFamily="34" charset="-122"/>
                <a:cs typeface="Calibri" pitchFamily="34" charset="-120"/>
              </a:rPr>
              <a:t>Regenerating the battery under four different herding mechanisms leaves tail dependence first every time, so the certification is not an artefact of one model of herding. </a:t>
            </a:r>
            <a:pPr indent="0" marL="0">
              <a:lnSpc>
                <a:spcPct val="105000"/>
              </a:lnSpc>
              <a:buNone/>
            </a:pPr>
            <a:r>
              <a:rPr lang="en-US" sz="1100" b="1" dirty="0">
                <a:solidFill>
                  <a:srgbClr val="0B0F16"/>
                </a:solidFill>
                <a:latin typeface="Calibri" pitchFamily="34" charset="0"/>
                <a:ea typeface="Calibri" pitchFamily="34" charset="-122"/>
                <a:cs typeface="Calibri" pitchFamily="34" charset="-120"/>
              </a:rPr>
              <a:t>Off policy audit. </a:t>
            </a:r>
            <a:pPr indent="0" marL="0">
              <a:lnSpc>
                <a:spcPct val="105000"/>
              </a:lnSpc>
              <a:buNone/>
            </a:pPr>
            <a:r>
              <a:rPr lang="en-US" sz="1100" dirty="0">
                <a:solidFill>
                  <a:srgbClr val="0B0F16"/>
                </a:solidFill>
                <a:latin typeface="Calibri" pitchFamily="34" charset="0"/>
                <a:ea typeface="Calibri" pitchFamily="34" charset="-122"/>
                <a:cs typeface="Calibri" pitchFamily="34" charset="-120"/>
              </a:rPr>
              <a:t>From ten logged runs, an estimate of a rule's value built on the fitted model lands within 0.01 of the simulated truth; the doubly robust estimator is 0.16 off. A live pilot has only the log and could not tell.</a:t>
            </a:r>
            <a:endParaRPr lang="en-US" sz="1100" dirty="0"/>
          </a:p>
        </p:txBody>
      </p:sp>
      <p:sp>
        <p:nvSpPr>
          <p:cNvPr id="21" name="Shape 16"/>
          <p:cNvSpPr/>
          <p:nvPr/>
        </p:nvSpPr>
        <p:spPr>
          <a:xfrm>
            <a:off x="7772400" y="4617720"/>
            <a:ext cx="310896" cy="310896"/>
          </a:xfrm>
          <a:prstGeom prst="rect">
            <a:avLst/>
          </a:prstGeom>
          <a:solidFill>
            <a:srgbClr val="F6B52A"/>
          </a:solidFill>
          <a:ln w="12700">
            <a:solidFill>
              <a:srgbClr val="F6B52A"/>
            </a:solidFill>
            <a:prstDash val="solid"/>
          </a:ln>
        </p:spPr>
      </p:sp>
      <p:sp>
        <p:nvSpPr>
          <p:cNvPr id="22" name="Text 17"/>
          <p:cNvSpPr txBox="1"/>
          <p:nvPr/>
        </p:nvSpPr>
        <p:spPr>
          <a:xfrm>
            <a:off x="7772400" y="4617720"/>
            <a:ext cx="310896" cy="310896"/>
          </a:xfrm>
          <a:prstGeom prst="rect">
            <a:avLst/>
          </a:prstGeom>
          <a:noFill/>
          <a:ln/>
        </p:spPr>
        <p:txBody>
          <a:bodyPr wrap="square" lIns="0" tIns="0" rIns="0" bIns="0" rtlCol="0" anchor="ctr"/>
          <a:lstStyle/>
          <a:p>
            <a:pPr algn="ctr" indent="0" marL="0">
              <a:buNone/>
            </a:pPr>
            <a:r>
              <a:rPr lang="en-US" sz="1100" b="1" dirty="0">
                <a:solidFill>
                  <a:srgbClr val="0B0F16"/>
                </a:solidFill>
                <a:latin typeface="Courier New" pitchFamily="34" charset="0"/>
                <a:ea typeface="Courier New" pitchFamily="34" charset="-122"/>
                <a:cs typeface="Courier New" pitchFamily="34" charset="-120"/>
              </a:rPr>
              <a:t>D</a:t>
            </a:r>
            <a:endParaRPr lang="en-US" sz="1100" dirty="0"/>
          </a:p>
        </p:txBody>
      </p:sp>
      <p:sp>
        <p:nvSpPr>
          <p:cNvPr id="23" name="Shape 18"/>
          <p:cNvSpPr/>
          <p:nvPr/>
        </p:nvSpPr>
        <p:spPr>
          <a:xfrm>
            <a:off x="8083296" y="4617720"/>
            <a:ext cx="603504" cy="310896"/>
          </a:xfrm>
          <a:prstGeom prst="rect">
            <a:avLst/>
          </a:prstGeom>
          <a:solidFill>
            <a:srgbClr val="0B0F16"/>
          </a:solidFill>
          <a:ln w="12700">
            <a:solidFill>
              <a:srgbClr val="0B0F16"/>
            </a:solidFill>
            <a:prstDash val="solid"/>
          </a:ln>
        </p:spPr>
      </p:sp>
      <p:sp>
        <p:nvSpPr>
          <p:cNvPr id="24" name="Text 19"/>
          <p:cNvSpPr txBox="1"/>
          <p:nvPr/>
        </p:nvSpPr>
        <p:spPr>
          <a:xfrm>
            <a:off x="8083296" y="4617720"/>
            <a:ext cx="603504" cy="310896"/>
          </a:xfrm>
          <a:prstGeom prst="rect">
            <a:avLst/>
          </a:prstGeom>
          <a:noFill/>
          <a:ln/>
        </p:spPr>
        <p:txBody>
          <a:bodyPr wrap="square" lIns="0" tIns="0" rIns="0" bIns="0" rtlCol="0" anchor="ctr"/>
          <a:lstStyle/>
          <a:p>
            <a:pPr algn="ctr" indent="0" marL="0">
              <a:buNone/>
            </a:pPr>
            <a:r>
              <a:rPr lang="en-US" sz="1100" b="1" spc="200" kern="0" dirty="0">
                <a:solidFill>
                  <a:srgbClr val="F6B52A"/>
                </a:solidFill>
                <a:latin typeface="Courier New" pitchFamily="34" charset="0"/>
                <a:ea typeface="Courier New" pitchFamily="34" charset="-122"/>
                <a:cs typeface="Courier New" pitchFamily="34" charset="-120"/>
              </a:rPr>
              <a:t>DAT</a:t>
            </a:r>
            <a:endParaRPr lang="en-US" sz="1100" dirty="0"/>
          </a:p>
        </p:txBody>
      </p:sp>
      <p:sp>
        <p:nvSpPr>
          <p:cNvPr id="25" name="Text 20"/>
          <p:cNvSpPr txBox="1"/>
          <p:nvPr/>
        </p:nvSpPr>
        <p:spPr>
          <a:xfrm>
            <a:off x="8823960" y="4590288"/>
            <a:ext cx="5212080" cy="365760"/>
          </a:xfrm>
          <a:prstGeom prst="rect">
            <a:avLst/>
          </a:prstGeom>
          <a:noFill/>
          <a:ln/>
        </p:spPr>
        <p:txBody>
          <a:bodyPr wrap="square" lIns="0" tIns="0" rIns="0" bIns="0" rtlCol="0" anchor="ctr"/>
          <a:lstStyle/>
          <a:p>
            <a:pPr indent="0" marL="0">
              <a:buNone/>
            </a:pPr>
            <a:r>
              <a:rPr lang="en-US" sz="1500" b="1" dirty="0">
                <a:solidFill>
                  <a:srgbClr val="0B0F16"/>
                </a:solidFill>
                <a:latin typeface="Calibri" pitchFamily="34" charset="0"/>
                <a:ea typeface="Calibri" pitchFamily="34" charset="-122"/>
                <a:cs typeface="Calibri" pitchFamily="34" charset="-120"/>
              </a:rPr>
              <a:t>What your own data changes</a:t>
            </a:r>
            <a:endParaRPr lang="en-US" sz="1500" dirty="0"/>
          </a:p>
        </p:txBody>
      </p:sp>
      <p:sp>
        <p:nvSpPr>
          <p:cNvPr id="26" name="Text 21"/>
          <p:cNvSpPr txBox="1"/>
          <p:nvPr/>
        </p:nvSpPr>
        <p:spPr>
          <a:xfrm>
            <a:off x="7772400" y="5074920"/>
            <a:ext cx="6309360" cy="2377440"/>
          </a:xfrm>
          <a:prstGeom prst="rect">
            <a:avLst/>
          </a:prstGeom>
          <a:noFill/>
          <a:ln/>
        </p:spPr>
        <p:txBody>
          <a:bodyPr wrap="square" lIns="0" tIns="0" rIns="0" bIns="0" rtlCol="0" anchor="t"/>
          <a:lstStyle/>
          <a:p>
            <a:pPr indent="0" marL="0">
              <a:lnSpc>
                <a:spcPct val="105000"/>
              </a:lnSpc>
              <a:buNone/>
            </a:pPr>
            <a:r>
              <a:rPr lang="en-US" sz="1100" b="1" dirty="0">
                <a:solidFill>
                  <a:srgbClr val="0B0F16"/>
                </a:solidFill>
                <a:latin typeface="Calibri" pitchFamily="34" charset="0"/>
                <a:ea typeface="Calibri" pitchFamily="34" charset="-122"/>
                <a:cs typeface="Calibri" pitchFamily="34" charset="-120"/>
              </a:rPr>
              <a:t>Calibration shift. </a:t>
            </a:r>
            <a:pPr indent="0" marL="0">
              <a:lnSpc>
                <a:spcPct val="105000"/>
              </a:lnSpc>
              <a:buNone/>
            </a:pPr>
            <a:r>
              <a:rPr lang="en-US" sz="1100" dirty="0">
                <a:solidFill>
                  <a:srgbClr val="0B0F16"/>
                </a:solidFill>
                <a:latin typeface="Calibri" pitchFamily="34" charset="0"/>
                <a:ea typeface="Calibri" pitchFamily="34" charset="-122"/>
                <a:cs typeface="Calibri" pitchFamily="34" charset="-120"/>
              </a:rPr>
              <a:t>Refitting the simulator to the authority's data (volatility, impact, who trades with whom, the vendor split observed from a vendor column or inferred from flows) and re running gives a rank correlation of 0.47 with the demonstration ranking, and a different winner. A certification must be re run on calibrated markets. </a:t>
            </a:r>
            <a:pPr indent="0" marL="0">
              <a:lnSpc>
                <a:spcPct val="105000"/>
              </a:lnSpc>
              <a:buNone/>
            </a:pPr>
            <a:r>
              <a:rPr lang="en-US" sz="1100" b="1" dirty="0">
                <a:solidFill>
                  <a:srgbClr val="0B0F16"/>
                </a:solidFill>
                <a:latin typeface="Calibri" pitchFamily="34" charset="0"/>
                <a:ea typeface="Calibri" pitchFamily="34" charset="-122"/>
                <a:cs typeface="Calibri" pitchFamily="34" charset="-120"/>
              </a:rPr>
              <a:t>Backtest. </a:t>
            </a:r>
            <a:pPr indent="0" marL="0">
              <a:lnSpc>
                <a:spcPct val="105000"/>
              </a:lnSpc>
              <a:buNone/>
            </a:pPr>
            <a:r>
              <a:rPr lang="en-US" sz="1100" dirty="0">
                <a:solidFill>
                  <a:srgbClr val="0B0F16"/>
                </a:solidFill>
                <a:latin typeface="Calibri" pitchFamily="34" charset="0"/>
                <a:ea typeface="Calibri" pitchFamily="34" charset="-122"/>
                <a:cs typeface="Calibri" pitchFamily="34" charset="-120"/>
              </a:rPr>
              <a:t>On a labelled real tape the volatility trigger alerts 18 steps before the marked episode but fires 3.5 times per 100 quiet steps; the absorption ratio finds all four labelled participants, 54 steps late. Timing and workload are measurable on real data; precision is not, because nobody knows who the innocent were.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cdir.png">    </p:cNvPr>
          <p:cNvPicPr>
            <a:picLocks noChangeAspect="1"/>
          </p:cNvPicPr>
          <p:nvPr/>
        </p:nvPicPr>
        <p:blipFill>
          <a:blip r:embed="rId1"/>
          <a:stretch>
            <a:fillRect/>
          </a:stretch>
        </p:blipFill>
        <p:spPr>
          <a:xfrm>
            <a:off x="548640" y="384048"/>
            <a:ext cx="1737360" cy="434340"/>
          </a:xfrm>
          <a:prstGeom prst="rect">
            <a:avLst/>
          </a:prstGeom>
        </p:spPr>
      </p:pic>
      <p:pic>
        <p:nvPicPr>
          <p:cNvPr id="3" name="Image 1" descr="fii.png">    </p:cNvPr>
          <p:cNvPicPr>
            <a:picLocks noChangeAspect="1"/>
          </p:cNvPicPr>
          <p:nvPr/>
        </p:nvPicPr>
        <p:blipFill>
          <a:blip r:embed="rId2"/>
          <a:stretch>
            <a:fillRect/>
          </a:stretch>
        </p:blipFill>
        <p:spPr>
          <a:xfrm>
            <a:off x="11658600" y="347472"/>
            <a:ext cx="2423160" cy="822960"/>
          </a:xfrm>
          <a:prstGeom prst="rect">
            <a:avLst/>
          </a:prstGeom>
        </p:spPr>
      </p:pic>
      <p:sp>
        <p:nvSpPr>
          <p:cNvPr id="4" name="Text 0"/>
          <p:cNvSpPr txBox="1"/>
          <p:nvPr/>
        </p:nvSpPr>
        <p:spPr>
          <a:xfrm>
            <a:off x="548640" y="1234440"/>
            <a:ext cx="10058400" cy="640080"/>
          </a:xfrm>
          <a:prstGeom prst="rect">
            <a:avLst/>
          </a:prstGeom>
          <a:noFill/>
          <a:ln/>
        </p:spPr>
        <p:txBody>
          <a:bodyPr wrap="square" lIns="0" tIns="0" rIns="0" bIns="0" rtlCol="0" anchor="ctr"/>
          <a:lstStyle/>
          <a:p>
            <a:pPr indent="0" marL="0">
              <a:buNone/>
            </a:pPr>
            <a:r>
              <a:rPr lang="en-US" sz="3000" b="1" dirty="0">
                <a:solidFill>
                  <a:srgbClr val="0B0F16"/>
                </a:solidFill>
                <a:latin typeface="Calibri" pitchFamily="34" charset="0"/>
                <a:ea typeface="Calibri" pitchFamily="34" charset="-122"/>
                <a:cs typeface="Calibri" pitchFamily="34" charset="-120"/>
              </a:rPr>
              <a:t>Video demo</a:t>
            </a:r>
            <a:endParaRPr lang="en-US" sz="3000" dirty="0"/>
          </a:p>
        </p:txBody>
      </p:sp>
      <p:sp>
        <p:nvSpPr>
          <p:cNvPr id="5" name="Text 1"/>
          <p:cNvSpPr txBox="1"/>
          <p:nvPr/>
        </p:nvSpPr>
        <p:spPr>
          <a:xfrm>
            <a:off x="548640" y="7635240"/>
            <a:ext cx="4572000" cy="320040"/>
          </a:xfrm>
          <a:prstGeom prst="rect">
            <a:avLst/>
          </a:prstGeom>
          <a:noFill/>
          <a:ln/>
        </p:spPr>
        <p:txBody>
          <a:bodyPr wrap="square" lIns="0" tIns="0" rIns="0" bIns="0" rtlCol="0" anchor="ctr"/>
          <a:lstStyle/>
          <a:p>
            <a:pPr indent="0" marL="0">
              <a:buNone/>
            </a:pPr>
            <a:r>
              <a:rPr lang="en-US" sz="1000" dirty="0">
                <a:solidFill>
                  <a:srgbClr val="5D6A80"/>
                </a:solidFill>
                <a:latin typeface="Calibri" pitchFamily="34" charset="0"/>
                <a:ea typeface="Calibri" pitchFamily="34" charset="-122"/>
                <a:cs typeface="Calibri" pitchFamily="34" charset="-120"/>
              </a:rPr>
              <a:t>No Human Intelligence</a:t>
            </a:r>
            <a:endParaRPr lang="en-US" sz="1000" dirty="0"/>
          </a:p>
        </p:txBody>
      </p:sp>
      <p:sp>
        <p:nvSpPr>
          <p:cNvPr id="6" name="Text 2"/>
          <p:cNvSpPr txBox="1"/>
          <p:nvPr/>
        </p:nvSpPr>
        <p:spPr>
          <a:xfrm>
            <a:off x="13167360" y="7635240"/>
            <a:ext cx="914400" cy="320040"/>
          </a:xfrm>
          <a:prstGeom prst="rect">
            <a:avLst/>
          </a:prstGeom>
          <a:noFill/>
          <a:ln/>
        </p:spPr>
        <p:txBody>
          <a:bodyPr wrap="square" lIns="0" tIns="0" rIns="0" bIns="0" rtlCol="0" anchor="ctr"/>
          <a:lstStyle/>
          <a:p>
            <a:pPr algn="r" indent="0" marL="0">
              <a:buNone/>
            </a:pPr>
            <a:r>
              <a:rPr lang="en-US" sz="1000" dirty="0">
                <a:solidFill>
                  <a:srgbClr val="5D6A80"/>
                </a:solidFill>
                <a:latin typeface="Courier New" pitchFamily="34" charset="0"/>
                <a:ea typeface="Courier New" pitchFamily="34" charset="-122"/>
                <a:cs typeface="Courier New" pitchFamily="34" charset="-120"/>
              </a:rPr>
              <a:t>8</a:t>
            </a:r>
            <a:endParaRPr lang="en-US" sz="1000" dirty="0"/>
          </a:p>
        </p:txBody>
      </p:sp>
      <p:sp>
        <p:nvSpPr>
          <p:cNvPr id="7" name="Shape 3"/>
          <p:cNvSpPr/>
          <p:nvPr/>
        </p:nvSpPr>
        <p:spPr>
          <a:xfrm>
            <a:off x="548640" y="2103120"/>
            <a:ext cx="13533120" cy="5074920"/>
          </a:xfrm>
          <a:prstGeom prst="rect">
            <a:avLst/>
          </a:prstGeom>
          <a:solidFill>
            <a:srgbClr val="0B0F16"/>
          </a:solidFill>
          <a:ln w="9525">
            <a:solidFill>
              <a:srgbClr val="161E2A"/>
            </a:solidFill>
            <a:prstDash val="solid"/>
          </a:ln>
        </p:spPr>
      </p:sp>
      <p:sp>
        <p:nvSpPr>
          <p:cNvPr id="8" name="Shape 4"/>
          <p:cNvSpPr/>
          <p:nvPr/>
        </p:nvSpPr>
        <p:spPr>
          <a:xfrm>
            <a:off x="548640" y="2103120"/>
            <a:ext cx="13533120" cy="384048"/>
          </a:xfrm>
          <a:prstGeom prst="rect">
            <a:avLst/>
          </a:prstGeom>
          <a:solidFill>
            <a:srgbClr val="10161F"/>
          </a:solidFill>
          <a:ln w="9525">
            <a:solidFill>
              <a:srgbClr val="161E2A"/>
            </a:solidFill>
            <a:prstDash val="solid"/>
          </a:ln>
        </p:spPr>
      </p:sp>
      <p:sp>
        <p:nvSpPr>
          <p:cNvPr id="9" name="Text 5"/>
          <p:cNvSpPr txBox="1"/>
          <p:nvPr/>
        </p:nvSpPr>
        <p:spPr>
          <a:xfrm>
            <a:off x="676656" y="2103120"/>
            <a:ext cx="822960" cy="384048"/>
          </a:xfrm>
          <a:prstGeom prst="rect">
            <a:avLst/>
          </a:prstGeom>
          <a:noFill/>
          <a:ln/>
        </p:spPr>
        <p:txBody>
          <a:bodyPr wrap="square" lIns="0" tIns="0" rIns="0" bIns="0" rtlCol="0" anchor="ctr"/>
          <a:lstStyle/>
          <a:p>
            <a:pPr indent="0" marL="0">
              <a:buNone/>
            </a:pPr>
            <a:r>
              <a:rPr lang="en-US" sz="1100" b="1" spc="200" kern="0" dirty="0">
                <a:solidFill>
                  <a:srgbClr val="F6B52A"/>
                </a:solidFill>
                <a:latin typeface="Courier New" pitchFamily="34" charset="0"/>
                <a:ea typeface="Courier New" pitchFamily="34" charset="-122"/>
                <a:cs typeface="Courier New" pitchFamily="34" charset="-120"/>
              </a:rPr>
              <a:t>MKT</a:t>
            </a:r>
            <a:endParaRPr lang="en-US" sz="1100" dirty="0"/>
          </a:p>
        </p:txBody>
      </p:sp>
      <p:sp>
        <p:nvSpPr>
          <p:cNvPr id="10" name="Text 6"/>
          <p:cNvSpPr txBox="1"/>
          <p:nvPr/>
        </p:nvSpPr>
        <p:spPr>
          <a:xfrm>
            <a:off x="1417320" y="2103120"/>
            <a:ext cx="12527280" cy="384048"/>
          </a:xfrm>
          <a:prstGeom prst="rect">
            <a:avLst/>
          </a:prstGeom>
          <a:noFill/>
          <a:ln/>
        </p:spPr>
        <p:txBody>
          <a:bodyPr wrap="square" lIns="0" tIns="0" rIns="0" bIns="0" rtlCol="0" anchor="ctr"/>
          <a:lstStyle/>
          <a:p>
            <a:pPr indent="0" marL="0">
              <a:buNone/>
            </a:pPr>
            <a:r>
              <a:rPr lang="en-US" sz="1200" b="1" dirty="0">
                <a:solidFill>
                  <a:srgbClr val="E4E9F2"/>
                </a:solidFill>
                <a:latin typeface="Calibri" pitchFamily="34" charset="0"/>
                <a:ea typeface="Calibri" pitchFamily="34" charset="-122"/>
                <a:cs typeface="Calibri" pitchFamily="34" charset="-120"/>
              </a:rPr>
              <a:t>Placeholder slide</a:t>
            </a:r>
            <a:endParaRPr lang="en-US" sz="1200" dirty="0"/>
          </a:p>
        </p:txBody>
      </p:sp>
      <p:sp>
        <p:nvSpPr>
          <p:cNvPr id="11" name="Text 7"/>
          <p:cNvSpPr txBox="1"/>
          <p:nvPr/>
        </p:nvSpPr>
        <p:spPr>
          <a:xfrm>
            <a:off x="914400" y="2880360"/>
            <a:ext cx="1280160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Placeholder slide</a:t>
            </a:r>
            <a:endParaRPr lang="en-US" sz="2600" dirty="0"/>
          </a:p>
        </p:txBody>
      </p:sp>
      <p:sp>
        <p:nvSpPr>
          <p:cNvPr id="12" name="Text 8"/>
          <p:cNvSpPr txBox="1"/>
          <p:nvPr/>
        </p:nvSpPr>
        <p:spPr>
          <a:xfrm>
            <a:off x="914400" y="3703320"/>
            <a:ext cx="12801600" cy="1005840"/>
          </a:xfrm>
          <a:prstGeom prst="rect">
            <a:avLst/>
          </a:prstGeom>
          <a:noFill/>
          <a:ln/>
        </p:spPr>
        <p:txBody>
          <a:bodyPr wrap="square" lIns="0" tIns="0" rIns="0" bIns="0" rtlCol="0" anchor="ctr"/>
          <a:lstStyle/>
          <a:p>
            <a:pPr indent="0" marL="0">
              <a:buNone/>
            </a:pPr>
            <a:r>
              <a:rPr lang="en-US" sz="1600" dirty="0">
                <a:solidFill>
                  <a:srgbClr val="E4E9F2"/>
                </a:solidFill>
                <a:latin typeface="Calibri" pitchFamily="34" charset="0"/>
                <a:ea typeface="Calibri" pitchFamily="34" charset="-122"/>
                <a:cs typeface="Calibri" pitchFamily="34" charset="-120"/>
              </a:rPr>
              <a:t>Your video should be recorded (e.g. with Loom) and made available to the C:\&gt;DIR Hackathon Team who will add a link to the video instead of this placeholder. For further information please refer to the participant guide.</a:t>
            </a:r>
            <a:endParaRPr lang="en-US" sz="1600" dirty="0"/>
          </a:p>
        </p:txBody>
      </p:sp>
      <p:sp>
        <p:nvSpPr>
          <p:cNvPr id="13" name="Text 9"/>
          <p:cNvSpPr txBox="1"/>
          <p:nvPr/>
        </p:nvSpPr>
        <p:spPr>
          <a:xfrm>
            <a:off x="914400" y="4800600"/>
            <a:ext cx="12801600" cy="914400"/>
          </a:xfrm>
          <a:prstGeom prst="rect">
            <a:avLst/>
          </a:prstGeom>
          <a:noFill/>
          <a:ln/>
        </p:spPr>
        <p:txBody>
          <a:bodyPr wrap="square" lIns="0" tIns="0" rIns="0" bIns="0" rtlCol="0" anchor="ctr"/>
          <a:lstStyle/>
          <a:p>
            <a:pPr indent="0" marL="0">
              <a:buNone/>
            </a:pPr>
            <a:r>
              <a:rPr lang="en-US" sz="1600" dirty="0">
                <a:solidFill>
                  <a:srgbClr val="97A3B8"/>
                </a:solidFill>
                <a:latin typeface="Calibri" pitchFamily="34" charset="0"/>
                <a:ea typeface="Calibri" pitchFamily="34" charset="-122"/>
                <a:cs typeface="Calibri" pitchFamily="34" charset="-120"/>
              </a:rPr>
              <a:t>Please note: your team presentation and video demo will be uploaded to the public C:\&gt;DIR hackathon website to showcase the agentic AI solutions created by the finalists.</a:t>
            </a:r>
            <a:endParaRPr lang="en-US" sz="1600" dirty="0"/>
          </a:p>
        </p:txBody>
      </p:sp>
      <p:sp>
        <p:nvSpPr>
          <p:cNvPr id="14" name="Text 10"/>
          <p:cNvSpPr txBox="1"/>
          <p:nvPr/>
        </p:nvSpPr>
        <p:spPr>
          <a:xfrm>
            <a:off x="914400" y="5989320"/>
            <a:ext cx="12801600" cy="914400"/>
          </a:xfrm>
          <a:prstGeom prst="rect">
            <a:avLst/>
          </a:prstGeom>
          <a:noFill/>
          <a:ln/>
        </p:spPr>
        <p:txBody>
          <a:bodyPr wrap="square" lIns="0" tIns="0" rIns="0" bIns="0" rtlCol="0" anchor="ctr"/>
          <a:lstStyle/>
          <a:p>
            <a:pPr indent="0" marL="0">
              <a:buNone/>
            </a:pPr>
            <a:r>
              <a:rPr lang="en-US" sz="1300" dirty="0">
                <a:solidFill>
                  <a:srgbClr val="F6B52A"/>
                </a:solidFill>
                <a:latin typeface="Courier New" pitchFamily="34" charset="0"/>
                <a:ea typeface="Courier New" pitchFamily="34" charset="-122"/>
                <a:cs typeface="Courier New" pitchFamily="34" charset="-120"/>
              </a:rPr>
              <a:t>Demo path, covering the four mandated controls: RUN with the policy question, Plan, Gate 1 approved by a registered approver and a refusal with reason (human in the loop); the tape and network live, then the emergency stop and a restart; GAP and the RSK sections; LDG verifying the chain and the critic verdict (auditability); AUT and the injection results (safety); SEC and a file refused by the quarantine (cyber); DAT, FAM and AGT; Gate 2, the briefing and the evidence pack.</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cdir.png">    </p:cNvPr>
          <p:cNvPicPr>
            <a:picLocks noChangeAspect="1"/>
          </p:cNvPicPr>
          <p:nvPr/>
        </p:nvPicPr>
        <p:blipFill>
          <a:blip r:embed="rId1"/>
          <a:stretch>
            <a:fillRect/>
          </a:stretch>
        </p:blipFill>
        <p:spPr>
          <a:xfrm>
            <a:off x="548640" y="384048"/>
            <a:ext cx="1737360" cy="434340"/>
          </a:xfrm>
          <a:prstGeom prst="rect">
            <a:avLst/>
          </a:prstGeom>
        </p:spPr>
      </p:pic>
      <p:pic>
        <p:nvPicPr>
          <p:cNvPr id="3" name="Image 1" descr="fii.png">    </p:cNvPr>
          <p:cNvPicPr>
            <a:picLocks noChangeAspect="1"/>
          </p:cNvPicPr>
          <p:nvPr/>
        </p:nvPicPr>
        <p:blipFill>
          <a:blip r:embed="rId2"/>
          <a:stretch>
            <a:fillRect/>
          </a:stretch>
        </p:blipFill>
        <p:spPr>
          <a:xfrm>
            <a:off x="11658600" y="347472"/>
            <a:ext cx="2423160" cy="822960"/>
          </a:xfrm>
          <a:prstGeom prst="rect">
            <a:avLst/>
          </a:prstGeom>
        </p:spPr>
      </p:pic>
      <p:sp>
        <p:nvSpPr>
          <p:cNvPr id="4" name="Text 0"/>
          <p:cNvSpPr txBox="1"/>
          <p:nvPr/>
        </p:nvSpPr>
        <p:spPr>
          <a:xfrm>
            <a:off x="548640" y="1234440"/>
            <a:ext cx="10058400" cy="640080"/>
          </a:xfrm>
          <a:prstGeom prst="rect">
            <a:avLst/>
          </a:prstGeom>
          <a:noFill/>
          <a:ln/>
        </p:spPr>
        <p:txBody>
          <a:bodyPr wrap="square" lIns="0" tIns="0" rIns="0" bIns="0" rtlCol="0" anchor="ctr"/>
          <a:lstStyle/>
          <a:p>
            <a:pPr indent="0" marL="0">
              <a:buNone/>
            </a:pPr>
            <a:r>
              <a:rPr lang="en-US" sz="3000" b="1" dirty="0">
                <a:solidFill>
                  <a:srgbClr val="0B0F16"/>
                </a:solidFill>
                <a:latin typeface="Calibri" pitchFamily="34" charset="0"/>
                <a:ea typeface="Calibri" pitchFamily="34" charset="-122"/>
                <a:cs typeface="Calibri" pitchFamily="34" charset="-120"/>
              </a:rPr>
              <a:t>Team</a:t>
            </a:r>
            <a:endParaRPr lang="en-US" sz="3000" dirty="0"/>
          </a:p>
        </p:txBody>
      </p:sp>
      <p:sp>
        <p:nvSpPr>
          <p:cNvPr id="5" name="Text 1"/>
          <p:cNvSpPr txBox="1"/>
          <p:nvPr/>
        </p:nvSpPr>
        <p:spPr>
          <a:xfrm>
            <a:off x="548640" y="7635240"/>
            <a:ext cx="4572000" cy="320040"/>
          </a:xfrm>
          <a:prstGeom prst="rect">
            <a:avLst/>
          </a:prstGeom>
          <a:noFill/>
          <a:ln/>
        </p:spPr>
        <p:txBody>
          <a:bodyPr wrap="square" lIns="0" tIns="0" rIns="0" bIns="0" rtlCol="0" anchor="ctr"/>
          <a:lstStyle/>
          <a:p>
            <a:pPr indent="0" marL="0">
              <a:buNone/>
            </a:pPr>
            <a:r>
              <a:rPr lang="en-US" sz="1000" dirty="0">
                <a:solidFill>
                  <a:srgbClr val="5D6A80"/>
                </a:solidFill>
                <a:latin typeface="Calibri" pitchFamily="34" charset="0"/>
                <a:ea typeface="Calibri" pitchFamily="34" charset="-122"/>
                <a:cs typeface="Calibri" pitchFamily="34" charset="-120"/>
              </a:rPr>
              <a:t>No Human Intelligence</a:t>
            </a:r>
            <a:endParaRPr lang="en-US" sz="1000" dirty="0"/>
          </a:p>
        </p:txBody>
      </p:sp>
      <p:sp>
        <p:nvSpPr>
          <p:cNvPr id="6" name="Text 2"/>
          <p:cNvSpPr txBox="1"/>
          <p:nvPr/>
        </p:nvSpPr>
        <p:spPr>
          <a:xfrm>
            <a:off x="13167360" y="7635240"/>
            <a:ext cx="914400" cy="320040"/>
          </a:xfrm>
          <a:prstGeom prst="rect">
            <a:avLst/>
          </a:prstGeom>
          <a:noFill/>
          <a:ln/>
        </p:spPr>
        <p:txBody>
          <a:bodyPr wrap="square" lIns="0" tIns="0" rIns="0" bIns="0" rtlCol="0" anchor="ctr"/>
          <a:lstStyle/>
          <a:p>
            <a:pPr algn="r" indent="0" marL="0">
              <a:buNone/>
            </a:pPr>
            <a:r>
              <a:rPr lang="en-US" sz="1000" dirty="0">
                <a:solidFill>
                  <a:srgbClr val="5D6A80"/>
                </a:solidFill>
                <a:latin typeface="Courier New" pitchFamily="34" charset="0"/>
                <a:ea typeface="Courier New" pitchFamily="34" charset="-122"/>
                <a:cs typeface="Courier New" pitchFamily="34" charset="-120"/>
              </a:rPr>
              <a:t>9</a:t>
            </a:r>
            <a:endParaRPr lang="en-US" sz="1000" dirty="0"/>
          </a:p>
        </p:txBody>
      </p:sp>
      <p:sp>
        <p:nvSpPr>
          <p:cNvPr id="7" name="Shape 3"/>
          <p:cNvSpPr/>
          <p:nvPr/>
        </p:nvSpPr>
        <p:spPr>
          <a:xfrm>
            <a:off x="548640" y="2148840"/>
            <a:ext cx="6583680" cy="2331720"/>
          </a:xfrm>
          <a:prstGeom prst="rect">
            <a:avLst/>
          </a:prstGeom>
          <a:solidFill>
            <a:srgbClr val="F3F5F9"/>
          </a:solidFill>
          <a:ln w="9525">
            <a:solidFill>
              <a:srgbClr val="D9DEE8"/>
            </a:solidFill>
            <a:prstDash val="solid"/>
          </a:ln>
        </p:spPr>
      </p:sp>
      <p:sp>
        <p:nvSpPr>
          <p:cNvPr id="8" name="Shape 4"/>
          <p:cNvSpPr/>
          <p:nvPr/>
        </p:nvSpPr>
        <p:spPr>
          <a:xfrm>
            <a:off x="850392" y="2633472"/>
            <a:ext cx="1362456" cy="1362456"/>
          </a:xfrm>
          <a:prstGeom prst="ellipse">
            <a:avLst/>
          </a:prstGeom>
          <a:solidFill>
            <a:srgbClr val="B5821A"/>
          </a:solidFill>
          <a:ln w="12700">
            <a:solidFill>
              <a:srgbClr val="B5821A"/>
            </a:solidFill>
            <a:prstDash val="solid"/>
          </a:ln>
        </p:spPr>
      </p:sp>
      <p:pic>
        <p:nvPicPr>
          <p:cNvPr id="9" name="Image 2" descr="daria.png">    </p:cNvPr>
          <p:cNvPicPr>
            <a:picLocks noChangeAspect="1"/>
          </p:cNvPicPr>
          <p:nvPr/>
        </p:nvPicPr>
        <p:blipFill>
          <a:blip r:embed="rId3"/>
          <a:stretch>
            <a:fillRect/>
          </a:stretch>
        </p:blipFill>
        <p:spPr>
          <a:xfrm>
            <a:off x="886968" y="2670048"/>
            <a:ext cx="1289304" cy="1289304"/>
          </a:xfrm>
          <a:prstGeom prst="ellipse">
            <a:avLst/>
          </a:prstGeom>
        </p:spPr>
      </p:pic>
      <p:sp>
        <p:nvSpPr>
          <p:cNvPr id="10" name="Text 5"/>
          <p:cNvSpPr txBox="1"/>
          <p:nvPr/>
        </p:nvSpPr>
        <p:spPr>
          <a:xfrm>
            <a:off x="2468880" y="2560320"/>
            <a:ext cx="4389120" cy="502920"/>
          </a:xfrm>
          <a:prstGeom prst="rect">
            <a:avLst/>
          </a:prstGeom>
          <a:noFill/>
          <a:ln/>
        </p:spPr>
        <p:txBody>
          <a:bodyPr wrap="square" lIns="0" tIns="0" rIns="0" bIns="0" rtlCol="0" anchor="ctr"/>
          <a:lstStyle/>
          <a:p>
            <a:pPr indent="0" marL="0">
              <a:buNone/>
            </a:pPr>
            <a:r>
              <a:rPr lang="en-US" sz="2000" b="1" dirty="0">
                <a:solidFill>
                  <a:srgbClr val="0B0F16"/>
                </a:solidFill>
                <a:latin typeface="Calibri" pitchFamily="34" charset="0"/>
                <a:ea typeface="Calibri" pitchFamily="34" charset="-122"/>
                <a:cs typeface="Calibri" pitchFamily="34" charset="-120"/>
              </a:rPr>
              <a:t>Daria Godorozha</a:t>
            </a:r>
            <a:endParaRPr lang="en-US" sz="2000" dirty="0"/>
          </a:p>
        </p:txBody>
      </p:sp>
      <p:sp>
        <p:nvSpPr>
          <p:cNvPr id="11" name="Text 6"/>
          <p:cNvSpPr txBox="1"/>
          <p:nvPr/>
        </p:nvSpPr>
        <p:spPr>
          <a:xfrm>
            <a:off x="2468880" y="3108960"/>
            <a:ext cx="4389120" cy="1280160"/>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1400" dirty="0">
                <a:solidFill>
                  <a:srgbClr val="5D6A80"/>
                </a:solidFill>
                <a:latin typeface="Calibri" pitchFamily="34" charset="0"/>
                <a:ea typeface="Calibri" pitchFamily="34" charset="-122"/>
                <a:cs typeface="Calibri" pitchFamily="34" charset="-120"/>
              </a:rPr>
              <a:t>MSc Financial Statistics, LSE</a:t>
            </a:r>
            <a:endParaRPr lang="en-US" sz="1400" dirty="0"/>
          </a:p>
          <a:p>
            <a:pPr marL="342900" indent="-342900">
              <a:lnSpc>
                <a:spcPct val="105000"/>
              </a:lnSpc>
              <a:spcAft>
                <a:spcPts val="400"/>
              </a:spcAft>
              <a:buSzPct val="100000"/>
              <a:buChar char="•"/>
            </a:pPr>
            <a:r>
              <a:rPr lang="en-US" sz="1400" dirty="0">
                <a:solidFill>
                  <a:srgbClr val="5D6A80"/>
                </a:solidFill>
                <a:latin typeface="Calibri" pitchFamily="34" charset="0"/>
                <a:ea typeface="Calibri" pitchFamily="34" charset="-122"/>
                <a:cs typeface="Calibri" pitchFamily="34" charset="-120"/>
              </a:rPr>
              <a:t>Researcher: Oxford, ETH Zurich</a:t>
            </a:r>
            <a:endParaRPr lang="en-US" sz="1400" dirty="0"/>
          </a:p>
          <a:p>
            <a:pPr marL="342900" indent="-342900">
              <a:lnSpc>
                <a:spcPct val="105000"/>
              </a:lnSpc>
              <a:spcAft>
                <a:spcPts val="400"/>
              </a:spcAft>
              <a:buSzPct val="100000"/>
              <a:buChar char="•"/>
            </a:pPr>
            <a:r>
              <a:rPr lang="en-US" sz="1400" dirty="0">
                <a:solidFill>
                  <a:srgbClr val="5D6A80"/>
                </a:solidFill>
                <a:latin typeface="Calibri" pitchFamily="34" charset="0"/>
                <a:ea typeface="Calibri" pitchFamily="34" charset="-122"/>
                <a:cs typeface="Calibri" pitchFamily="34" charset="-120"/>
              </a:rPr>
              <a:t>Financial regulation law, KCL</a:t>
            </a:r>
            <a:endParaRPr lang="en-US" sz="1400" dirty="0"/>
          </a:p>
        </p:txBody>
      </p:sp>
      <p:sp>
        <p:nvSpPr>
          <p:cNvPr id="12" name="Shape 7"/>
          <p:cNvSpPr/>
          <p:nvPr/>
        </p:nvSpPr>
        <p:spPr>
          <a:xfrm>
            <a:off x="7498080" y="2148840"/>
            <a:ext cx="6583680" cy="2331720"/>
          </a:xfrm>
          <a:prstGeom prst="rect">
            <a:avLst/>
          </a:prstGeom>
          <a:solidFill>
            <a:srgbClr val="F3F5F9"/>
          </a:solidFill>
          <a:ln w="9525">
            <a:solidFill>
              <a:srgbClr val="D9DEE8"/>
            </a:solidFill>
            <a:prstDash val="solid"/>
          </a:ln>
        </p:spPr>
      </p:sp>
      <p:sp>
        <p:nvSpPr>
          <p:cNvPr id="13" name="Shape 8"/>
          <p:cNvSpPr/>
          <p:nvPr/>
        </p:nvSpPr>
        <p:spPr>
          <a:xfrm>
            <a:off x="7799832" y="2633472"/>
            <a:ext cx="1362456" cy="1362456"/>
          </a:xfrm>
          <a:prstGeom prst="ellipse">
            <a:avLst/>
          </a:prstGeom>
          <a:solidFill>
            <a:srgbClr val="B5821A"/>
          </a:solidFill>
          <a:ln w="12700">
            <a:solidFill>
              <a:srgbClr val="B5821A"/>
            </a:solidFill>
            <a:prstDash val="solid"/>
          </a:ln>
        </p:spPr>
      </p:sp>
      <p:pic>
        <p:nvPicPr>
          <p:cNvPr id="14" name="Image 3" descr="rajib.png">    </p:cNvPr>
          <p:cNvPicPr>
            <a:picLocks noChangeAspect="1"/>
          </p:cNvPicPr>
          <p:nvPr/>
        </p:nvPicPr>
        <p:blipFill>
          <a:blip r:embed="rId4"/>
          <a:stretch>
            <a:fillRect/>
          </a:stretch>
        </p:blipFill>
        <p:spPr>
          <a:xfrm>
            <a:off x="7836408" y="2670048"/>
            <a:ext cx="1289304" cy="1289304"/>
          </a:xfrm>
          <a:prstGeom prst="ellipse">
            <a:avLst/>
          </a:prstGeom>
        </p:spPr>
      </p:pic>
      <p:sp>
        <p:nvSpPr>
          <p:cNvPr id="15" name="Text 9"/>
          <p:cNvSpPr txBox="1"/>
          <p:nvPr/>
        </p:nvSpPr>
        <p:spPr>
          <a:xfrm>
            <a:off x="9418320" y="2560320"/>
            <a:ext cx="4389120" cy="502920"/>
          </a:xfrm>
          <a:prstGeom prst="rect">
            <a:avLst/>
          </a:prstGeom>
          <a:noFill/>
          <a:ln/>
        </p:spPr>
        <p:txBody>
          <a:bodyPr wrap="square" lIns="0" tIns="0" rIns="0" bIns="0" rtlCol="0" anchor="ctr"/>
          <a:lstStyle/>
          <a:p>
            <a:pPr indent="0" marL="0">
              <a:buNone/>
            </a:pPr>
            <a:r>
              <a:rPr lang="en-US" sz="2000" b="1" dirty="0">
                <a:solidFill>
                  <a:srgbClr val="0B0F16"/>
                </a:solidFill>
                <a:latin typeface="Calibri" pitchFamily="34" charset="0"/>
                <a:ea typeface="Calibri" pitchFamily="34" charset="-122"/>
                <a:cs typeface="Calibri" pitchFamily="34" charset="-120"/>
              </a:rPr>
              <a:t>Rajib Ahmed</a:t>
            </a:r>
            <a:endParaRPr lang="en-US" sz="2000" dirty="0"/>
          </a:p>
        </p:txBody>
      </p:sp>
      <p:sp>
        <p:nvSpPr>
          <p:cNvPr id="16" name="Text 10"/>
          <p:cNvSpPr txBox="1"/>
          <p:nvPr/>
        </p:nvSpPr>
        <p:spPr>
          <a:xfrm>
            <a:off x="9418320" y="3108960"/>
            <a:ext cx="4389120" cy="1280160"/>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1400" dirty="0">
                <a:solidFill>
                  <a:srgbClr val="5D6A80"/>
                </a:solidFill>
                <a:latin typeface="Calibri" pitchFamily="34" charset="0"/>
                <a:ea typeface="Calibri" pitchFamily="34" charset="-122"/>
                <a:cs typeface="Calibri" pitchFamily="34" charset="-120"/>
              </a:rPr>
              <a:t>ML researcher, Oxford</a:t>
            </a:r>
            <a:endParaRPr lang="en-US" sz="1400" dirty="0"/>
          </a:p>
          <a:p>
            <a:pPr marL="342900" indent="-342900">
              <a:lnSpc>
                <a:spcPct val="105000"/>
              </a:lnSpc>
              <a:spcAft>
                <a:spcPts val="400"/>
              </a:spcAft>
              <a:buSzPct val="100000"/>
              <a:buChar char="•"/>
            </a:pPr>
            <a:r>
              <a:rPr lang="en-US" sz="1400" dirty="0">
                <a:solidFill>
                  <a:srgbClr val="5D6A80"/>
                </a:solidFill>
                <a:latin typeface="Calibri" pitchFamily="34" charset="0"/>
                <a:ea typeface="Calibri" pitchFamily="34" charset="-122"/>
                <a:cs typeface="Calibri" pitchFamily="34" charset="-120"/>
              </a:rPr>
              <a:t>Statistician, DBIT</a:t>
            </a:r>
            <a:endParaRPr lang="en-US" sz="1400" dirty="0"/>
          </a:p>
          <a:p>
            <a:pPr marL="342900" indent="-342900">
              <a:lnSpc>
                <a:spcPct val="105000"/>
              </a:lnSpc>
              <a:spcAft>
                <a:spcPts val="400"/>
              </a:spcAft>
              <a:buSzPct val="100000"/>
              <a:buChar char="•"/>
            </a:pPr>
            <a:r>
              <a:rPr lang="en-US" sz="1400" dirty="0">
                <a:solidFill>
                  <a:srgbClr val="5D6A80"/>
                </a:solidFill>
                <a:latin typeface="Calibri" pitchFamily="34" charset="0"/>
                <a:ea typeface="Calibri" pitchFamily="34" charset="-122"/>
                <a:cs typeface="Calibri" pitchFamily="34" charset="-120"/>
              </a:rPr>
              <a:t>MSc Health Data Science, LSE</a:t>
            </a:r>
            <a:endParaRPr lang="en-US" sz="1400" dirty="0"/>
          </a:p>
        </p:txBody>
      </p:sp>
      <p:sp>
        <p:nvSpPr>
          <p:cNvPr id="17" name="Shape 11"/>
          <p:cNvSpPr/>
          <p:nvPr/>
        </p:nvSpPr>
        <p:spPr>
          <a:xfrm>
            <a:off x="548640" y="4846320"/>
            <a:ext cx="6583680" cy="2331720"/>
          </a:xfrm>
          <a:prstGeom prst="rect">
            <a:avLst/>
          </a:prstGeom>
          <a:solidFill>
            <a:srgbClr val="F3F5F9"/>
          </a:solidFill>
          <a:ln w="9525">
            <a:solidFill>
              <a:srgbClr val="D9DEE8"/>
            </a:solidFill>
            <a:prstDash val="solid"/>
          </a:ln>
        </p:spPr>
      </p:sp>
      <p:sp>
        <p:nvSpPr>
          <p:cNvPr id="18" name="Shape 12"/>
          <p:cNvSpPr/>
          <p:nvPr/>
        </p:nvSpPr>
        <p:spPr>
          <a:xfrm>
            <a:off x="850392" y="5330952"/>
            <a:ext cx="1362456" cy="1362456"/>
          </a:xfrm>
          <a:prstGeom prst="ellipse">
            <a:avLst/>
          </a:prstGeom>
          <a:solidFill>
            <a:srgbClr val="B5821A"/>
          </a:solidFill>
          <a:ln w="12700">
            <a:solidFill>
              <a:srgbClr val="B5821A"/>
            </a:solidFill>
            <a:prstDash val="solid"/>
          </a:ln>
        </p:spPr>
      </p:sp>
      <p:pic>
        <p:nvPicPr>
          <p:cNvPr id="19" name="Image 4" descr="sara.png">    </p:cNvPr>
          <p:cNvPicPr>
            <a:picLocks noChangeAspect="1"/>
          </p:cNvPicPr>
          <p:nvPr/>
        </p:nvPicPr>
        <p:blipFill>
          <a:blip r:embed="rId5"/>
          <a:stretch>
            <a:fillRect/>
          </a:stretch>
        </p:blipFill>
        <p:spPr>
          <a:xfrm>
            <a:off x="886968" y="5367528"/>
            <a:ext cx="1289304" cy="1289304"/>
          </a:xfrm>
          <a:prstGeom prst="ellipse">
            <a:avLst/>
          </a:prstGeom>
        </p:spPr>
      </p:pic>
      <p:sp>
        <p:nvSpPr>
          <p:cNvPr id="20" name="Text 13"/>
          <p:cNvSpPr txBox="1"/>
          <p:nvPr/>
        </p:nvSpPr>
        <p:spPr>
          <a:xfrm>
            <a:off x="2468880" y="5257800"/>
            <a:ext cx="4389120" cy="502920"/>
          </a:xfrm>
          <a:prstGeom prst="rect">
            <a:avLst/>
          </a:prstGeom>
          <a:noFill/>
          <a:ln/>
        </p:spPr>
        <p:txBody>
          <a:bodyPr wrap="square" lIns="0" tIns="0" rIns="0" bIns="0" rtlCol="0" anchor="ctr"/>
          <a:lstStyle/>
          <a:p>
            <a:pPr indent="0" marL="0">
              <a:buNone/>
            </a:pPr>
            <a:r>
              <a:rPr lang="en-US" sz="2000" b="1" dirty="0">
                <a:solidFill>
                  <a:srgbClr val="0B0F16"/>
                </a:solidFill>
                <a:latin typeface="Calibri" pitchFamily="34" charset="0"/>
                <a:ea typeface="Calibri" pitchFamily="34" charset="-122"/>
                <a:cs typeface="Calibri" pitchFamily="34" charset="-120"/>
              </a:rPr>
              <a:t>Sara Gabrielli Salis</a:t>
            </a:r>
            <a:endParaRPr lang="en-US" sz="2000" dirty="0"/>
          </a:p>
        </p:txBody>
      </p:sp>
      <p:sp>
        <p:nvSpPr>
          <p:cNvPr id="21" name="Text 14"/>
          <p:cNvSpPr txBox="1"/>
          <p:nvPr/>
        </p:nvSpPr>
        <p:spPr>
          <a:xfrm>
            <a:off x="2468880" y="5806440"/>
            <a:ext cx="4389120" cy="1280160"/>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1400" dirty="0">
                <a:solidFill>
                  <a:srgbClr val="5D6A80"/>
                </a:solidFill>
                <a:latin typeface="Calibri" pitchFamily="34" charset="0"/>
                <a:ea typeface="Calibri" pitchFamily="34" charset="-122"/>
                <a:cs typeface="Calibri" pitchFamily="34" charset="-120"/>
              </a:rPr>
              <a:t>Public international law, LSE</a:t>
            </a:r>
            <a:endParaRPr lang="en-US" sz="1400" dirty="0"/>
          </a:p>
          <a:p>
            <a:pPr marL="342900" indent="-342900">
              <a:lnSpc>
                <a:spcPct val="105000"/>
              </a:lnSpc>
              <a:spcAft>
                <a:spcPts val="400"/>
              </a:spcAft>
              <a:buSzPct val="100000"/>
              <a:buChar char="•"/>
            </a:pPr>
            <a:r>
              <a:rPr lang="en-US" sz="1400" dirty="0">
                <a:solidFill>
                  <a:srgbClr val="5D6A80"/>
                </a:solidFill>
                <a:latin typeface="Calibri" pitchFamily="34" charset="0"/>
                <a:ea typeface="Calibri" pitchFamily="34" charset="-122"/>
                <a:cs typeface="Calibri" pitchFamily="34" charset="-120"/>
              </a:rPr>
              <a:t>Legislative drafting, Luxembourg</a:t>
            </a:r>
            <a:endParaRPr lang="en-US" sz="1400" dirty="0"/>
          </a:p>
          <a:p>
            <a:pPr marL="342900" indent="-342900">
              <a:lnSpc>
                <a:spcPct val="105000"/>
              </a:lnSpc>
              <a:spcAft>
                <a:spcPts val="400"/>
              </a:spcAft>
              <a:buSzPct val="100000"/>
              <a:buChar char="•"/>
            </a:pPr>
            <a:r>
              <a:rPr lang="en-US" sz="1400" dirty="0">
                <a:solidFill>
                  <a:srgbClr val="5D6A80"/>
                </a:solidFill>
                <a:latin typeface="Calibri" pitchFamily="34" charset="0"/>
                <a:ea typeface="Calibri" pitchFamily="34" charset="-122"/>
                <a:cs typeface="Calibri" pitchFamily="34" charset="-120"/>
              </a:rPr>
              <a:t>European Parliament</a:t>
            </a:r>
            <a:endParaRPr lang="en-US" sz="1400" dirty="0"/>
          </a:p>
        </p:txBody>
      </p:sp>
      <p:sp>
        <p:nvSpPr>
          <p:cNvPr id="22" name="Shape 15"/>
          <p:cNvSpPr/>
          <p:nvPr/>
        </p:nvSpPr>
        <p:spPr>
          <a:xfrm>
            <a:off x="7498080" y="4846320"/>
            <a:ext cx="6583680" cy="2331720"/>
          </a:xfrm>
          <a:prstGeom prst="rect">
            <a:avLst/>
          </a:prstGeom>
          <a:solidFill>
            <a:srgbClr val="F3F5F9"/>
          </a:solidFill>
          <a:ln w="9525">
            <a:solidFill>
              <a:srgbClr val="D9DEE8"/>
            </a:solidFill>
            <a:prstDash val="solid"/>
          </a:ln>
        </p:spPr>
      </p:sp>
      <p:sp>
        <p:nvSpPr>
          <p:cNvPr id="23" name="Shape 16"/>
          <p:cNvSpPr/>
          <p:nvPr/>
        </p:nvSpPr>
        <p:spPr>
          <a:xfrm>
            <a:off x="7799832" y="5330952"/>
            <a:ext cx="1362456" cy="1362456"/>
          </a:xfrm>
          <a:prstGeom prst="ellipse">
            <a:avLst/>
          </a:prstGeom>
          <a:solidFill>
            <a:srgbClr val="B5821A"/>
          </a:solidFill>
          <a:ln w="12700">
            <a:solidFill>
              <a:srgbClr val="B5821A"/>
            </a:solidFill>
            <a:prstDash val="solid"/>
          </a:ln>
        </p:spPr>
      </p:sp>
      <p:pic>
        <p:nvPicPr>
          <p:cNvPr id="24" name="Image 5" descr="prithika.png">    </p:cNvPr>
          <p:cNvPicPr>
            <a:picLocks noChangeAspect="1"/>
          </p:cNvPicPr>
          <p:nvPr/>
        </p:nvPicPr>
        <p:blipFill>
          <a:blip r:embed="rId6"/>
          <a:stretch>
            <a:fillRect/>
          </a:stretch>
        </p:blipFill>
        <p:spPr>
          <a:xfrm>
            <a:off x="7836408" y="5367528"/>
            <a:ext cx="1289304" cy="1289304"/>
          </a:xfrm>
          <a:prstGeom prst="ellipse">
            <a:avLst/>
          </a:prstGeom>
        </p:spPr>
      </p:pic>
      <p:sp>
        <p:nvSpPr>
          <p:cNvPr id="25" name="Text 17"/>
          <p:cNvSpPr txBox="1"/>
          <p:nvPr/>
        </p:nvSpPr>
        <p:spPr>
          <a:xfrm>
            <a:off x="9418320" y="5257800"/>
            <a:ext cx="4389120" cy="502920"/>
          </a:xfrm>
          <a:prstGeom prst="rect">
            <a:avLst/>
          </a:prstGeom>
          <a:noFill/>
          <a:ln/>
        </p:spPr>
        <p:txBody>
          <a:bodyPr wrap="square" lIns="0" tIns="0" rIns="0" bIns="0" rtlCol="0" anchor="ctr"/>
          <a:lstStyle/>
          <a:p>
            <a:pPr indent="0" marL="0">
              <a:buNone/>
            </a:pPr>
            <a:r>
              <a:rPr lang="en-US" sz="2000" b="1" dirty="0">
                <a:solidFill>
                  <a:srgbClr val="0B0F16"/>
                </a:solidFill>
                <a:latin typeface="Calibri" pitchFamily="34" charset="0"/>
                <a:ea typeface="Calibri" pitchFamily="34" charset="-122"/>
                <a:cs typeface="Calibri" pitchFamily="34" charset="-120"/>
              </a:rPr>
              <a:t>Prithika Narayanan</a:t>
            </a:r>
            <a:endParaRPr lang="en-US" sz="2000" dirty="0"/>
          </a:p>
        </p:txBody>
      </p:sp>
      <p:sp>
        <p:nvSpPr>
          <p:cNvPr id="26" name="Text 18"/>
          <p:cNvSpPr txBox="1"/>
          <p:nvPr/>
        </p:nvSpPr>
        <p:spPr>
          <a:xfrm>
            <a:off x="9418320" y="5806440"/>
            <a:ext cx="4389120" cy="1280160"/>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1400" dirty="0">
                <a:solidFill>
                  <a:srgbClr val="5D6A80"/>
                </a:solidFill>
                <a:latin typeface="Calibri" pitchFamily="34" charset="0"/>
                <a:ea typeface="Calibri" pitchFamily="34" charset="-122"/>
                <a:cs typeface="Calibri" pitchFamily="34" charset="-120"/>
              </a:rPr>
              <a:t>Pathway Developer, Impact Advantage</a:t>
            </a:r>
            <a:endParaRPr lang="en-US" sz="1400" dirty="0"/>
          </a:p>
          <a:p>
            <a:pPr marL="342900" indent="-342900">
              <a:lnSpc>
                <a:spcPct val="105000"/>
              </a:lnSpc>
              <a:spcAft>
                <a:spcPts val="400"/>
              </a:spcAft>
              <a:buSzPct val="100000"/>
              <a:buChar char="•"/>
            </a:pPr>
            <a:r>
              <a:rPr lang="en-US" sz="1400" dirty="0">
                <a:solidFill>
                  <a:srgbClr val="5D6A80"/>
                </a:solidFill>
                <a:latin typeface="Calibri" pitchFamily="34" charset="0"/>
                <a:ea typeface="Calibri" pitchFamily="34" charset="-122"/>
                <a:cs typeface="Calibri" pitchFamily="34" charset="-120"/>
              </a:rPr>
              <a:t>MSc Statistics, LSE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cdir.png">    </p:cNvPr>
          <p:cNvPicPr>
            <a:picLocks noChangeAspect="1"/>
          </p:cNvPicPr>
          <p:nvPr/>
        </p:nvPicPr>
        <p:blipFill>
          <a:blip r:embed="rId1"/>
          <a:stretch>
            <a:fillRect/>
          </a:stretch>
        </p:blipFill>
        <p:spPr>
          <a:xfrm>
            <a:off x="548640" y="384048"/>
            <a:ext cx="1737360" cy="434340"/>
          </a:xfrm>
          <a:prstGeom prst="rect">
            <a:avLst/>
          </a:prstGeom>
        </p:spPr>
      </p:pic>
      <p:pic>
        <p:nvPicPr>
          <p:cNvPr id="3" name="Image 1" descr="fii.png">    </p:cNvPr>
          <p:cNvPicPr>
            <a:picLocks noChangeAspect="1"/>
          </p:cNvPicPr>
          <p:nvPr/>
        </p:nvPicPr>
        <p:blipFill>
          <a:blip r:embed="rId2"/>
          <a:stretch>
            <a:fillRect/>
          </a:stretch>
        </p:blipFill>
        <p:spPr>
          <a:xfrm>
            <a:off x="11658600" y="347472"/>
            <a:ext cx="2423160" cy="822960"/>
          </a:xfrm>
          <a:prstGeom prst="rect">
            <a:avLst/>
          </a:prstGeom>
        </p:spPr>
      </p:pic>
      <p:sp>
        <p:nvSpPr>
          <p:cNvPr id="4" name="Text 0"/>
          <p:cNvSpPr txBox="1"/>
          <p:nvPr/>
        </p:nvSpPr>
        <p:spPr>
          <a:xfrm>
            <a:off x="548640" y="1234440"/>
            <a:ext cx="10058400" cy="640080"/>
          </a:xfrm>
          <a:prstGeom prst="rect">
            <a:avLst/>
          </a:prstGeom>
          <a:noFill/>
          <a:ln/>
        </p:spPr>
        <p:txBody>
          <a:bodyPr wrap="square" lIns="0" tIns="0" rIns="0" bIns="0" rtlCol="0" anchor="ctr"/>
          <a:lstStyle/>
          <a:p>
            <a:pPr indent="0" marL="0">
              <a:buNone/>
            </a:pPr>
            <a:r>
              <a:rPr lang="en-US" sz="3000" b="1" dirty="0">
                <a:solidFill>
                  <a:srgbClr val="0B0F16"/>
                </a:solidFill>
                <a:latin typeface="Calibri" pitchFamily="34" charset="0"/>
                <a:ea typeface="Calibri" pitchFamily="34" charset="-122"/>
                <a:cs typeface="Calibri" pitchFamily="34" charset="-120"/>
              </a:rPr>
              <a:t>Executive summary for voters</a:t>
            </a:r>
            <a:endParaRPr lang="en-US" sz="3000" dirty="0"/>
          </a:p>
        </p:txBody>
      </p:sp>
      <p:sp>
        <p:nvSpPr>
          <p:cNvPr id="5" name="Text 1"/>
          <p:cNvSpPr txBox="1"/>
          <p:nvPr/>
        </p:nvSpPr>
        <p:spPr>
          <a:xfrm>
            <a:off x="548640" y="7635240"/>
            <a:ext cx="4572000" cy="320040"/>
          </a:xfrm>
          <a:prstGeom prst="rect">
            <a:avLst/>
          </a:prstGeom>
          <a:noFill/>
          <a:ln/>
        </p:spPr>
        <p:txBody>
          <a:bodyPr wrap="square" lIns="0" tIns="0" rIns="0" bIns="0" rtlCol="0" anchor="ctr"/>
          <a:lstStyle/>
          <a:p>
            <a:pPr indent="0" marL="0">
              <a:buNone/>
            </a:pPr>
            <a:r>
              <a:rPr lang="en-US" sz="1000" dirty="0">
                <a:solidFill>
                  <a:srgbClr val="5D6A80"/>
                </a:solidFill>
                <a:latin typeface="Calibri" pitchFamily="34" charset="0"/>
                <a:ea typeface="Calibri" pitchFamily="34" charset="-122"/>
                <a:cs typeface="Calibri" pitchFamily="34" charset="-120"/>
              </a:rPr>
              <a:t>No Human Intelligence</a:t>
            </a:r>
            <a:endParaRPr lang="en-US" sz="1000" dirty="0"/>
          </a:p>
        </p:txBody>
      </p:sp>
      <p:sp>
        <p:nvSpPr>
          <p:cNvPr id="6" name="Text 2"/>
          <p:cNvSpPr txBox="1"/>
          <p:nvPr/>
        </p:nvSpPr>
        <p:spPr>
          <a:xfrm>
            <a:off x="13167360" y="7635240"/>
            <a:ext cx="914400" cy="320040"/>
          </a:xfrm>
          <a:prstGeom prst="rect">
            <a:avLst/>
          </a:prstGeom>
          <a:noFill/>
          <a:ln/>
        </p:spPr>
        <p:txBody>
          <a:bodyPr wrap="square" lIns="0" tIns="0" rIns="0" bIns="0" rtlCol="0" anchor="ctr"/>
          <a:lstStyle/>
          <a:p>
            <a:pPr algn="r" indent="0" marL="0">
              <a:buNone/>
            </a:pPr>
            <a:r>
              <a:rPr lang="en-US" sz="1000" dirty="0">
                <a:solidFill>
                  <a:srgbClr val="5D6A80"/>
                </a:solidFill>
                <a:latin typeface="Courier New" pitchFamily="34" charset="0"/>
                <a:ea typeface="Courier New" pitchFamily="34" charset="-122"/>
                <a:cs typeface="Courier New" pitchFamily="34" charset="-120"/>
              </a:rPr>
              <a:t>10</a:t>
            </a:r>
            <a:endParaRPr lang="en-US" sz="1000" dirty="0"/>
          </a:p>
        </p:txBody>
      </p:sp>
      <p:sp>
        <p:nvSpPr>
          <p:cNvPr id="7" name="Shape 3"/>
          <p:cNvSpPr/>
          <p:nvPr/>
        </p:nvSpPr>
        <p:spPr>
          <a:xfrm>
            <a:off x="1828800" y="2194560"/>
            <a:ext cx="10972800" cy="4480560"/>
          </a:xfrm>
          <a:prstGeom prst="rect">
            <a:avLst/>
          </a:prstGeom>
          <a:solidFill>
            <a:srgbClr val="0B0F16"/>
          </a:solidFill>
          <a:ln w="9525">
            <a:solidFill>
              <a:srgbClr val="161E2A"/>
            </a:solidFill>
            <a:prstDash val="solid"/>
          </a:ln>
        </p:spPr>
      </p:sp>
      <p:sp>
        <p:nvSpPr>
          <p:cNvPr id="8" name="Shape 4"/>
          <p:cNvSpPr/>
          <p:nvPr/>
        </p:nvSpPr>
        <p:spPr>
          <a:xfrm>
            <a:off x="1828800" y="2194560"/>
            <a:ext cx="10972800" cy="384048"/>
          </a:xfrm>
          <a:prstGeom prst="rect">
            <a:avLst/>
          </a:prstGeom>
          <a:solidFill>
            <a:srgbClr val="10161F"/>
          </a:solidFill>
          <a:ln w="9525">
            <a:solidFill>
              <a:srgbClr val="161E2A"/>
            </a:solidFill>
            <a:prstDash val="solid"/>
          </a:ln>
        </p:spPr>
      </p:sp>
      <p:sp>
        <p:nvSpPr>
          <p:cNvPr id="9" name="Text 5"/>
          <p:cNvSpPr txBox="1"/>
          <p:nvPr/>
        </p:nvSpPr>
        <p:spPr>
          <a:xfrm>
            <a:off x="1956816" y="2194560"/>
            <a:ext cx="822960" cy="384048"/>
          </a:xfrm>
          <a:prstGeom prst="rect">
            <a:avLst/>
          </a:prstGeom>
          <a:noFill/>
          <a:ln/>
        </p:spPr>
        <p:txBody>
          <a:bodyPr wrap="square" lIns="0" tIns="0" rIns="0" bIns="0" rtlCol="0" anchor="ctr"/>
          <a:lstStyle/>
          <a:p>
            <a:pPr indent="0" marL="0">
              <a:buNone/>
            </a:pPr>
            <a:r>
              <a:rPr lang="en-US" sz="1100" b="1" spc="200" kern="0" dirty="0">
                <a:solidFill>
                  <a:srgbClr val="F6B52A"/>
                </a:solidFill>
                <a:latin typeface="Courier New" pitchFamily="34" charset="0"/>
                <a:ea typeface="Courier New" pitchFamily="34" charset="-122"/>
                <a:cs typeface="Courier New" pitchFamily="34" charset="-120"/>
              </a:rPr>
              <a:t>HSL</a:t>
            </a:r>
            <a:endParaRPr lang="en-US" sz="1100" dirty="0"/>
          </a:p>
        </p:txBody>
      </p:sp>
      <p:sp>
        <p:nvSpPr>
          <p:cNvPr id="10" name="Text 6"/>
          <p:cNvSpPr txBox="1"/>
          <p:nvPr/>
        </p:nvSpPr>
        <p:spPr>
          <a:xfrm>
            <a:off x="2697480" y="2194560"/>
            <a:ext cx="9966960" cy="384048"/>
          </a:xfrm>
          <a:prstGeom prst="rect">
            <a:avLst/>
          </a:prstGeom>
          <a:noFill/>
          <a:ln/>
        </p:spPr>
        <p:txBody>
          <a:bodyPr wrap="square" lIns="0" tIns="0" rIns="0" bIns="0" rtlCol="0" anchor="ctr"/>
          <a:lstStyle/>
          <a:p>
            <a:pPr indent="0" marL="0">
              <a:buNone/>
            </a:pPr>
            <a:r>
              <a:rPr lang="en-US" sz="1200" b="1" dirty="0">
                <a:solidFill>
                  <a:srgbClr val="E4E9F2"/>
                </a:solidFill>
                <a:latin typeface="Calibri" pitchFamily="34" charset="0"/>
                <a:ea typeface="Calibri" pitchFamily="34" charset="-122"/>
                <a:cs typeface="Calibri" pitchFamily="34" charset="-120"/>
              </a:rPr>
              <a:t>No Human Intelligence</a:t>
            </a:r>
            <a:endParaRPr lang="en-US" sz="1200" dirty="0"/>
          </a:p>
        </p:txBody>
      </p:sp>
      <p:sp>
        <p:nvSpPr>
          <p:cNvPr id="11" name="Text 7"/>
          <p:cNvSpPr txBox="1"/>
          <p:nvPr/>
        </p:nvSpPr>
        <p:spPr>
          <a:xfrm>
            <a:off x="2194560" y="2834640"/>
            <a:ext cx="1024128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The Herding Scenario Lab</a:t>
            </a:r>
            <a:endParaRPr lang="en-US" sz="2400" dirty="0"/>
          </a:p>
        </p:txBody>
      </p:sp>
      <p:sp>
        <p:nvSpPr>
          <p:cNvPr id="12" name="Text 8"/>
          <p:cNvSpPr txBox="1"/>
          <p:nvPr/>
        </p:nvSpPr>
        <p:spPr>
          <a:xfrm>
            <a:off x="2194560" y="3474720"/>
            <a:ext cx="10241280" cy="2377440"/>
          </a:xfrm>
          <a:prstGeom prst="rect">
            <a:avLst/>
          </a:prstGeom>
          <a:noFill/>
          <a:ln/>
        </p:spPr>
        <p:txBody>
          <a:bodyPr wrap="square" lIns="0" tIns="0" rIns="0" bIns="0" rtlCol="0" anchor="t"/>
          <a:lstStyle/>
          <a:p>
            <a:pPr indent="0" marL="0">
              <a:lnSpc>
                <a:spcPct val="110000"/>
              </a:lnSpc>
              <a:buNone/>
            </a:pPr>
            <a:r>
              <a:rPr lang="en-US" sz="1400" dirty="0">
                <a:solidFill>
                  <a:srgbClr val="E4E9F2"/>
                </a:solidFill>
                <a:latin typeface="Calibri" pitchFamily="34" charset="0"/>
                <a:ea typeface="Calibri" pitchFamily="34" charset="-122"/>
                <a:cs typeface="Calibri" pitchFamily="34" charset="-120"/>
              </a:rPr>
              <a:t>A decision first sandbox that stress tests AI market surveillance tools and intervention rules against synthetic AI agent markets, calibrated from a regulator's own data and extended with the regulator's own scenarios and agents. It certifies tools on the decision that matters, with a conformal false alert guarantee, a winner stability figure and a walk forward test of the certification itself, and it shows that even the certified tool can be gamed. Every run passes two human gates whose approver is checked against a register of regulated persons, and 31 critic checks; it leaves a signed replayable ledger, a transparency record and an evidence pack, and answers the needs the FSB, IOSCO, the Bank of England and the IMF have flagged. Built for financial stability supervisors.</a:t>
            </a:r>
            <a:endParaRPr lang="en-US" sz="1400" dirty="0"/>
          </a:p>
        </p:txBody>
      </p:sp>
      <p:sp>
        <p:nvSpPr>
          <p:cNvPr id="13" name="Text 9"/>
          <p:cNvSpPr txBox="1"/>
          <p:nvPr/>
        </p:nvSpPr>
        <p:spPr>
          <a:xfrm>
            <a:off x="2194560" y="5989320"/>
            <a:ext cx="10241280" cy="365760"/>
          </a:xfrm>
          <a:prstGeom prst="rect">
            <a:avLst/>
          </a:prstGeom>
          <a:noFill/>
          <a:ln/>
        </p:spPr>
        <p:txBody>
          <a:bodyPr wrap="square" lIns="0" tIns="0" rIns="0" bIns="0" rtlCol="0" anchor="ctr"/>
          <a:lstStyle/>
          <a:p>
            <a:pPr indent="0" marL="0">
              <a:buNone/>
            </a:pPr>
            <a:r>
              <a:rPr lang="en-US" sz="1100" dirty="0">
                <a:solidFill>
                  <a:srgbClr val="F6B52A"/>
                </a:solidFill>
                <a:latin typeface="Courier New" pitchFamily="34" charset="0"/>
                <a:ea typeface="Courier New" pitchFamily="34" charset="-122"/>
                <a:cs typeface="Courier New" pitchFamily="34" charset="-120"/>
              </a:rPr>
              <a:t>HSL 3.9  ·  8 sentinels, 8 rules and 18 families built in, extensible by the regulator  ·  31 critic checks  ·  17 security controls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Herding Scenario Lab: final round presentation</dc:title>
  <dc:subject>PptxGenJS Presentation</dc:subject>
  <dc:creator>No Human Intelligence</dc:creator>
  <cp:lastModifiedBy>No Human Intelligence</cp:lastModifiedBy>
  <cp:revision>1</cp:revision>
  <dcterms:created xsi:type="dcterms:W3CDTF">2026-09-08T10:24:25Z</dcterms:created>
  <dcterms:modified xsi:type="dcterms:W3CDTF">2026-09-08T10:24:25Z</dcterms:modified>
</cp:coreProperties>
</file>